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0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1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31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44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6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13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21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178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62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8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10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ACE64-C82A-425A-B1DF-26B0E822322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0AA2D-45F3-4D27-B443-EC454E530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1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Selective Reject ARQ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2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/>
              <a:t>Selective Reject ARQ</a:t>
            </a:r>
            <a:r>
              <a:rPr lang="en-US" sz="3200" dirty="0" smtClean="0"/>
              <a:t> is an </a:t>
            </a:r>
            <a:r>
              <a:rPr lang="en-US" sz="3200" b="1" dirty="0" smtClean="0"/>
              <a:t>error control protocol</a:t>
            </a:r>
            <a:r>
              <a:rPr lang="en-US" sz="3200" dirty="0" smtClean="0"/>
              <a:t> used in the Data Link </a:t>
            </a:r>
            <a:r>
              <a:rPr lang="en-US" sz="3200" dirty="0" smtClean="0">
                <a:solidFill>
                  <a:srgbClr val="FF0000"/>
                </a:solidFill>
              </a:rPr>
              <a:t>Layer to ensure reliable data transmission</a:t>
            </a:r>
            <a:r>
              <a:rPr lang="en-US" sz="3200" dirty="0" smtClean="0"/>
              <a:t>.</a:t>
            </a:r>
          </a:p>
          <a:p>
            <a:r>
              <a:rPr lang="en-US" sz="3200" b="1" dirty="0" smtClean="0"/>
              <a:t>Concept</a:t>
            </a:r>
          </a:p>
          <a:p>
            <a:pPr lvl="1"/>
            <a:r>
              <a:rPr lang="en-US" sz="2800" dirty="0" smtClean="0"/>
              <a:t>In Selective Reject ARQ, the sender retransmits </a:t>
            </a:r>
            <a:r>
              <a:rPr lang="en-US" sz="2800" b="1" dirty="0" smtClean="0"/>
              <a:t>only the specific frame that is lost or corrupted</a:t>
            </a:r>
            <a:r>
              <a:rPr lang="en-US" sz="2800" dirty="0" smtClean="0"/>
              <a:t>, not all the frames after it. </a:t>
            </a:r>
          </a:p>
          <a:p>
            <a:pPr lvl="1"/>
            <a:r>
              <a:rPr lang="en-US" sz="2800" dirty="0" smtClean="0">
                <a:solidFill>
                  <a:srgbClr val="FF0000"/>
                </a:solidFill>
              </a:rPr>
              <a:t>The receiver can </a:t>
            </a:r>
            <a:r>
              <a:rPr lang="en-US" sz="2800" b="1" dirty="0" smtClean="0">
                <a:solidFill>
                  <a:srgbClr val="FF0000"/>
                </a:solidFill>
              </a:rPr>
              <a:t>store the correctly received frames</a:t>
            </a:r>
            <a:r>
              <a:rPr lang="en-US" sz="2800" dirty="0" smtClean="0">
                <a:solidFill>
                  <a:srgbClr val="FF0000"/>
                </a:solidFill>
              </a:rPr>
              <a:t> even if some frames are missing.</a:t>
            </a:r>
          </a:p>
          <a:p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774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Working Process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smtClean="0"/>
              <a:t>The sender sends multiple frames using a </a:t>
            </a:r>
            <a:r>
              <a:rPr lang="en-US" b="1" dirty="0" smtClean="0"/>
              <a:t>sliding window</a:t>
            </a:r>
            <a:r>
              <a:rPr lang="en-US" dirty="0" smtClean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The receiver checks each frame for errors.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If a frame is received correctly, the receiver sends an </a:t>
            </a:r>
            <a:r>
              <a:rPr lang="en-US" b="1" dirty="0" smtClean="0"/>
              <a:t>ACK</a:t>
            </a:r>
            <a:r>
              <a:rPr lang="en-US" dirty="0" smtClean="0"/>
              <a:t> for that frame.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If a frame is lost or has an error, the receiver sends a </a:t>
            </a:r>
            <a:r>
              <a:rPr lang="en-US" b="1" dirty="0" smtClean="0"/>
              <a:t>NAK (Negative Acknowledgment)</a:t>
            </a:r>
            <a:r>
              <a:rPr lang="en-US" dirty="0" smtClean="0"/>
              <a:t> for that specific frame.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The sender retransmits </a:t>
            </a:r>
            <a:r>
              <a:rPr lang="en-US" b="1" dirty="0" smtClean="0"/>
              <a:t>only the erroneous frame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44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Suppose the sender sends:</a:t>
            </a:r>
            <a:br>
              <a:rPr lang="en-US" dirty="0" smtClean="0"/>
            </a:br>
            <a:r>
              <a:rPr lang="en-US" b="1" dirty="0" smtClean="0"/>
              <a:t>Frame 0, 1, 2, 3, 4</a:t>
            </a:r>
            <a:endParaRPr lang="en-US" dirty="0" smtClean="0"/>
          </a:p>
          <a:p>
            <a:r>
              <a:rPr lang="en-US" dirty="0" smtClean="0"/>
              <a:t>Frame 0 → Correct (ACK0)</a:t>
            </a:r>
          </a:p>
          <a:p>
            <a:r>
              <a:rPr lang="en-US" dirty="0" smtClean="0"/>
              <a:t>Frame 1 → Correct (ACK1)</a:t>
            </a:r>
          </a:p>
          <a:p>
            <a:r>
              <a:rPr lang="en-US" dirty="0" smtClean="0"/>
              <a:t>Frame 2 → </a:t>
            </a:r>
            <a:r>
              <a:rPr lang="en-US" b="1" dirty="0" smtClean="0"/>
              <a:t>Error</a:t>
            </a:r>
            <a:endParaRPr lang="en-US" dirty="0" smtClean="0"/>
          </a:p>
          <a:p>
            <a:r>
              <a:rPr lang="en-US" dirty="0" smtClean="0"/>
              <a:t>Frame 3 → Correct (stored)</a:t>
            </a:r>
          </a:p>
          <a:p>
            <a:r>
              <a:rPr lang="en-US" dirty="0" smtClean="0"/>
              <a:t>Frame 4 → Correct (stored)</a:t>
            </a:r>
          </a:p>
          <a:p>
            <a:r>
              <a:rPr lang="en-US" dirty="0" smtClean="0"/>
              <a:t>Receiver sends </a:t>
            </a:r>
            <a:r>
              <a:rPr lang="en-US" b="1" dirty="0" smtClean="0"/>
              <a:t>NAK2</a:t>
            </a:r>
            <a:r>
              <a:rPr lang="en-US" dirty="0" smtClean="0"/>
              <a:t>, and the sender retransmits </a:t>
            </a:r>
            <a:r>
              <a:rPr lang="en-US" b="1" dirty="0" smtClean="0"/>
              <a:t>only Frame 2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17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b="1" dirty="0" smtClean="0"/>
              <a:t>Advantages</a:t>
            </a:r>
          </a:p>
          <a:p>
            <a:pPr lvl="1"/>
            <a:r>
              <a:rPr lang="en-US" sz="2800" dirty="0" smtClean="0"/>
              <a:t>More efficient than Go-Back-N ARQ</a:t>
            </a:r>
          </a:p>
          <a:p>
            <a:pPr lvl="1"/>
            <a:r>
              <a:rPr lang="en-US" sz="2800" dirty="0" smtClean="0"/>
              <a:t>Only the incorrect frame is retransmitted</a:t>
            </a:r>
          </a:p>
          <a:p>
            <a:pPr lvl="1"/>
            <a:r>
              <a:rPr lang="en-US" sz="2800" dirty="0" smtClean="0"/>
              <a:t>Better bandwidth utilization</a:t>
            </a:r>
          </a:p>
          <a:p>
            <a:r>
              <a:rPr lang="en-US" sz="3200" b="1" dirty="0" smtClean="0"/>
              <a:t>Disadvantages</a:t>
            </a:r>
          </a:p>
          <a:p>
            <a:pPr lvl="1"/>
            <a:r>
              <a:rPr lang="en-US" sz="2800" dirty="0" smtClean="0"/>
              <a:t>More complex to implement</a:t>
            </a:r>
          </a:p>
          <a:p>
            <a:pPr lvl="1"/>
            <a:r>
              <a:rPr lang="en-US" sz="2800" dirty="0" smtClean="0"/>
              <a:t>Receiver must have </a:t>
            </a:r>
            <a:r>
              <a:rPr lang="en-US" sz="2800" b="1" dirty="0" smtClean="0"/>
              <a:t>larger buffer</a:t>
            </a:r>
            <a:r>
              <a:rPr lang="en-US" sz="2800" dirty="0" smtClean="0"/>
              <a:t> to store out-of-order frames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02496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Selective Reject ARQ retransmits </a:t>
            </a:r>
            <a:r>
              <a:rPr lang="en-US" b="1" dirty="0" smtClean="0"/>
              <a:t>only the frames that contain errors</a:t>
            </a:r>
            <a:r>
              <a:rPr lang="en-US" dirty="0" smtClean="0"/>
              <a:t>, making it more efficient than </a:t>
            </a:r>
            <a:r>
              <a:rPr lang="en-US" b="1" dirty="0" smtClean="0"/>
              <a:t>Go-Back-N ARQ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09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653" y="101355"/>
            <a:ext cx="11265878" cy="1325563"/>
          </a:xfrm>
        </p:spPr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Comparison: Go-Back-N ARQ vs Selective Reject ARQ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516704"/>
              </p:ext>
            </p:extLst>
          </p:nvPr>
        </p:nvGraphicFramePr>
        <p:xfrm>
          <a:off x="395653" y="1521067"/>
          <a:ext cx="11051931" cy="53465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83977">
                  <a:extLst>
                    <a:ext uri="{9D8B030D-6E8A-4147-A177-3AD203B41FA5}">
                      <a16:colId xmlns:a16="http://schemas.microsoft.com/office/drawing/2014/main" val="1589384293"/>
                    </a:ext>
                  </a:extLst>
                </a:gridCol>
                <a:gridCol w="3683977">
                  <a:extLst>
                    <a:ext uri="{9D8B030D-6E8A-4147-A177-3AD203B41FA5}">
                      <a16:colId xmlns:a16="http://schemas.microsoft.com/office/drawing/2014/main" val="2392798454"/>
                    </a:ext>
                  </a:extLst>
                </a:gridCol>
                <a:gridCol w="3683977">
                  <a:extLst>
                    <a:ext uri="{9D8B030D-6E8A-4147-A177-3AD203B41FA5}">
                      <a16:colId xmlns:a16="http://schemas.microsoft.com/office/drawing/2014/main" val="384492926"/>
                    </a:ext>
                  </a:extLst>
                </a:gridCol>
              </a:tblGrid>
              <a:tr h="6656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Feature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Go-Back-N ARQ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Selective Reject ARQ (Selective Repeat)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65634"/>
                  </a:ext>
                </a:extLst>
              </a:tr>
              <a:tr h="8417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Retransmission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Retransmits the erroneous frame and all subsequent frames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Retransmits only the erroneous frame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00149857"/>
                  </a:ext>
                </a:extLst>
              </a:tr>
              <a:tr h="6656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Receiver Behavior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Discards all frames received after the error frame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Stores correct frames even if some frames are missing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01397081"/>
                  </a:ext>
                </a:extLst>
              </a:tr>
              <a:tr h="8417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Efficiency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Less efficient because many frames may be retransmitted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More efficient since only the wrong frame is sent again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03638455"/>
                  </a:ext>
                </a:extLst>
              </a:tr>
              <a:tr h="6656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Buffer Requirement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Requires small buffer at the receiver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Requires larger buffer to store out-of-order frames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89822429"/>
                  </a:ext>
                </a:extLst>
              </a:tr>
              <a:tr h="33511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Complexity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Simpler to implement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More complex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4042619"/>
                  </a:ext>
                </a:extLst>
              </a:tr>
              <a:tr h="6656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Bandwidth Usage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More bandwidth waste due to multiple retransmissions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Better bandwidth utilization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97792412"/>
                  </a:ext>
                </a:extLst>
              </a:tr>
              <a:tr h="66560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Application Layer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Used in the Data Link Layer for error control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Also used in the Data Link Layer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55787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295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307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Selective Reject ARQ</vt:lpstr>
      <vt:lpstr>PowerPoint Presentation</vt:lpstr>
      <vt:lpstr>Working Process </vt:lpstr>
      <vt:lpstr>Example </vt:lpstr>
      <vt:lpstr>PowerPoint Presentation</vt:lpstr>
      <vt:lpstr>PowerPoint Presentation</vt:lpstr>
      <vt:lpstr>Comparison: Go-Back-N ARQ vs Selective Reject ARQ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Reject ARQ</dc:title>
  <dc:creator>Lenovo</dc:creator>
  <cp:lastModifiedBy>Lenovo</cp:lastModifiedBy>
  <cp:revision>5</cp:revision>
  <dcterms:created xsi:type="dcterms:W3CDTF">2026-03-13T03:36:04Z</dcterms:created>
  <dcterms:modified xsi:type="dcterms:W3CDTF">2026-03-13T06:28:35Z</dcterms:modified>
</cp:coreProperties>
</file>