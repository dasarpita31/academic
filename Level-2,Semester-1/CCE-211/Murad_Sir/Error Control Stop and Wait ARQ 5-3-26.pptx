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3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3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0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9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8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7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2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2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12028-9969-4E5E-A2A9-9855EB52A2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6F737-53AF-446F-94DD-4770F76F2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5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Error Control: Stop and Wait ARQ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Stop and Wait ARQ (Automatic Repeat </a:t>
            </a:r>
            <a:r>
              <a:rPr lang="en-US" sz="4000" dirty="0" err="1" smtClean="0"/>
              <a:t>reQuest</a:t>
            </a:r>
            <a:r>
              <a:rPr lang="en-US" sz="4000" dirty="0" smtClean="0"/>
              <a:t>) is </a:t>
            </a:r>
            <a:r>
              <a:rPr lang="en-US" sz="4000" dirty="0" smtClean="0">
                <a:solidFill>
                  <a:srgbClr val="FF0000"/>
                </a:solidFill>
              </a:rPr>
              <a:t>an error-control protocol where the sender transmits one frame at a time and waits for an acknowledgment (ACK) before sending the next frame</a:t>
            </a:r>
            <a:r>
              <a:rPr lang="en-US" sz="4000" dirty="0" smtClean="0"/>
              <a:t>.</a:t>
            </a:r>
            <a:endParaRPr lang="bn-IN" sz="4000" dirty="0" smtClean="0"/>
          </a:p>
          <a:p>
            <a:r>
              <a:rPr lang="en-US" sz="4000" dirty="0" smtClean="0"/>
              <a:t>It </a:t>
            </a:r>
            <a:r>
              <a:rPr lang="en-US" sz="4000" dirty="0" smtClean="0">
                <a:solidFill>
                  <a:srgbClr val="FF0000"/>
                </a:solidFill>
              </a:rPr>
              <a:t>ensures reliable data transmission over noisy </a:t>
            </a:r>
            <a:r>
              <a:rPr lang="en-US" sz="4000" dirty="0" smtClean="0"/>
              <a:t>channels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06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Procedure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5552" y="2121575"/>
            <a:ext cx="1192166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 sends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frame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 starts a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 checks for errors: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correct → sends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ACK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incorrect → sends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NAK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 discards frame).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ACK is received → sender sends next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ACK is not received before timeout → frame is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retransmitted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107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 Diagram (Simple)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Sender → Frame 0 → Receiver</a:t>
            </a:r>
            <a:br>
              <a:rPr lang="en-US" sz="3600" dirty="0" smtClean="0"/>
            </a:br>
            <a:r>
              <a:rPr lang="en-US" sz="3600" dirty="0" err="1" smtClean="0"/>
              <a:t>Receiver</a:t>
            </a:r>
            <a:r>
              <a:rPr lang="en-US" sz="3600" dirty="0" smtClean="0"/>
              <a:t> → ACK 0 → Sender</a:t>
            </a:r>
            <a:br>
              <a:rPr lang="en-US" sz="3600" dirty="0" smtClean="0"/>
            </a:br>
            <a:r>
              <a:rPr lang="en-US" sz="3600" dirty="0" err="1" smtClean="0"/>
              <a:t>Sender</a:t>
            </a:r>
            <a:r>
              <a:rPr lang="en-US" sz="3600" dirty="0" smtClean="0"/>
              <a:t> → Frame 1 → Receiver</a:t>
            </a:r>
            <a:br>
              <a:rPr lang="en-US" sz="3600" dirty="0" smtClean="0"/>
            </a:br>
            <a:r>
              <a:rPr lang="en-US" sz="3600" dirty="0" err="1" smtClean="0"/>
              <a:t>Receiver</a:t>
            </a:r>
            <a:r>
              <a:rPr lang="en-US" sz="3600" dirty="0" smtClean="0"/>
              <a:t> → ACK 1 → Sender</a:t>
            </a:r>
          </a:p>
          <a:p>
            <a:r>
              <a:rPr lang="en-US" sz="3600" dirty="0" smtClean="0"/>
              <a:t>Only </a:t>
            </a:r>
            <a:r>
              <a:rPr lang="en-US" sz="3600" b="1" dirty="0" smtClean="0"/>
              <a:t>one frame</a:t>
            </a:r>
            <a:r>
              <a:rPr lang="en-US" sz="3600" dirty="0" smtClean="0"/>
              <a:t> is in transit at any time.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1832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Handled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Lost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Damaged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Lost ACK</a:t>
            </a:r>
          </a:p>
          <a:p>
            <a:endParaRPr lang="bn-IN" dirty="0" smtClean="0"/>
          </a:p>
          <a:p>
            <a:r>
              <a:rPr lang="en-US" dirty="0" smtClean="0"/>
              <a:t>In all cases, timeout causes retransmission.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56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246" y="245970"/>
            <a:ext cx="10515600" cy="1325563"/>
          </a:xfrm>
        </p:spPr>
        <p:txBody>
          <a:bodyPr/>
          <a:lstStyle/>
          <a:p>
            <a:r>
              <a:rPr lang="en-US" dirty="0" smtClean="0"/>
              <a:t>Difference Between Flow Control and Error Control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320855"/>
              </p:ext>
            </p:extLst>
          </p:nvPr>
        </p:nvGraphicFramePr>
        <p:xfrm>
          <a:off x="140676" y="1571533"/>
          <a:ext cx="11852031" cy="48022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50677">
                  <a:extLst>
                    <a:ext uri="{9D8B030D-6E8A-4147-A177-3AD203B41FA5}">
                      <a16:colId xmlns:a16="http://schemas.microsoft.com/office/drawing/2014/main" val="3313589800"/>
                    </a:ext>
                  </a:extLst>
                </a:gridCol>
                <a:gridCol w="3950677">
                  <a:extLst>
                    <a:ext uri="{9D8B030D-6E8A-4147-A177-3AD203B41FA5}">
                      <a16:colId xmlns:a16="http://schemas.microsoft.com/office/drawing/2014/main" val="3894640312"/>
                    </a:ext>
                  </a:extLst>
                </a:gridCol>
                <a:gridCol w="3950677">
                  <a:extLst>
                    <a:ext uri="{9D8B030D-6E8A-4147-A177-3AD203B41FA5}">
                      <a16:colId xmlns:a16="http://schemas.microsoft.com/office/drawing/2014/main" val="2338927171"/>
                    </a:ext>
                  </a:extLst>
                </a:gridCol>
              </a:tblGrid>
              <a:tr h="4477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Basis of Comparison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Flow Control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Error Control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1656031"/>
                  </a:ext>
                </a:extLst>
              </a:tr>
              <a:tr h="9571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Definition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Technique to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control the rate of data transmission</a:t>
                      </a:r>
                      <a:r>
                        <a:rPr lang="en-US" sz="2000" dirty="0">
                          <a:effectLst/>
                        </a:rPr>
                        <a:t> between sender and receiver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Technique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to detect and correct errors during data transmission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2102633"/>
                  </a:ext>
                </a:extLst>
              </a:tr>
              <a:tr h="6441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Main Objective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Prevent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receiver overload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Ensure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reliable and accurate data delivery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4011924"/>
                  </a:ext>
                </a:extLst>
              </a:tr>
              <a:tr h="6441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Problem Addressed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Speed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mismatch between sender and receiver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Noise, data corruption, lost frames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5462211"/>
                  </a:ext>
                </a:extLst>
              </a:tr>
              <a:tr h="4477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Error Detection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Not concerned with errors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Uses CRC, Checksum, Parity, etc.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95641177"/>
                  </a:ext>
                </a:extLst>
              </a:tr>
              <a:tr h="6441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Mechanism Used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Stop-and-Wait, Sliding Window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Stop-and-Wait ARQ, Go-Back-N, Selective Repeat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4741371"/>
                  </a:ext>
                </a:extLst>
              </a:tr>
              <a:tr h="4477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Use of Timer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Usually not required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Required for timeout handling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740995"/>
                  </a:ext>
                </a:extLst>
              </a:tr>
              <a:tr h="4477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Reliability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Controls flow only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Ensures correctness of data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880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65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Stop-and-Wait Flow Control and Stop-and-Wait ARQ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94634"/>
              </p:ext>
            </p:extLst>
          </p:nvPr>
        </p:nvGraphicFramePr>
        <p:xfrm>
          <a:off x="838200" y="1690688"/>
          <a:ext cx="10240107" cy="4933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3369">
                  <a:extLst>
                    <a:ext uri="{9D8B030D-6E8A-4147-A177-3AD203B41FA5}">
                      <a16:colId xmlns:a16="http://schemas.microsoft.com/office/drawing/2014/main" val="2835312872"/>
                    </a:ext>
                  </a:extLst>
                </a:gridCol>
                <a:gridCol w="3413369">
                  <a:extLst>
                    <a:ext uri="{9D8B030D-6E8A-4147-A177-3AD203B41FA5}">
                      <a16:colId xmlns:a16="http://schemas.microsoft.com/office/drawing/2014/main" val="923689575"/>
                    </a:ext>
                  </a:extLst>
                </a:gridCol>
                <a:gridCol w="3413369">
                  <a:extLst>
                    <a:ext uri="{9D8B030D-6E8A-4147-A177-3AD203B41FA5}">
                      <a16:colId xmlns:a16="http://schemas.microsoft.com/office/drawing/2014/main" val="2605512245"/>
                    </a:ext>
                  </a:extLst>
                </a:gridCol>
              </a:tblGrid>
              <a:tr h="4865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Basis of Comparison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Stop-and-Wait Flow Control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Stop-and-Wait ARQ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6553695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Purpose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To control the rate of data transmission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To detect and correct transmission errors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8607150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Main Focus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Prevents receiver overflow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Ensures reliable data delivery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7940842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Error Detection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Not included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Included (CRC/Checksum)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0471234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Error Correction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Not provided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Provided through retransmission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4046627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Sequence Number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Not required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Uses 1-bit sequence number (0 and 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9980907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Timer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Generally not used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Used for timeout and retransmission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1880861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Retransmission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Not performed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Performed if frame/ACK is lost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5149254"/>
                  </a:ext>
                </a:extLst>
              </a:tr>
              <a:tr h="4865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Channel Assumption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Assumes error-free channel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Works in noisy channel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360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8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0" y="466393"/>
            <a:ext cx="5258534" cy="4641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04" y="466393"/>
            <a:ext cx="6192114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2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8631384" cy="522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2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569" y="539291"/>
            <a:ext cx="7078063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5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9" y="656997"/>
            <a:ext cx="3982006" cy="3258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12" y="478087"/>
            <a:ext cx="498227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1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338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Vrinda</vt:lpstr>
      <vt:lpstr>Office Theme</vt:lpstr>
      <vt:lpstr>Error Control: Stop and Wait ARQ</vt:lpstr>
      <vt:lpstr>Definition</vt:lpstr>
      <vt:lpstr>Working Procedure</vt:lpstr>
      <vt:lpstr>Flow Diagram (Simple)</vt:lpstr>
      <vt:lpstr>Types of Errors Handled</vt:lpstr>
      <vt:lpstr>Difference Between Flow Control and Error Control</vt:lpstr>
      <vt:lpstr>Difference Between Stop-and-Wait Flow Control and Stop-and-Wait ARQ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Control: Stop and Wait ARQ</dc:title>
  <dc:creator>Lenovo</dc:creator>
  <cp:lastModifiedBy>Lenovo</cp:lastModifiedBy>
  <cp:revision>6</cp:revision>
  <dcterms:created xsi:type="dcterms:W3CDTF">2026-03-05T03:34:12Z</dcterms:created>
  <dcterms:modified xsi:type="dcterms:W3CDTF">2026-03-05T05:08:30Z</dcterms:modified>
</cp:coreProperties>
</file>