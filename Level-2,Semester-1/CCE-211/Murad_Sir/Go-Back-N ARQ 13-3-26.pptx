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94660"/>
  </p:normalViewPr>
  <p:slideViewPr>
    <p:cSldViewPr snapToGrid="0">
      <p:cViewPr varScale="1">
        <p:scale>
          <a:sx n="87" d="100"/>
          <a:sy n="87" d="100"/>
        </p:scale>
        <p:origin x="38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C538B-F837-4518-A6E6-A6E0FE787650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3CD2-728D-4AB0-A1BA-7E87920E2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17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C538B-F837-4518-A6E6-A6E0FE787650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3CD2-728D-4AB0-A1BA-7E87920E2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3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C538B-F837-4518-A6E6-A6E0FE787650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3CD2-728D-4AB0-A1BA-7E87920E2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826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C538B-F837-4518-A6E6-A6E0FE787650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3CD2-728D-4AB0-A1BA-7E87920E2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60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C538B-F837-4518-A6E6-A6E0FE787650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3CD2-728D-4AB0-A1BA-7E87920E2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07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C538B-F837-4518-A6E6-A6E0FE787650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3CD2-728D-4AB0-A1BA-7E87920E2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063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C538B-F837-4518-A6E6-A6E0FE787650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3CD2-728D-4AB0-A1BA-7E87920E2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09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C538B-F837-4518-A6E6-A6E0FE787650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3CD2-728D-4AB0-A1BA-7E87920E2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753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C538B-F837-4518-A6E6-A6E0FE787650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3CD2-728D-4AB0-A1BA-7E87920E2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664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C538B-F837-4518-A6E6-A6E0FE787650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3CD2-728D-4AB0-A1BA-7E87920E2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360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C538B-F837-4518-A6E6-A6E0FE787650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3CD2-728D-4AB0-A1BA-7E87920E2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5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C538B-F837-4518-A6E6-A6E0FE787650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B3CD2-728D-4AB0-A1BA-7E87920E2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06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Go-Back-N ARQ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4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Go-Back-N ARQ (Automatic Repeat </a:t>
            </a:r>
            <a:r>
              <a:rPr lang="en-US" b="1" dirty="0" err="1" smtClean="0"/>
              <a:t>reQuest</a:t>
            </a:r>
            <a:r>
              <a:rPr lang="en-US" b="1" dirty="0" smtClean="0"/>
              <a:t>)</a:t>
            </a:r>
            <a:r>
              <a:rPr lang="en-US" dirty="0" smtClean="0"/>
              <a:t> is an </a:t>
            </a:r>
            <a:r>
              <a:rPr lang="en-US" b="1" dirty="0" smtClean="0"/>
              <a:t>error control protocol</a:t>
            </a:r>
            <a:r>
              <a:rPr lang="en-US" dirty="0" smtClean="0"/>
              <a:t> used in the Data Link Layer to detect and recover from errors during data transmission.</a:t>
            </a:r>
          </a:p>
          <a:p>
            <a:r>
              <a:rPr lang="en-US" b="1" dirty="0" smtClean="0"/>
              <a:t>Concept</a:t>
            </a:r>
          </a:p>
          <a:p>
            <a:pPr lvl="1"/>
            <a:r>
              <a:rPr lang="en-US" dirty="0" smtClean="0"/>
              <a:t>In Go-Back-N ARQ, the sender can transmit </a:t>
            </a:r>
            <a:r>
              <a:rPr lang="en-US" b="1" dirty="0" smtClean="0"/>
              <a:t>multiple frames at a time</a:t>
            </a:r>
            <a:r>
              <a:rPr lang="en-US" dirty="0" smtClean="0"/>
              <a:t> using a </a:t>
            </a:r>
            <a:r>
              <a:rPr lang="en-US" b="1" dirty="0" smtClean="0"/>
              <a:t>sliding window</a:t>
            </a:r>
            <a:r>
              <a:rPr lang="en-US" dirty="0" smtClean="0"/>
              <a:t>. If a frame is lost or contains an error, the sender must </a:t>
            </a:r>
            <a:r>
              <a:rPr lang="en-US" b="1" dirty="0" smtClean="0"/>
              <a:t>go back and retransmit that frame and all subsequent frames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688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Working Process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sender sends several frames continuously </a:t>
            </a:r>
            <a:r>
              <a:rPr lang="en-US" dirty="0" smtClean="0">
                <a:solidFill>
                  <a:srgbClr val="FF0000"/>
                </a:solidFill>
              </a:rPr>
              <a:t>without waiting for acknowledgment for each one.</a:t>
            </a:r>
          </a:p>
          <a:p>
            <a:r>
              <a:rPr lang="en-US" dirty="0" smtClean="0"/>
              <a:t>The receiver sends </a:t>
            </a:r>
            <a:r>
              <a:rPr lang="en-US" b="1" dirty="0" smtClean="0"/>
              <a:t>ACK (Acknowledgment)</a:t>
            </a:r>
            <a:r>
              <a:rPr lang="en-US" dirty="0" smtClean="0"/>
              <a:t> for correctly received frames.</a:t>
            </a:r>
          </a:p>
          <a:p>
            <a:r>
              <a:rPr lang="en-US" dirty="0" smtClean="0"/>
              <a:t>If a frame </a:t>
            </a:r>
            <a:r>
              <a:rPr lang="en-US" dirty="0" smtClean="0">
                <a:solidFill>
                  <a:srgbClr val="FF0000"/>
                </a:solidFill>
              </a:rPr>
              <a:t>is lost or received with an error, the receiver discards that frame and all following frames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When the sender’s </a:t>
            </a:r>
            <a:r>
              <a:rPr lang="en-US" b="1" dirty="0" smtClean="0"/>
              <a:t>timer expires (timeout)</a:t>
            </a:r>
            <a:r>
              <a:rPr lang="en-US" dirty="0" smtClean="0"/>
              <a:t>, it retransmits the erroneous frame and all frames sent after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956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Suppose the sender sends the following frames:</a:t>
            </a:r>
            <a:br>
              <a:rPr lang="en-US" dirty="0" smtClean="0"/>
            </a:br>
            <a:r>
              <a:rPr lang="en-US" b="1" dirty="0" smtClean="0"/>
              <a:t>Frame 0, 1, 2, 3, 4</a:t>
            </a:r>
            <a:endParaRPr lang="en-US" dirty="0" smtClean="0"/>
          </a:p>
          <a:p>
            <a:r>
              <a:rPr lang="en-US" dirty="0" smtClean="0"/>
              <a:t>Frame 0 → Correct (ACK0)</a:t>
            </a:r>
          </a:p>
          <a:p>
            <a:r>
              <a:rPr lang="en-US" dirty="0" smtClean="0"/>
              <a:t>Frame 1 → Correct (ACK1)</a:t>
            </a:r>
          </a:p>
          <a:p>
            <a:r>
              <a:rPr lang="en-US" dirty="0" smtClean="0"/>
              <a:t>Frame 2 → </a:t>
            </a:r>
            <a:r>
              <a:rPr lang="en-US" b="1" dirty="0" smtClean="0"/>
              <a:t>Error</a:t>
            </a:r>
            <a:endParaRPr lang="en-US" dirty="0" smtClean="0"/>
          </a:p>
          <a:p>
            <a:r>
              <a:rPr lang="en-US" dirty="0" smtClean="0"/>
              <a:t>Frame 3, 4 → Discarded by the receiver</a:t>
            </a:r>
          </a:p>
          <a:p>
            <a:r>
              <a:rPr lang="en-US" dirty="0" smtClean="0"/>
              <a:t>The sender then retransmits:</a:t>
            </a:r>
            <a:br>
              <a:rPr lang="en-US" dirty="0" smtClean="0"/>
            </a:br>
            <a:r>
              <a:rPr lang="en-US" b="1" dirty="0" smtClean="0"/>
              <a:t>Frame 2, 3, 4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24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Advantages</a:t>
            </a:r>
          </a:p>
          <a:p>
            <a:pPr lvl="1"/>
            <a:r>
              <a:rPr lang="en-US" sz="2800" dirty="0" smtClean="0"/>
              <a:t>Higher efficiency than Stop-and-Wait protocol</a:t>
            </a:r>
          </a:p>
          <a:p>
            <a:pPr lvl="1"/>
            <a:r>
              <a:rPr lang="en-US" sz="2800" dirty="0" smtClean="0"/>
              <a:t>Allows multiple frames to be sent before receiving ACK</a:t>
            </a:r>
          </a:p>
          <a:p>
            <a:r>
              <a:rPr lang="en-US" sz="3200" b="1" dirty="0" smtClean="0"/>
              <a:t>Disadvantages</a:t>
            </a:r>
          </a:p>
          <a:p>
            <a:pPr lvl="1"/>
            <a:r>
              <a:rPr lang="en-US" sz="2800" dirty="0" smtClean="0"/>
              <a:t>If one frame has an error, many frames may need to be retransmitted</a:t>
            </a:r>
          </a:p>
          <a:p>
            <a:pPr lvl="1"/>
            <a:r>
              <a:rPr lang="en-US" sz="2800" dirty="0" smtClean="0"/>
              <a:t>This may waste bandwidth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21673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26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185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Go-Back-N ARQ</vt:lpstr>
      <vt:lpstr>PowerPoint Presentation</vt:lpstr>
      <vt:lpstr>Working Process </vt:lpstr>
      <vt:lpstr>Example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Go-Back-N ARQ</dc:title>
  <dc:creator>Lenovo</dc:creator>
  <cp:lastModifiedBy>Lenovo</cp:lastModifiedBy>
  <cp:revision>2</cp:revision>
  <dcterms:created xsi:type="dcterms:W3CDTF">2026-03-13T03:32:25Z</dcterms:created>
  <dcterms:modified xsi:type="dcterms:W3CDTF">2026-03-13T03:35:52Z</dcterms:modified>
</cp:coreProperties>
</file>