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13"/>
  </p:handoutMasterIdLst>
  <p:sldIdLst>
    <p:sldId id="256" r:id="rId3"/>
    <p:sldId id="257" r:id="rId4"/>
    <p:sldId id="258" r:id="rId5"/>
    <p:sldId id="259" r:id="rId6"/>
    <p:sldId id="260" r:id="rId7"/>
    <p:sldId id="261" r:id="rId8"/>
    <p:sldId id="262" r:id="rId9"/>
    <p:sldId id="263" r:id="rId10"/>
    <p:sldId id="264" r:id="rId11"/>
    <p:sldId id="265" r:id="rId1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EF908C51-D441-457A-8694-470D35F49373}" type="datetimeFigureOut">
              <a:rPr lang="en-US" smtClean="0"/>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CC8FE563-20D3-46CB-AFE5-97A833C339D8}" type="slidenum">
              <a:rPr lang="en-US" smtClean="0"/>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15487E3-2838-407D-B809-6FEEDE047F3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15487E3-2838-407D-B809-6FEEDE047F3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F15487E3-2838-407D-B809-6FEEDE047F3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F15487E3-2838-407D-B809-6FEEDE047F3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endParaRPr lang="en-US" smtClean="0"/>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F15487E3-2838-407D-B809-6FEEDE047F31}"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15487E3-2838-407D-B809-6FEEDE047F3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5487E3-2838-407D-B809-6FEEDE047F3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F15487E3-2838-407D-B809-6FEEDE047F3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F15487E3-2838-407D-B809-6FEEDE047F3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15487E3-2838-407D-B809-6FEEDE047F3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15487E3-2838-407D-B809-6FEEDE047F3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AE0CF2-0C7A-4F60-9D3F-5B626AF755B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15487E3-2838-407D-B809-6FEEDE047F31}" type="datetimeFigureOut">
              <a:rPr lang="en-US" smtClean="0"/>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1AE0CF2-0C7A-4F60-9D3F-5B626AF755B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8077200" cy="838199"/>
          </a:xfrm>
        </p:spPr>
        <p:txBody>
          <a:bodyPr>
            <a:normAutofit/>
          </a:bodyPr>
          <a:lstStyle/>
          <a:p>
            <a:r>
              <a:rPr lang="en-US" sz="2800" dirty="0" smtClean="0"/>
              <a:t>Planning &amp; Decision Making</a:t>
            </a:r>
            <a:endParaRPr lang="en-US" sz="2800" dirty="0"/>
          </a:p>
        </p:txBody>
      </p:sp>
      <p:sp>
        <p:nvSpPr>
          <p:cNvPr id="3" name="Subtitle 2"/>
          <p:cNvSpPr>
            <a:spLocks noGrp="1"/>
          </p:cNvSpPr>
          <p:nvPr>
            <p:ph type="subTitle" idx="1"/>
          </p:nvPr>
        </p:nvSpPr>
        <p:spPr>
          <a:xfrm>
            <a:off x="457200" y="1143000"/>
            <a:ext cx="8382000" cy="5410200"/>
          </a:xfrm>
        </p:spPr>
        <p:txBody>
          <a:bodyPr>
            <a:normAutofit lnSpcReduction="10000"/>
          </a:bodyPr>
          <a:lstStyle/>
          <a:p>
            <a:pPr algn="just"/>
            <a:r>
              <a:rPr lang="en-US" sz="3200" dirty="0" smtClean="0">
                <a:latin typeface="Aparajita" pitchFamily="34" charset="0"/>
                <a:cs typeface="Aparajita" pitchFamily="34" charset="0"/>
              </a:rPr>
              <a:t>A plan is a blueprint of future courses of actions. Planning is a process of making a plan.</a:t>
            </a:r>
            <a:endParaRPr lang="en-US" sz="3200" dirty="0" smtClean="0">
              <a:latin typeface="Aparajita" pitchFamily="34" charset="0"/>
              <a:cs typeface="Aparajita" pitchFamily="34" charset="0"/>
            </a:endParaRPr>
          </a:p>
          <a:p>
            <a:pPr algn="just"/>
            <a:r>
              <a:rPr lang="en-US" sz="3200" dirty="0" smtClean="0">
                <a:latin typeface="Aparajita" pitchFamily="34" charset="0"/>
                <a:cs typeface="Aparajita" pitchFamily="34" charset="0"/>
              </a:rPr>
              <a:t>“Planning is a process of preparing for change and coping with uncertainty by formulating future courses of action”.    Robert </a:t>
            </a:r>
            <a:r>
              <a:rPr lang="en-US" sz="3200" dirty="0" err="1" smtClean="0">
                <a:latin typeface="Aparajita" pitchFamily="34" charset="0"/>
                <a:cs typeface="Aparajita" pitchFamily="34" charset="0"/>
              </a:rPr>
              <a:t>Kritner</a:t>
            </a:r>
            <a:endParaRPr lang="en-US" sz="3200" dirty="0" smtClean="0">
              <a:latin typeface="Aparajita" pitchFamily="34" charset="0"/>
              <a:cs typeface="Aparajita" pitchFamily="34" charset="0"/>
            </a:endParaRPr>
          </a:p>
          <a:p>
            <a:pPr algn="just"/>
            <a:r>
              <a:rPr lang="en-US" sz="3200" dirty="0" smtClean="0">
                <a:latin typeface="Aparajita" pitchFamily="34" charset="0"/>
                <a:cs typeface="Aparajita" pitchFamily="34" charset="0"/>
              </a:rPr>
              <a:t>Types of Planning</a:t>
            </a:r>
            <a:endParaRPr lang="en-US" sz="3200" dirty="0" smtClean="0">
              <a:latin typeface="Aparajita" pitchFamily="34" charset="0"/>
              <a:cs typeface="Aparajita" pitchFamily="34" charset="0"/>
            </a:endParaRPr>
          </a:p>
          <a:p>
            <a:pPr marL="541655" indent="-514350" algn="just">
              <a:buFont typeface="+mj-lt"/>
              <a:buAutoNum type="arabicPeriod"/>
            </a:pPr>
            <a:r>
              <a:rPr lang="en-US" sz="3200" dirty="0" smtClean="0">
                <a:latin typeface="Aparajita" pitchFamily="34" charset="0"/>
                <a:cs typeface="Aparajita" pitchFamily="34" charset="0"/>
              </a:rPr>
              <a:t>On the basis of time</a:t>
            </a:r>
            <a:endParaRPr lang="en-US" sz="3200" dirty="0" smtClean="0">
              <a:latin typeface="Aparajita" pitchFamily="34" charset="0"/>
              <a:cs typeface="Aparajita" pitchFamily="34" charset="0"/>
            </a:endParaRPr>
          </a:p>
          <a:p>
            <a:pPr marL="541655" indent="-514350" algn="just">
              <a:buFont typeface="+mj-lt"/>
              <a:buAutoNum type="arabicPeriod"/>
            </a:pPr>
            <a:r>
              <a:rPr lang="en-US" sz="3200" dirty="0" smtClean="0">
                <a:latin typeface="Aparajita" pitchFamily="34" charset="0"/>
                <a:cs typeface="Aparajita" pitchFamily="34" charset="0"/>
              </a:rPr>
              <a:t>On the basis of durability</a:t>
            </a:r>
            <a:endParaRPr lang="en-US" sz="3200" dirty="0" smtClean="0">
              <a:latin typeface="Aparajita" pitchFamily="34" charset="0"/>
              <a:cs typeface="Aparajita" pitchFamily="34" charset="0"/>
            </a:endParaRPr>
          </a:p>
          <a:p>
            <a:pPr marL="541655" indent="-514350" algn="just">
              <a:buFont typeface="+mj-lt"/>
              <a:buAutoNum type="arabicPeriod"/>
            </a:pPr>
            <a:r>
              <a:rPr lang="en-US" sz="3200" dirty="0" smtClean="0">
                <a:latin typeface="Aparajita" pitchFamily="34" charset="0"/>
                <a:cs typeface="Aparajita" pitchFamily="34" charset="0"/>
              </a:rPr>
              <a:t>On the basis of significance</a:t>
            </a:r>
            <a:endParaRPr lang="en-US" sz="3200" dirty="0" smtClean="0">
              <a:latin typeface="Aparajita" pitchFamily="34" charset="0"/>
              <a:cs typeface="Aparajita" pitchFamily="34" charset="0"/>
            </a:endParaRPr>
          </a:p>
          <a:p>
            <a:pPr algn="just"/>
            <a:endParaRPr lang="en-US" sz="2800" dirty="0" smtClean="0">
              <a:latin typeface="Aparajita" pitchFamily="34" charset="0"/>
              <a:cs typeface="Aparajita" pitchFamily="34" charset="0"/>
            </a:endParaRPr>
          </a:p>
          <a:p>
            <a:pPr marL="541655" indent="-514350" algn="just">
              <a:buFont typeface="+mj-lt"/>
              <a:buAutoNum type="arabicPeriod"/>
            </a:pPr>
            <a:endParaRPr lang="en-US" dirty="0" smtClean="0"/>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28888" cy="1325562"/>
          </a:xfrm>
        </p:spPr>
        <p:txBody>
          <a:bodyPr/>
          <a:lstStyle/>
          <a:p>
            <a:r>
              <a:rPr lang="en-US" dirty="0" smtClean="0">
                <a:latin typeface="Aparajita" pitchFamily="34" charset="0"/>
                <a:cs typeface="Aparajita" pitchFamily="34" charset="0"/>
              </a:rPr>
              <a:t>1. On the basis of time</a:t>
            </a:r>
            <a:endParaRPr lang="en-US" dirty="0">
              <a:latin typeface="Aparajita" pitchFamily="34" charset="0"/>
              <a:cs typeface="Aparajita" pitchFamily="34" charset="0"/>
            </a:endParaRPr>
          </a:p>
        </p:txBody>
      </p:sp>
      <p:sp>
        <p:nvSpPr>
          <p:cNvPr id="3" name="Content Placeholder 2"/>
          <p:cNvSpPr>
            <a:spLocks noGrp="1"/>
          </p:cNvSpPr>
          <p:nvPr>
            <p:ph idx="1"/>
          </p:nvPr>
        </p:nvSpPr>
        <p:spPr>
          <a:xfrm>
            <a:off x="304800" y="914400"/>
            <a:ext cx="8628888" cy="5562600"/>
          </a:xfrm>
        </p:spPr>
        <p:txBody>
          <a:bodyPr>
            <a:normAutofit/>
          </a:bodyPr>
          <a:lstStyle/>
          <a:p>
            <a:pPr algn="just">
              <a:buFont typeface="Courier New" panose="02070309020205020404" pitchFamily="49" charset="0"/>
              <a:buChar char="o"/>
            </a:pPr>
            <a:endParaRPr lang="en-US" sz="2800" dirty="0" smtClean="0">
              <a:latin typeface="Aparajita" pitchFamily="34" charset="0"/>
              <a:cs typeface="Aparajita" pitchFamily="34" charset="0"/>
            </a:endParaRPr>
          </a:p>
          <a:p>
            <a:pPr algn="just">
              <a:buFont typeface="Courier New" panose="02070309020205020404" pitchFamily="49" charset="0"/>
              <a:buChar char="o"/>
            </a:pPr>
            <a:r>
              <a:rPr lang="en-US" dirty="0" smtClean="0">
                <a:latin typeface="Aparajita" pitchFamily="34" charset="0"/>
                <a:cs typeface="Aparajita" pitchFamily="34" charset="0"/>
              </a:rPr>
              <a:t>Long range planning: A plan which covers one year and above time in advance, we call it long range planning.</a:t>
            </a:r>
            <a:endParaRPr lang="en-US" dirty="0" smtClean="0">
              <a:latin typeface="Aparajita" pitchFamily="34" charset="0"/>
              <a:cs typeface="Aparajita" pitchFamily="34" charset="0"/>
            </a:endParaRPr>
          </a:p>
          <a:p>
            <a:pPr algn="just">
              <a:buFont typeface="Courier New" panose="02070309020205020404" pitchFamily="49" charset="0"/>
              <a:buChar char="o"/>
            </a:pPr>
            <a:r>
              <a:rPr lang="en-US" dirty="0" smtClean="0">
                <a:latin typeface="Aparajita" pitchFamily="34" charset="0"/>
                <a:cs typeface="Aparajita" pitchFamily="34" charset="0"/>
              </a:rPr>
              <a:t>Short range planning: A plan that covers less than one year in advance, we call it short range planning. </a:t>
            </a:r>
            <a:endParaRPr lang="en-US" dirty="0" smtClean="0">
              <a:latin typeface="Aparajita" pitchFamily="34" charset="0"/>
              <a:cs typeface="Aparajita" pitchFamily="34" charset="0"/>
            </a:endParaRPr>
          </a:p>
          <a:p>
            <a:pPr algn="just">
              <a:buNone/>
            </a:pPr>
            <a:r>
              <a:rPr lang="en-US" dirty="0" smtClean="0">
                <a:latin typeface="Aparajita" pitchFamily="34" charset="0"/>
                <a:cs typeface="Aparajita" pitchFamily="34" charset="0"/>
              </a:rPr>
              <a:t>Long range plan is sometimes divided into intermediate and long term. Intermediate range is subject to change according to organization policy.</a:t>
            </a:r>
            <a:endParaRPr lang="en-US" dirty="0" smtClean="0">
              <a:latin typeface="Aparajita" pitchFamily="34" charset="0"/>
              <a:cs typeface="Aparajita" pitchFamily="34" charset="0"/>
            </a:endParaRPr>
          </a:p>
        </p:txBody>
      </p:sp>
    </p:spTree>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8400288" cy="715962"/>
          </a:xfrm>
        </p:spPr>
        <p:txBody>
          <a:bodyPr>
            <a:normAutofit/>
          </a:bodyPr>
          <a:lstStyle/>
          <a:p>
            <a:r>
              <a:rPr lang="en-US" sz="4000" dirty="0" smtClean="0">
                <a:latin typeface="Aparajita" pitchFamily="34" charset="0"/>
                <a:cs typeface="Aparajita" pitchFamily="34" charset="0"/>
              </a:rPr>
              <a:t>2. On the basis of durability</a:t>
            </a:r>
            <a:endParaRPr lang="en-US" sz="4000" dirty="0">
              <a:latin typeface="Aparajita" pitchFamily="34" charset="0"/>
              <a:cs typeface="Aparajita" pitchFamily="34" charset="0"/>
            </a:endParaRPr>
          </a:p>
        </p:txBody>
      </p:sp>
      <p:sp>
        <p:nvSpPr>
          <p:cNvPr id="3" name="Content Placeholder 2"/>
          <p:cNvSpPr>
            <a:spLocks noGrp="1"/>
          </p:cNvSpPr>
          <p:nvPr>
            <p:ph idx="1"/>
          </p:nvPr>
        </p:nvSpPr>
        <p:spPr>
          <a:xfrm>
            <a:off x="228600" y="914400"/>
            <a:ext cx="8705088" cy="5562600"/>
          </a:xfrm>
        </p:spPr>
        <p:txBody>
          <a:bodyPr>
            <a:noAutofit/>
          </a:bodyPr>
          <a:lstStyle/>
          <a:p>
            <a:pPr>
              <a:buFont typeface="Courier New" panose="02070309020205020404" pitchFamily="49" charset="0"/>
              <a:buChar char="o"/>
            </a:pPr>
            <a:r>
              <a:rPr lang="en-US" sz="2800" dirty="0" smtClean="0">
                <a:latin typeface="Aparajita" pitchFamily="34" charset="0"/>
                <a:cs typeface="Aparajita" pitchFamily="34" charset="0"/>
              </a:rPr>
              <a:t>Single use plan &amp; Standing plan</a:t>
            </a:r>
            <a:endParaRPr lang="en-US" sz="2800" dirty="0" smtClean="0">
              <a:latin typeface="Aparajita" pitchFamily="34" charset="0"/>
              <a:cs typeface="Aparajita" pitchFamily="34" charset="0"/>
            </a:endParaRPr>
          </a:p>
          <a:p>
            <a:pPr algn="just">
              <a:buFont typeface="Courier New" panose="02070309020205020404" pitchFamily="49" charset="0"/>
              <a:buChar char="o"/>
            </a:pPr>
            <a:r>
              <a:rPr lang="en-US" sz="2400" b="1" dirty="0" smtClean="0">
                <a:latin typeface="Aparajita" pitchFamily="34" charset="0"/>
                <a:cs typeface="Aparajita" pitchFamily="34" charset="0"/>
              </a:rPr>
              <a:t>Single use plan: </a:t>
            </a:r>
            <a:r>
              <a:rPr lang="en-US" sz="2400" dirty="0" smtClean="0">
                <a:latin typeface="Aparajita" pitchFamily="34" charset="0"/>
                <a:cs typeface="Aparajita" pitchFamily="34" charset="0"/>
              </a:rPr>
              <a:t>Single use plan is done for a particular purpose. Example: a plan to construct a building, a bridge, a road.</a:t>
            </a:r>
            <a:endParaRPr lang="en-US" sz="2400" dirty="0" smtClean="0">
              <a:latin typeface="Aparajita" pitchFamily="34" charset="0"/>
              <a:cs typeface="Aparajita" pitchFamily="34" charset="0"/>
            </a:endParaRPr>
          </a:p>
          <a:p>
            <a:pPr algn="just">
              <a:buNone/>
            </a:pPr>
            <a:r>
              <a:rPr lang="en-US" sz="2400" dirty="0" smtClean="0">
                <a:latin typeface="Aparajita" pitchFamily="34" charset="0"/>
                <a:cs typeface="Aparajita" pitchFamily="34" charset="0"/>
              </a:rPr>
              <a:t>Single use plan can be divided into three categories</a:t>
            </a:r>
            <a:endParaRPr lang="en-US" sz="2400" dirty="0" smtClean="0">
              <a:latin typeface="Aparajita" pitchFamily="34" charset="0"/>
              <a:cs typeface="Aparajita" pitchFamily="34" charset="0"/>
            </a:endParaRPr>
          </a:p>
          <a:p>
            <a:pPr marL="654050" indent="-571500" algn="just">
              <a:buFont typeface="+mj-lt"/>
              <a:buAutoNum type="romanLcPeriod"/>
            </a:pPr>
            <a:r>
              <a:rPr lang="en-US" sz="2400" dirty="0" smtClean="0">
                <a:latin typeface="Aparajita" pitchFamily="34" charset="0"/>
                <a:cs typeface="Aparajita" pitchFamily="34" charset="0"/>
              </a:rPr>
              <a:t>Budget: Budget is for single year. It is quantitative expression of plan.</a:t>
            </a:r>
            <a:endParaRPr lang="en-US" sz="2400" dirty="0" smtClean="0">
              <a:latin typeface="Aparajita" pitchFamily="34" charset="0"/>
              <a:cs typeface="Aparajita" pitchFamily="34" charset="0"/>
            </a:endParaRPr>
          </a:p>
          <a:p>
            <a:pPr marL="654050" indent="-571500" algn="just">
              <a:buFont typeface="+mj-lt"/>
              <a:buAutoNum type="romanLcPeriod"/>
            </a:pPr>
            <a:r>
              <a:rPr lang="en-US" sz="2400" dirty="0" smtClean="0">
                <a:latin typeface="Aparajita" pitchFamily="34" charset="0"/>
                <a:cs typeface="Aparajita" pitchFamily="34" charset="0"/>
              </a:rPr>
              <a:t>Project: Project is a temporary endeavor. It has time bound to produce a single unit of product. Example: to build a building.</a:t>
            </a:r>
            <a:endParaRPr lang="en-US" sz="2400" dirty="0" smtClean="0">
              <a:latin typeface="Aparajita" pitchFamily="34" charset="0"/>
              <a:cs typeface="Aparajita" pitchFamily="34" charset="0"/>
            </a:endParaRPr>
          </a:p>
          <a:p>
            <a:pPr marL="654050" indent="-571500" algn="just">
              <a:buFont typeface="+mj-lt"/>
              <a:buAutoNum type="romanLcPeriod"/>
            </a:pPr>
            <a:r>
              <a:rPr lang="en-US" sz="2400" dirty="0" smtClean="0">
                <a:latin typeface="Aparajita" pitchFamily="34" charset="0"/>
                <a:cs typeface="Aparajita" pitchFamily="34" charset="0"/>
              </a:rPr>
              <a:t>Program: Program is done for particular purpose. Example: family planning program. It has a large set of activities. It requires  identifying principal steps, fixing responsibilities, and setting the timeframe for each step.</a:t>
            </a:r>
            <a:endParaRPr lang="en-US" sz="2400" dirty="0">
              <a:latin typeface="Aparajita" pitchFamily="34" charset="0"/>
              <a:cs typeface="Aparajita" pitchFamily="34" charset="0"/>
            </a:endParaRPr>
          </a:p>
        </p:txBody>
      </p:sp>
    </p:spTree>
  </p:cSld>
  <p:clrMapOvr>
    <a:masterClrMapping/>
  </p:clrMapOvr>
  <p:transition>
    <p:pull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552688" cy="182562"/>
          </a:xfrm>
        </p:spPr>
        <p:txBody>
          <a:bodyPr>
            <a:normAutofit fontScale="90000"/>
          </a:bodyPr>
          <a:lstStyle/>
          <a:p>
            <a:endParaRPr lang="en-US" dirty="0"/>
          </a:p>
        </p:txBody>
      </p:sp>
      <p:sp>
        <p:nvSpPr>
          <p:cNvPr id="3" name="Content Placeholder 2"/>
          <p:cNvSpPr>
            <a:spLocks noGrp="1"/>
          </p:cNvSpPr>
          <p:nvPr>
            <p:ph idx="1"/>
          </p:nvPr>
        </p:nvSpPr>
        <p:spPr>
          <a:xfrm>
            <a:off x="381000" y="609600"/>
            <a:ext cx="8552688" cy="5943600"/>
          </a:xfrm>
        </p:spPr>
        <p:txBody>
          <a:bodyPr>
            <a:normAutofit fontScale="85000" lnSpcReduction="20000"/>
          </a:bodyPr>
          <a:lstStyle/>
          <a:p>
            <a:pPr>
              <a:buFont typeface="Courier New" panose="02070309020205020404" pitchFamily="49" charset="0"/>
              <a:buChar char="o"/>
            </a:pPr>
            <a:r>
              <a:rPr lang="en-US" sz="2800" b="1" dirty="0" smtClean="0">
                <a:latin typeface="Aparajita" pitchFamily="34" charset="0"/>
                <a:cs typeface="Aparajita" pitchFamily="34" charset="0"/>
              </a:rPr>
              <a:t>Standing plan: </a:t>
            </a:r>
            <a:r>
              <a:rPr lang="en-US" sz="2800" dirty="0" smtClean="0">
                <a:latin typeface="Aparajita" pitchFamily="34" charset="0"/>
                <a:cs typeface="Aparajita" pitchFamily="34" charset="0"/>
              </a:rPr>
              <a:t>Standing plan is a kind of plan that can be used again and again. This type of plan does not lose its effectiveness because of its repetitive use</a:t>
            </a:r>
            <a:r>
              <a:rPr lang="en-US" sz="2800" b="1" dirty="0" smtClean="0">
                <a:latin typeface="Aparajita" pitchFamily="34" charset="0"/>
                <a:cs typeface="Aparajita" pitchFamily="34" charset="0"/>
              </a:rPr>
              <a:t>. Example</a:t>
            </a:r>
            <a:r>
              <a:rPr lang="en-US" sz="2800" dirty="0" smtClean="0">
                <a:latin typeface="Aparajita" pitchFamily="34" charset="0"/>
                <a:cs typeface="Aparajita" pitchFamily="34" charset="0"/>
              </a:rPr>
              <a:t>: procurement of raw materials, a plan to promote, demote, and transfer employees, a plan to admit students by the university in a particular program, salary of employee.</a:t>
            </a:r>
            <a:endParaRPr lang="en-US" sz="2800" dirty="0" smtClean="0">
              <a:latin typeface="Aparajita" pitchFamily="34" charset="0"/>
              <a:cs typeface="Aparajita" pitchFamily="34" charset="0"/>
            </a:endParaRPr>
          </a:p>
          <a:p>
            <a:pPr marL="654050" indent="-571500" algn="just">
              <a:buFont typeface="+mj-lt"/>
              <a:buAutoNum type="romanLcPeriod"/>
            </a:pPr>
            <a:endParaRPr lang="en-US" sz="2800" dirty="0" smtClean="0">
              <a:latin typeface="Aparajita" pitchFamily="34" charset="0"/>
              <a:cs typeface="Aparajita" pitchFamily="34" charset="0"/>
            </a:endParaRPr>
          </a:p>
          <a:p>
            <a:pPr marL="654050" indent="-571500" algn="just">
              <a:buFont typeface="+mj-lt"/>
              <a:buAutoNum type="romanLcPeriod"/>
            </a:pPr>
            <a:r>
              <a:rPr lang="en-US" sz="2800" dirty="0" smtClean="0">
                <a:latin typeface="Aparajita" pitchFamily="34" charset="0"/>
                <a:cs typeface="Aparajita" pitchFamily="34" charset="0"/>
              </a:rPr>
              <a:t>Policy: it is a general guideline for doing an action. Policy is a boundary within which managers work. Example: selection policy.</a:t>
            </a:r>
            <a:endParaRPr lang="en-US" sz="2800" dirty="0" smtClean="0">
              <a:latin typeface="Aparajita" pitchFamily="34" charset="0"/>
              <a:cs typeface="Aparajita" pitchFamily="34" charset="0"/>
            </a:endParaRPr>
          </a:p>
          <a:p>
            <a:pPr marL="654050" indent="-571500" algn="just">
              <a:buFont typeface="+mj-lt"/>
              <a:buAutoNum type="romanLcPeriod"/>
            </a:pPr>
            <a:r>
              <a:rPr lang="en-US" sz="2800" dirty="0" smtClean="0">
                <a:latin typeface="Aparajita" pitchFamily="34" charset="0"/>
                <a:cs typeface="Aparajita" pitchFamily="34" charset="0"/>
              </a:rPr>
              <a:t>Process/ Procedure: A procedure is a series of related steps expressed in chronological order to achieve an objective. Example: selection procedure of BCS.</a:t>
            </a:r>
            <a:endParaRPr lang="en-US" sz="2800" dirty="0" smtClean="0">
              <a:latin typeface="Aparajita" pitchFamily="34" charset="0"/>
              <a:cs typeface="Aparajita" pitchFamily="34" charset="0"/>
            </a:endParaRPr>
          </a:p>
          <a:p>
            <a:pPr marL="654050" indent="-571500" algn="just">
              <a:buFont typeface="+mj-lt"/>
              <a:buAutoNum type="romanLcPeriod"/>
            </a:pPr>
            <a:r>
              <a:rPr lang="en-US" sz="2800" dirty="0" smtClean="0">
                <a:latin typeface="Aparajita" pitchFamily="34" charset="0"/>
                <a:cs typeface="Aparajita" pitchFamily="34" charset="0"/>
              </a:rPr>
              <a:t>Rule: rule is specific. Policy is general. An explicit statement that tells managers what they can or cannot do.</a:t>
            </a:r>
            <a:endParaRPr lang="en-US" sz="2800" dirty="0" smtClean="0">
              <a:latin typeface="Aparajita" pitchFamily="34" charset="0"/>
              <a:cs typeface="Aparajita" pitchFamily="34" charset="0"/>
            </a:endParaRPr>
          </a:p>
          <a:p>
            <a:pPr marL="654050" indent="-571500" algn="just">
              <a:buFont typeface="+mj-lt"/>
              <a:buAutoNum type="romanLcPeriod"/>
            </a:pPr>
            <a:r>
              <a:rPr lang="en-US" sz="2800" dirty="0" smtClean="0">
                <a:latin typeface="Aparajita" pitchFamily="34" charset="0"/>
                <a:cs typeface="Aparajita" pitchFamily="34" charset="0"/>
              </a:rPr>
              <a:t>Method: It is the part of procedure. Specific way of doing thing is called method.</a:t>
            </a:r>
            <a:endParaRPr lang="en-US" sz="2800" dirty="0" smtClean="0">
              <a:latin typeface="Aparajita" pitchFamily="34" charset="0"/>
              <a:cs typeface="Aparajita" pitchFamily="34" charset="0"/>
            </a:endParaRPr>
          </a:p>
          <a:p>
            <a:pPr marL="654050" indent="-571500" algn="just">
              <a:buFont typeface="+mj-lt"/>
              <a:buAutoNum type="romanLcPeriod"/>
            </a:pPr>
            <a:r>
              <a:rPr lang="en-US" sz="2800" dirty="0" smtClean="0">
                <a:latin typeface="Aparajita" pitchFamily="34" charset="0"/>
                <a:cs typeface="Aparajita" pitchFamily="34" charset="0"/>
              </a:rPr>
              <a:t>Regulation: details description of taking an action. It exemplifies the rule.</a:t>
            </a:r>
            <a:endParaRPr lang="en-US" sz="2800" dirty="0" smtClean="0">
              <a:latin typeface="Aparajita" pitchFamily="34" charset="0"/>
              <a:cs typeface="Aparajita" pitchFamily="34" charset="0"/>
            </a:endParaRPr>
          </a:p>
          <a:p>
            <a:pPr marL="654050" indent="-571500" algn="just">
              <a:buFont typeface="+mj-lt"/>
              <a:buAutoNum type="romanLcPeriod"/>
            </a:pPr>
            <a:endParaRPr lang="en-US" sz="2400" dirty="0" smtClean="0">
              <a:latin typeface="Aparajita" pitchFamily="34" charset="0"/>
              <a:cs typeface="Aparajita" pitchFamily="34" charset="0"/>
            </a:endParaRPr>
          </a:p>
          <a:p>
            <a:pPr marL="654050" indent="-571500" algn="just">
              <a:buNone/>
            </a:pPr>
            <a:endParaRPr lang="en-US" sz="2800" dirty="0">
              <a:latin typeface="Aparajita" pitchFamily="34" charset="0"/>
              <a:cs typeface="Aparajita" pitchFamily="34" charset="0"/>
            </a:endParaRPr>
          </a:p>
        </p:txBody>
      </p:sp>
    </p:spTree>
  </p:cSld>
  <p:clrMapOvr>
    <a:masterClrMapping/>
  </p:clrMapOvr>
  <p:transition>
    <p:wedg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552688" cy="563562"/>
          </a:xfrm>
        </p:spPr>
        <p:txBody>
          <a:bodyPr>
            <a:normAutofit fontScale="90000"/>
          </a:bodyPr>
          <a:lstStyle/>
          <a:p>
            <a:r>
              <a:rPr lang="en-US" sz="4000" dirty="0" smtClean="0">
                <a:latin typeface="Aparajita" pitchFamily="34" charset="0"/>
                <a:cs typeface="Aparajita" pitchFamily="34" charset="0"/>
              </a:rPr>
              <a:t>3. On the basis of significance</a:t>
            </a:r>
            <a:endParaRPr lang="en-US" sz="4000" dirty="0">
              <a:latin typeface="Aparajita" pitchFamily="34" charset="0"/>
              <a:cs typeface="Aparajita" pitchFamily="34" charset="0"/>
            </a:endParaRPr>
          </a:p>
        </p:txBody>
      </p:sp>
      <p:sp>
        <p:nvSpPr>
          <p:cNvPr id="3" name="Content Placeholder 2"/>
          <p:cNvSpPr>
            <a:spLocks noGrp="1"/>
          </p:cNvSpPr>
          <p:nvPr>
            <p:ph idx="1"/>
          </p:nvPr>
        </p:nvSpPr>
        <p:spPr>
          <a:xfrm>
            <a:off x="381000" y="685800"/>
            <a:ext cx="8534400" cy="5943600"/>
          </a:xfrm>
        </p:spPr>
        <p:txBody>
          <a:bodyPr>
            <a:noAutofit/>
          </a:bodyPr>
          <a:lstStyle/>
          <a:p>
            <a:pPr marL="654050" indent="-571500">
              <a:buFont typeface="+mj-lt"/>
              <a:buAutoNum type="romanUcPeriod"/>
            </a:pPr>
            <a:r>
              <a:rPr lang="en-US" sz="2800" dirty="0" smtClean="0">
                <a:latin typeface="Aparajita" pitchFamily="34" charset="0"/>
                <a:cs typeface="Aparajita" pitchFamily="34" charset="0"/>
              </a:rPr>
              <a:t>Corporate plan, II. Operating plan.</a:t>
            </a:r>
            <a:endParaRPr lang="en-US" sz="2800" dirty="0" smtClean="0">
              <a:latin typeface="Aparajita" pitchFamily="34" charset="0"/>
              <a:cs typeface="Aparajita" pitchFamily="34" charset="0"/>
            </a:endParaRPr>
          </a:p>
          <a:p>
            <a:pPr marL="654050" indent="-571500" algn="just">
              <a:buNone/>
            </a:pPr>
            <a:r>
              <a:rPr lang="en-US" sz="2800" dirty="0" smtClean="0">
                <a:latin typeface="Aparajita" pitchFamily="34" charset="0"/>
                <a:cs typeface="Aparajita" pitchFamily="34" charset="0"/>
              </a:rPr>
              <a:t>I. </a:t>
            </a:r>
            <a:r>
              <a:rPr lang="en-US" sz="2000" dirty="0" smtClean="0">
                <a:latin typeface="Aparajita" pitchFamily="34" charset="0"/>
                <a:cs typeface="Aparajita" pitchFamily="34" charset="0"/>
              </a:rPr>
              <a:t>Corporate plan: The plan which has got implication on overall organization.</a:t>
            </a:r>
            <a:endParaRPr lang="en-US" sz="2000" dirty="0" smtClean="0">
              <a:latin typeface="Aparajita" pitchFamily="34" charset="0"/>
              <a:cs typeface="Aparajita" pitchFamily="34" charset="0"/>
            </a:endParaRPr>
          </a:p>
          <a:p>
            <a:pPr marL="928370" lvl="1" indent="-571500" algn="just">
              <a:buFont typeface="Arial" panose="020B0604020202020204" pitchFamily="34" charset="0"/>
              <a:buChar char="•"/>
            </a:pPr>
            <a:r>
              <a:rPr lang="en-US" sz="2000" dirty="0" smtClean="0">
                <a:latin typeface="Aparajita" pitchFamily="34" charset="0"/>
                <a:cs typeface="Aparajita" pitchFamily="34" charset="0"/>
              </a:rPr>
              <a:t>Vision: It is the dream of the entrepreneurs that shows the fundamental aspiration and purpose of the organization. It is a desire and unspecific.</a:t>
            </a:r>
            <a:endParaRPr lang="en-US" sz="2000" dirty="0" smtClean="0">
              <a:latin typeface="Aparajita" pitchFamily="34" charset="0"/>
              <a:cs typeface="Aparajita" pitchFamily="34" charset="0"/>
            </a:endParaRPr>
          </a:p>
          <a:p>
            <a:pPr marL="928370" lvl="1" indent="-571500" algn="just">
              <a:buFont typeface="Arial" panose="020B0604020202020204" pitchFamily="34" charset="0"/>
              <a:buChar char="•"/>
            </a:pPr>
            <a:r>
              <a:rPr lang="en-US" sz="2000" dirty="0" smtClean="0">
                <a:latin typeface="Aparajita" pitchFamily="34" charset="0"/>
                <a:cs typeface="Aparajita" pitchFamily="34" charset="0"/>
              </a:rPr>
              <a:t>Mission: It is a statement for getting social legitimacy in favor of business. A mission is an organization’s purpose or reason for existence. It is given to the public not the employees so that society permits the organization to do business.</a:t>
            </a:r>
            <a:endParaRPr lang="en-US" sz="2000" dirty="0" smtClean="0">
              <a:latin typeface="Aparajita" pitchFamily="34" charset="0"/>
              <a:cs typeface="Aparajita" pitchFamily="34" charset="0"/>
            </a:endParaRPr>
          </a:p>
          <a:p>
            <a:pPr marL="928370" lvl="1" indent="-571500" algn="just">
              <a:buFont typeface="Arial" panose="020B0604020202020204" pitchFamily="34" charset="0"/>
              <a:buChar char="•"/>
            </a:pPr>
            <a:r>
              <a:rPr lang="en-US" sz="2000" dirty="0" smtClean="0">
                <a:latin typeface="Aparajita" pitchFamily="34" charset="0"/>
                <a:cs typeface="Aparajita" pitchFamily="34" charset="0"/>
              </a:rPr>
              <a:t>Goal: Destiny of an organization which is essentially a long term. A plan expressed in terms of result to be achieved is known as goal.</a:t>
            </a:r>
            <a:endParaRPr lang="en-US" sz="2000" dirty="0" smtClean="0">
              <a:latin typeface="Aparajita" pitchFamily="34" charset="0"/>
              <a:cs typeface="Aparajita" pitchFamily="34" charset="0"/>
            </a:endParaRPr>
          </a:p>
          <a:p>
            <a:pPr marL="928370" lvl="1" indent="-571500" algn="just">
              <a:buFont typeface="Arial" panose="020B0604020202020204" pitchFamily="34" charset="0"/>
              <a:buChar char="•"/>
            </a:pPr>
            <a:r>
              <a:rPr lang="en-US" sz="2000" dirty="0" smtClean="0">
                <a:latin typeface="Aparajita" pitchFamily="34" charset="0"/>
                <a:cs typeface="Aparajita" pitchFamily="34" charset="0"/>
              </a:rPr>
              <a:t>Strategy: Strategy is a comprehensive, integrated and united plan to achieve goals of an organization. The determination of the mission or purpose and basic long term objective of an enterprise, followed by the adoption of courses of action and allocation of resources necessary to achieve these aims.</a:t>
            </a:r>
            <a:endParaRPr lang="en-US" sz="2000" dirty="0" smtClean="0">
              <a:latin typeface="Aparajita" pitchFamily="34" charset="0"/>
              <a:cs typeface="Aparajita" pitchFamily="34" charset="0"/>
            </a:endParaRPr>
          </a:p>
        </p:txBody>
      </p:sp>
    </p:spTree>
  </p:cSld>
  <p:clrMapOvr>
    <a:masterClrMapping/>
  </p:clrMapOvr>
  <p:transition>
    <p:wheel spokes="2"/>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552688" cy="334962"/>
          </a:xfrm>
        </p:spPr>
        <p:txBody>
          <a:bodyPr>
            <a:normAutofit fontScale="90000"/>
          </a:bodyPr>
          <a:lstStyle/>
          <a:p>
            <a:endParaRPr lang="en-US" dirty="0"/>
          </a:p>
        </p:txBody>
      </p:sp>
      <p:sp>
        <p:nvSpPr>
          <p:cNvPr id="3" name="Content Placeholder 2"/>
          <p:cNvSpPr>
            <a:spLocks noGrp="1"/>
          </p:cNvSpPr>
          <p:nvPr>
            <p:ph idx="1"/>
          </p:nvPr>
        </p:nvSpPr>
        <p:spPr>
          <a:xfrm>
            <a:off x="304800" y="762000"/>
            <a:ext cx="8628888" cy="5638800"/>
          </a:xfrm>
        </p:spPr>
        <p:txBody>
          <a:bodyPr>
            <a:normAutofit/>
          </a:bodyPr>
          <a:lstStyle/>
          <a:p>
            <a:pPr algn="just">
              <a:buNone/>
            </a:pPr>
            <a:r>
              <a:rPr lang="en-US" sz="2400" dirty="0" smtClean="0">
                <a:latin typeface="Aparajita" pitchFamily="34" charset="0"/>
                <a:cs typeface="Aparajita" pitchFamily="34" charset="0"/>
              </a:rPr>
              <a:t>Operating plan: It is the tactical plan that is carried out to achieve operational goals. It is developed by middle and lower level managers. It has short time focus and relatively narrow in scope.</a:t>
            </a:r>
            <a:endParaRPr lang="en-US" sz="2400" dirty="0" smtClean="0">
              <a:latin typeface="Aparajita" pitchFamily="34" charset="0"/>
              <a:cs typeface="Aparajita" pitchFamily="34" charset="0"/>
            </a:endParaRPr>
          </a:p>
          <a:p>
            <a:pPr algn="just">
              <a:buNone/>
            </a:pPr>
            <a:r>
              <a:rPr lang="en-US" sz="2400" dirty="0" smtClean="0">
                <a:latin typeface="Aparajita" pitchFamily="34" charset="0"/>
                <a:cs typeface="Aparajita" pitchFamily="34" charset="0"/>
              </a:rPr>
              <a:t>Example: Marketing plan, production plan, Human resource Planning, Purchasing plan etc.</a:t>
            </a:r>
            <a:endParaRPr lang="en-US" sz="2400" dirty="0" smtClean="0">
              <a:latin typeface="Aparajita" pitchFamily="34" charset="0"/>
              <a:cs typeface="Aparajita" pitchFamily="34" charset="0"/>
            </a:endParaRPr>
          </a:p>
          <a:p>
            <a:pPr algn="just">
              <a:buNone/>
            </a:pPr>
            <a:endParaRPr lang="en-US" sz="2400" dirty="0" smtClean="0">
              <a:latin typeface="Aparajita" pitchFamily="34" charset="0"/>
              <a:cs typeface="Aparajita" pitchFamily="34" charset="0"/>
            </a:endParaRPr>
          </a:p>
          <a:p>
            <a:pPr algn="just">
              <a:buNone/>
            </a:pPr>
            <a:r>
              <a:rPr lang="en-US" sz="2400" b="1" dirty="0" smtClean="0">
                <a:solidFill>
                  <a:schemeClr val="tx2"/>
                </a:solidFill>
                <a:latin typeface="Aparajita" pitchFamily="34" charset="0"/>
                <a:cs typeface="Aparajita" pitchFamily="34" charset="0"/>
              </a:rPr>
              <a:t>Decision Making: </a:t>
            </a:r>
            <a:r>
              <a:rPr lang="en-US" sz="2400" dirty="0" smtClean="0">
                <a:solidFill>
                  <a:schemeClr val="tx2"/>
                </a:solidFill>
                <a:latin typeface="Aparajita" pitchFamily="34" charset="0"/>
                <a:cs typeface="Aparajita" pitchFamily="34" charset="0"/>
              </a:rPr>
              <a:t>D</a:t>
            </a:r>
            <a:r>
              <a:rPr lang="en-US" sz="2400" dirty="0" smtClean="0">
                <a:latin typeface="Aparajita" pitchFamily="34" charset="0"/>
                <a:cs typeface="Aparajita" pitchFamily="34" charset="0"/>
              </a:rPr>
              <a:t>ecision making is a process of choosing best alternative from among a set of alternatives. Decision may be of two types. One is called programmed or routine decision and another is called unprogrammed or  unfamiliar decision.</a:t>
            </a:r>
            <a:endParaRPr lang="en-US" sz="2400" dirty="0">
              <a:latin typeface="Aparajita" pitchFamily="34" charset="0"/>
              <a:cs typeface="Aparajita" pitchFamily="34" charset="0"/>
            </a:endParaRPr>
          </a:p>
        </p:txBody>
      </p:sp>
    </p:spTree>
  </p:cSld>
  <p:clrMapOvr>
    <a:masterClrMapping/>
  </p:clrMapOvr>
  <p:transition>
    <p:strips dir="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76488" cy="792162"/>
          </a:xfrm>
        </p:spPr>
        <p:txBody>
          <a:bodyPr>
            <a:normAutofit/>
          </a:bodyPr>
          <a:lstStyle/>
          <a:p>
            <a:r>
              <a:rPr lang="en-US" sz="4000" dirty="0" smtClean="0">
                <a:latin typeface="Aparajita" pitchFamily="34" charset="0"/>
                <a:cs typeface="Aparajita" pitchFamily="34" charset="0"/>
              </a:rPr>
              <a:t>Decision making process</a:t>
            </a:r>
            <a:endParaRPr lang="en-US" sz="4000" dirty="0">
              <a:latin typeface="Aparajita" pitchFamily="34" charset="0"/>
              <a:cs typeface="Aparajita" pitchFamily="34" charset="0"/>
            </a:endParaRPr>
          </a:p>
        </p:txBody>
      </p:sp>
      <p:sp>
        <p:nvSpPr>
          <p:cNvPr id="3" name="Content Placeholder 2"/>
          <p:cNvSpPr>
            <a:spLocks noGrp="1"/>
          </p:cNvSpPr>
          <p:nvPr>
            <p:ph idx="1"/>
          </p:nvPr>
        </p:nvSpPr>
        <p:spPr>
          <a:xfrm>
            <a:off x="381000" y="914400"/>
            <a:ext cx="8552688" cy="5638800"/>
          </a:xfrm>
        </p:spPr>
        <p:txBody>
          <a:bodyPr/>
          <a:lstStyle/>
          <a:p>
            <a:pPr algn="ctr">
              <a:buNone/>
            </a:pPr>
            <a:endParaRPr lang="en-US" dirty="0">
              <a:latin typeface="Aparajita" pitchFamily="34" charset="0"/>
              <a:cs typeface="Aparajita" pitchFamily="34" charset="0"/>
            </a:endParaRPr>
          </a:p>
        </p:txBody>
      </p:sp>
      <p:sp>
        <p:nvSpPr>
          <p:cNvPr id="11" name="Flowchart: Process 10"/>
          <p:cNvSpPr/>
          <p:nvPr/>
        </p:nvSpPr>
        <p:spPr>
          <a:xfrm>
            <a:off x="3352800" y="1066800"/>
            <a:ext cx="3505200" cy="6096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Defining problem</a:t>
            </a:r>
            <a:endParaRPr lang="en-US" dirty="0"/>
          </a:p>
        </p:txBody>
      </p:sp>
      <p:sp>
        <p:nvSpPr>
          <p:cNvPr id="12" name="Down Arrow 11"/>
          <p:cNvSpPr/>
          <p:nvPr/>
        </p:nvSpPr>
        <p:spPr>
          <a:xfrm>
            <a:off x="5105400" y="1600200"/>
            <a:ext cx="45719"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Process 12"/>
          <p:cNvSpPr/>
          <p:nvPr/>
        </p:nvSpPr>
        <p:spPr>
          <a:xfrm>
            <a:off x="3352800" y="2133600"/>
            <a:ext cx="3581400" cy="6858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Develop premises(situation/conditions)</a:t>
            </a:r>
            <a:endParaRPr lang="en-US" dirty="0"/>
          </a:p>
        </p:txBody>
      </p:sp>
      <p:sp>
        <p:nvSpPr>
          <p:cNvPr id="14" name="Down Arrow 13"/>
          <p:cNvSpPr/>
          <p:nvPr/>
        </p:nvSpPr>
        <p:spPr>
          <a:xfrm>
            <a:off x="5181600" y="2819400"/>
            <a:ext cx="45719"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Process 14"/>
          <p:cNvSpPr/>
          <p:nvPr/>
        </p:nvSpPr>
        <p:spPr>
          <a:xfrm>
            <a:off x="3352800" y="3200400"/>
            <a:ext cx="3657600" cy="6096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Identify alternative solutions</a:t>
            </a:r>
            <a:endParaRPr lang="en-US" dirty="0"/>
          </a:p>
        </p:txBody>
      </p:sp>
      <p:sp>
        <p:nvSpPr>
          <p:cNvPr id="16" name="Down Arrow 15"/>
          <p:cNvSpPr/>
          <p:nvPr/>
        </p:nvSpPr>
        <p:spPr>
          <a:xfrm>
            <a:off x="5181600" y="3810000"/>
            <a:ext cx="45719"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Process 16"/>
          <p:cNvSpPr/>
          <p:nvPr/>
        </p:nvSpPr>
        <p:spPr>
          <a:xfrm>
            <a:off x="3352800" y="4267200"/>
            <a:ext cx="3733800" cy="6858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Evaluate alternatives</a:t>
            </a:r>
            <a:endParaRPr lang="en-US" dirty="0"/>
          </a:p>
        </p:txBody>
      </p:sp>
      <p:sp>
        <p:nvSpPr>
          <p:cNvPr id="18" name="Down Arrow 17"/>
          <p:cNvSpPr/>
          <p:nvPr/>
        </p:nvSpPr>
        <p:spPr>
          <a:xfrm>
            <a:off x="5257800" y="5029200"/>
            <a:ext cx="762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Process 18"/>
          <p:cNvSpPr/>
          <p:nvPr/>
        </p:nvSpPr>
        <p:spPr>
          <a:xfrm>
            <a:off x="3429000" y="5410200"/>
            <a:ext cx="3733800" cy="6858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Choose the </a:t>
            </a:r>
            <a:r>
              <a:rPr lang="en-US" smtClean="0"/>
              <a:t>best alternatives</a:t>
            </a:r>
            <a:endParaRPr lang="en-US"/>
          </a:p>
        </p:txBody>
      </p:sp>
    </p:spTree>
  </p:cSld>
  <p:clrMapOvr>
    <a:masterClrMapping/>
  </p:clrMapOvr>
  <p:transition>
    <p:newsfla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639762"/>
          </a:xfrm>
        </p:spPr>
        <p:txBody>
          <a:bodyPr>
            <a:normAutofit fontScale="90000"/>
          </a:bodyPr>
          <a:lstStyle/>
          <a:p>
            <a:r>
              <a:rPr lang="en-US" sz="3200" dirty="0" smtClean="0">
                <a:latin typeface="Aparajita" pitchFamily="34" charset="0"/>
                <a:cs typeface="Aparajita" pitchFamily="34" charset="0"/>
              </a:rPr>
              <a:t>Factors for evaluating and choosing alternative solutions</a:t>
            </a:r>
            <a:endParaRPr lang="en-US" sz="3200" dirty="0">
              <a:latin typeface="Aparajita" pitchFamily="34" charset="0"/>
              <a:cs typeface="Aparajita" pitchFamily="34" charset="0"/>
            </a:endParaRPr>
          </a:p>
        </p:txBody>
      </p:sp>
      <p:sp>
        <p:nvSpPr>
          <p:cNvPr id="3" name="Content Placeholder 2"/>
          <p:cNvSpPr>
            <a:spLocks noGrp="1"/>
          </p:cNvSpPr>
          <p:nvPr>
            <p:ph idx="1"/>
          </p:nvPr>
        </p:nvSpPr>
        <p:spPr>
          <a:xfrm>
            <a:off x="533400" y="762000"/>
            <a:ext cx="8400288" cy="5715000"/>
          </a:xfrm>
        </p:spPr>
        <p:txBody>
          <a:bodyPr/>
          <a:lstStyle/>
          <a:p>
            <a:pPr>
              <a:buFont typeface="Arial" panose="020B0604020202020204" pitchFamily="34" charset="0"/>
              <a:buChar char="•"/>
            </a:pPr>
            <a:endParaRPr lang="en-US" sz="2400" dirty="0" smtClean="0">
              <a:latin typeface="Aparajita" pitchFamily="34" charset="0"/>
              <a:cs typeface="Aparajita" pitchFamily="34" charset="0"/>
            </a:endParaRPr>
          </a:p>
          <a:p>
            <a:pPr algn="ctr">
              <a:buFont typeface="Arial" panose="020B0604020202020204" pitchFamily="34" charset="0"/>
              <a:buChar char="•"/>
            </a:pPr>
            <a:r>
              <a:rPr lang="en-US" sz="2800" dirty="0" smtClean="0">
                <a:latin typeface="Aparajita" pitchFamily="34" charset="0"/>
                <a:cs typeface="Aparajita" pitchFamily="34" charset="0"/>
              </a:rPr>
              <a:t>Feasibility</a:t>
            </a:r>
            <a:endParaRPr lang="en-US" sz="2800" dirty="0" smtClean="0">
              <a:latin typeface="Aparajita" pitchFamily="34" charset="0"/>
              <a:cs typeface="Aparajita" pitchFamily="34" charset="0"/>
            </a:endParaRPr>
          </a:p>
          <a:p>
            <a:pPr algn="ctr">
              <a:buFont typeface="Arial" panose="020B0604020202020204" pitchFamily="34" charset="0"/>
              <a:buChar char="•"/>
            </a:pPr>
            <a:r>
              <a:rPr lang="en-US" sz="2800" dirty="0" smtClean="0">
                <a:latin typeface="Aparajita" pitchFamily="34" charset="0"/>
                <a:cs typeface="Aparajita" pitchFamily="34" charset="0"/>
              </a:rPr>
              <a:t>Quality</a:t>
            </a:r>
            <a:endParaRPr lang="en-US" sz="2800" dirty="0" smtClean="0">
              <a:latin typeface="Aparajita" pitchFamily="34" charset="0"/>
              <a:cs typeface="Aparajita" pitchFamily="34" charset="0"/>
            </a:endParaRPr>
          </a:p>
          <a:p>
            <a:pPr algn="ctr">
              <a:buFont typeface="Arial" panose="020B0604020202020204" pitchFamily="34" charset="0"/>
              <a:buChar char="•"/>
            </a:pPr>
            <a:r>
              <a:rPr lang="en-US" sz="2800" dirty="0" smtClean="0">
                <a:latin typeface="Aparajita" pitchFamily="34" charset="0"/>
                <a:cs typeface="Aparajita" pitchFamily="34" charset="0"/>
              </a:rPr>
              <a:t>Acceptability</a:t>
            </a:r>
            <a:endParaRPr lang="en-US" sz="2800" dirty="0" smtClean="0">
              <a:latin typeface="Aparajita" pitchFamily="34" charset="0"/>
              <a:cs typeface="Aparajita" pitchFamily="34" charset="0"/>
            </a:endParaRPr>
          </a:p>
          <a:p>
            <a:pPr algn="ctr">
              <a:buFont typeface="Arial" panose="020B0604020202020204" pitchFamily="34" charset="0"/>
              <a:buChar char="•"/>
            </a:pPr>
            <a:r>
              <a:rPr lang="en-US" sz="2800" dirty="0" smtClean="0">
                <a:latin typeface="Aparajita" pitchFamily="34" charset="0"/>
                <a:cs typeface="Aparajita" pitchFamily="34" charset="0"/>
              </a:rPr>
              <a:t>Cost</a:t>
            </a:r>
            <a:endParaRPr lang="en-US" sz="2800" dirty="0" smtClean="0">
              <a:latin typeface="Aparajita" pitchFamily="34" charset="0"/>
              <a:cs typeface="Aparajita" pitchFamily="34" charset="0"/>
            </a:endParaRPr>
          </a:p>
          <a:p>
            <a:pPr algn="ctr">
              <a:buFont typeface="Arial" panose="020B0604020202020204" pitchFamily="34" charset="0"/>
              <a:buChar char="•"/>
            </a:pPr>
            <a:r>
              <a:rPr lang="en-US" sz="2800" dirty="0" smtClean="0">
                <a:latin typeface="Aparajita" pitchFamily="34" charset="0"/>
                <a:cs typeface="Aparajita" pitchFamily="34" charset="0"/>
              </a:rPr>
              <a:t>Reversibility</a:t>
            </a:r>
            <a:endParaRPr lang="en-US" sz="2800" dirty="0" smtClean="0">
              <a:latin typeface="Aparajita" pitchFamily="34" charset="0"/>
              <a:cs typeface="Aparajita" pitchFamily="34" charset="0"/>
            </a:endParaRPr>
          </a:p>
          <a:p>
            <a:pPr algn="ctr">
              <a:buFont typeface="Arial" panose="020B0604020202020204" pitchFamily="34" charset="0"/>
              <a:buChar char="•"/>
            </a:pPr>
            <a:r>
              <a:rPr lang="en-US" sz="2800" dirty="0" smtClean="0">
                <a:latin typeface="Aparajita" pitchFamily="34" charset="0"/>
                <a:cs typeface="Aparajita" pitchFamily="34" charset="0"/>
              </a:rPr>
              <a:t>risk</a:t>
            </a:r>
            <a:endParaRPr lang="en-US" sz="2800" dirty="0" smtClean="0">
              <a:latin typeface="Aparajita" pitchFamily="34" charset="0"/>
              <a:cs typeface="Aparajita" pitchFamily="34" charset="0"/>
            </a:endParaRPr>
          </a:p>
          <a:p>
            <a:pPr algn="ctr">
              <a:buFont typeface="Arial" panose="020B0604020202020204" pitchFamily="34" charset="0"/>
              <a:buChar char="•"/>
            </a:pPr>
            <a:r>
              <a:rPr lang="en-US" sz="2800" dirty="0" smtClean="0">
                <a:latin typeface="Aparajita" pitchFamily="34" charset="0"/>
                <a:cs typeface="Aparajita" pitchFamily="34" charset="0"/>
              </a:rPr>
              <a:t>ethics</a:t>
            </a:r>
            <a:endParaRPr lang="en-US" sz="2800" dirty="0" smtClean="0">
              <a:latin typeface="Aparajita" pitchFamily="34" charset="0"/>
              <a:cs typeface="Aparajita" pitchFamily="34" charset="0"/>
            </a:endParaRPr>
          </a:p>
          <a:p>
            <a:pPr>
              <a:buFont typeface="Arial" panose="020B0604020202020204" pitchFamily="34" charset="0"/>
              <a:buChar char="•"/>
            </a:pPr>
            <a:endParaRPr lang="en-US" dirty="0">
              <a:latin typeface="Aparajita" pitchFamily="34" charset="0"/>
              <a:cs typeface="Aparajita" pitchFamily="34" charset="0"/>
            </a:endParaRPr>
          </a:p>
        </p:txBody>
      </p:sp>
    </p:spTree>
  </p:cSld>
  <p:clrMapOvr>
    <a:masterClrMapping/>
  </p:clrMapOvr>
  <p:transition>
    <p:wedg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552688" cy="715962"/>
          </a:xfrm>
        </p:spPr>
        <p:txBody>
          <a:bodyPr>
            <a:normAutofit fontScale="90000"/>
          </a:bodyPr>
          <a:lstStyle/>
          <a:p>
            <a:r>
              <a:rPr lang="en-US" sz="2800" dirty="0" smtClean="0">
                <a:latin typeface="Aparajita" pitchFamily="34" charset="0"/>
                <a:cs typeface="Aparajita" pitchFamily="34" charset="0"/>
              </a:rPr>
              <a:t>Definition of Management By Objective and its Process</a:t>
            </a:r>
            <a:endParaRPr lang="en-US" sz="2800" dirty="0">
              <a:latin typeface="Aparajita" pitchFamily="34" charset="0"/>
              <a:cs typeface="Aparajita" pitchFamily="34" charset="0"/>
            </a:endParaRPr>
          </a:p>
        </p:txBody>
      </p:sp>
      <p:sp>
        <p:nvSpPr>
          <p:cNvPr id="3" name="Content Placeholder 2"/>
          <p:cNvSpPr>
            <a:spLocks noGrp="1"/>
          </p:cNvSpPr>
          <p:nvPr>
            <p:ph idx="1"/>
          </p:nvPr>
        </p:nvSpPr>
        <p:spPr>
          <a:xfrm>
            <a:off x="381000" y="838200"/>
            <a:ext cx="8552688" cy="5791200"/>
          </a:xfrm>
        </p:spPr>
        <p:txBody>
          <a:bodyPr numCol="1">
            <a:noAutofit/>
          </a:bodyPr>
          <a:lstStyle/>
          <a:p>
            <a:pPr algn="just">
              <a:buNone/>
            </a:pPr>
            <a:r>
              <a:rPr lang="en-US" sz="2000" dirty="0" smtClean="0">
                <a:latin typeface="Aparajita" pitchFamily="34" charset="0"/>
                <a:cs typeface="Aparajita" pitchFamily="34" charset="0"/>
              </a:rPr>
              <a:t>Management by objective(MBO) is a process through which specific goals are set collaboratively for the organization as a whole and every unit and individual within it and that goals are used as a basis for planning, managing organizational activities and assessing and rewarding contributions.</a:t>
            </a:r>
            <a:endParaRPr lang="en-US" sz="2000" dirty="0" smtClean="0">
              <a:latin typeface="Aparajita" pitchFamily="34" charset="0"/>
              <a:cs typeface="Aparajita" pitchFamily="34" charset="0"/>
            </a:endParaRPr>
          </a:p>
          <a:p>
            <a:pPr algn="just">
              <a:buNone/>
            </a:pPr>
            <a:r>
              <a:rPr lang="en-US" sz="2000" dirty="0" smtClean="0">
                <a:latin typeface="Aparajita" pitchFamily="34" charset="0"/>
                <a:cs typeface="Aparajita" pitchFamily="34" charset="0"/>
              </a:rPr>
              <a:t>                                                                                           </a:t>
            </a:r>
            <a:r>
              <a:rPr lang="en-US" sz="2000" dirty="0" err="1" smtClean="0">
                <a:latin typeface="Aparajita" pitchFamily="34" charset="0"/>
                <a:cs typeface="Aparajita" pitchFamily="34" charset="0"/>
              </a:rPr>
              <a:t>Bartol</a:t>
            </a:r>
            <a:r>
              <a:rPr lang="en-US" sz="2000" dirty="0" smtClean="0">
                <a:latin typeface="Aparajita" pitchFamily="34" charset="0"/>
                <a:cs typeface="Aparajita" pitchFamily="34" charset="0"/>
              </a:rPr>
              <a:t> and Martin</a:t>
            </a:r>
            <a:endParaRPr lang="en-US" sz="2000" dirty="0" smtClean="0">
              <a:latin typeface="Aparajita" pitchFamily="34" charset="0"/>
              <a:cs typeface="Aparajita" pitchFamily="34" charset="0"/>
            </a:endParaRPr>
          </a:p>
          <a:p>
            <a:pPr algn="just">
              <a:buNone/>
            </a:pPr>
            <a:r>
              <a:rPr lang="en-US" sz="2000" dirty="0" smtClean="0">
                <a:latin typeface="Aparajita" pitchFamily="34" charset="0"/>
                <a:cs typeface="Aparajita" pitchFamily="34" charset="0"/>
              </a:rPr>
              <a:t>That means converting overall organizational objectives into specific objectives for organizational units and individual members. </a:t>
            </a:r>
            <a:endParaRPr lang="en-US" sz="2000" dirty="0" smtClean="0">
              <a:latin typeface="Aparajita" pitchFamily="34" charset="0"/>
              <a:cs typeface="Aparajita" pitchFamily="34" charset="0"/>
            </a:endParaRPr>
          </a:p>
          <a:p>
            <a:pPr algn="just">
              <a:buNone/>
            </a:pPr>
            <a:r>
              <a:rPr lang="en-US" sz="2000" dirty="0" smtClean="0">
                <a:latin typeface="Aparajita" pitchFamily="34" charset="0"/>
                <a:cs typeface="Aparajita" pitchFamily="34" charset="0"/>
              </a:rPr>
              <a:t>Steps in MBO process : Start MBO process( Chief executive, Board of directors make decision)</a:t>
            </a:r>
            <a:endParaRPr lang="en-US" sz="2000" dirty="0" smtClean="0">
              <a:latin typeface="Aparajita" pitchFamily="34" charset="0"/>
              <a:cs typeface="Aparajita" pitchFamily="34" charset="0"/>
            </a:endParaRPr>
          </a:p>
          <a:p>
            <a:pPr marL="539750" indent="-457200" algn="just">
              <a:buFont typeface="+mj-lt"/>
              <a:buAutoNum type="arabicPeriod"/>
            </a:pPr>
            <a:r>
              <a:rPr lang="en-US" sz="2000" dirty="0" smtClean="0">
                <a:latin typeface="Aparajita" pitchFamily="34" charset="0"/>
                <a:cs typeface="Aparajita" pitchFamily="34" charset="0"/>
              </a:rPr>
              <a:t>Establishing organizational goals and plans</a:t>
            </a:r>
            <a:endParaRPr lang="en-US" sz="2000" dirty="0" smtClean="0">
              <a:latin typeface="Aparajita" pitchFamily="34" charset="0"/>
              <a:cs typeface="Aparajita" pitchFamily="34" charset="0"/>
            </a:endParaRPr>
          </a:p>
          <a:p>
            <a:pPr marL="539750" indent="-457200" algn="just">
              <a:buFont typeface="+mj-lt"/>
              <a:buAutoNum type="arabicPeriod"/>
            </a:pPr>
            <a:r>
              <a:rPr lang="en-US" sz="2000" dirty="0" smtClean="0">
                <a:latin typeface="Aparajita" pitchFamily="34" charset="0"/>
                <a:cs typeface="Aparajita" pitchFamily="34" charset="0"/>
              </a:rPr>
              <a:t>Collaborative goal setting and planning( for units, dept, individual)</a:t>
            </a:r>
            <a:endParaRPr lang="en-US" sz="2000" dirty="0" smtClean="0">
              <a:latin typeface="Aparajita" pitchFamily="34" charset="0"/>
              <a:cs typeface="Aparajita" pitchFamily="34" charset="0"/>
            </a:endParaRPr>
          </a:p>
          <a:p>
            <a:pPr marL="539750" indent="-457200" algn="just">
              <a:buFont typeface="+mj-lt"/>
              <a:buAutoNum type="arabicPeriod"/>
            </a:pPr>
            <a:r>
              <a:rPr lang="en-US" sz="2000" dirty="0" smtClean="0">
                <a:latin typeface="Aparajita" pitchFamily="34" charset="0"/>
                <a:cs typeface="Aparajita" pitchFamily="34" charset="0"/>
              </a:rPr>
              <a:t>Communicating goals and plans to execute( meeting, counseling, resourcing)</a:t>
            </a:r>
            <a:endParaRPr lang="en-US" sz="2000" dirty="0" smtClean="0">
              <a:latin typeface="Aparajita" pitchFamily="34" charset="0"/>
              <a:cs typeface="Aparajita" pitchFamily="34" charset="0"/>
            </a:endParaRPr>
          </a:p>
          <a:p>
            <a:pPr marL="539750" indent="-457200" algn="just">
              <a:buFont typeface="+mj-lt"/>
              <a:buAutoNum type="arabicPeriod"/>
            </a:pPr>
            <a:r>
              <a:rPr lang="en-US" sz="2000" dirty="0" smtClean="0">
                <a:latin typeface="Aparajita" pitchFamily="34" charset="0"/>
                <a:cs typeface="Aparajita" pitchFamily="34" charset="0"/>
              </a:rPr>
              <a:t>Periodical review</a:t>
            </a:r>
            <a:endParaRPr lang="en-US" sz="2000" dirty="0" smtClean="0">
              <a:latin typeface="Aparajita" pitchFamily="34" charset="0"/>
              <a:cs typeface="Aparajita" pitchFamily="34" charset="0"/>
            </a:endParaRPr>
          </a:p>
          <a:p>
            <a:pPr marL="539750" indent="-457200" algn="just">
              <a:buFont typeface="+mj-lt"/>
              <a:buAutoNum type="arabicPeriod"/>
            </a:pPr>
            <a:r>
              <a:rPr lang="en-US" sz="2000" dirty="0" smtClean="0">
                <a:latin typeface="Aparajita" pitchFamily="34" charset="0"/>
                <a:cs typeface="Aparajita" pitchFamily="34" charset="0"/>
              </a:rPr>
              <a:t>Evaluation &amp;  6. Giving feedback to top authority</a:t>
            </a:r>
            <a:endParaRPr lang="en-US" sz="2000" dirty="0">
              <a:latin typeface="Aparajita" pitchFamily="34" charset="0"/>
              <a:cs typeface="Aparajita" pitchFamily="34" charset="0"/>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Aparajita" pitchFamily="34" charset="0"/>
                <a:cs typeface="Aparajita" pitchFamily="34" charset="0"/>
              </a:rPr>
              <a:t>Elements/characteristic of MBO </a:t>
            </a:r>
            <a:endParaRPr lang="en-US" sz="4000" dirty="0">
              <a:latin typeface="Aparajita" pitchFamily="34" charset="0"/>
              <a:cs typeface="Aparajita" pitchFamily="34" charset="0"/>
            </a:endParaRPr>
          </a:p>
        </p:txBody>
      </p:sp>
      <p:sp>
        <p:nvSpPr>
          <p:cNvPr id="3" name="Content Placeholder 2"/>
          <p:cNvSpPr>
            <a:spLocks noGrp="1"/>
          </p:cNvSpPr>
          <p:nvPr>
            <p:ph idx="1"/>
          </p:nvPr>
        </p:nvSpPr>
        <p:spPr>
          <a:xfrm>
            <a:off x="228600" y="1219200"/>
            <a:ext cx="8705088" cy="5029200"/>
          </a:xfrm>
        </p:spPr>
        <p:txBody>
          <a:bodyPr>
            <a:normAutofit/>
          </a:bodyPr>
          <a:lstStyle/>
          <a:p>
            <a:pPr algn="just">
              <a:buFont typeface="Courier New" panose="02070309020205020404" pitchFamily="49" charset="0"/>
              <a:buChar char="o"/>
            </a:pPr>
            <a:r>
              <a:rPr lang="en-US" sz="2400" dirty="0" smtClean="0">
                <a:latin typeface="Aparajita" pitchFamily="34" charset="0"/>
                <a:cs typeface="Aparajita" pitchFamily="34" charset="0"/>
              </a:rPr>
              <a:t>Top level commitment to MBO</a:t>
            </a:r>
            <a:endParaRPr lang="en-US" sz="2400" dirty="0" smtClean="0">
              <a:latin typeface="Aparajita" pitchFamily="34" charset="0"/>
              <a:cs typeface="Aparajita" pitchFamily="34" charset="0"/>
            </a:endParaRPr>
          </a:p>
          <a:p>
            <a:pPr algn="just">
              <a:buFont typeface="Courier New" panose="02070309020205020404" pitchFamily="49" charset="0"/>
              <a:buChar char="o"/>
            </a:pPr>
            <a:r>
              <a:rPr lang="en-US" sz="2400" dirty="0" smtClean="0">
                <a:latin typeface="Aparajita" pitchFamily="34" charset="0"/>
                <a:cs typeface="Aparajita" pitchFamily="34" charset="0"/>
              </a:rPr>
              <a:t>Participation of all(divisional heads, and all units)</a:t>
            </a:r>
            <a:endParaRPr lang="en-US" sz="2400" dirty="0" smtClean="0">
              <a:latin typeface="Aparajita" pitchFamily="34" charset="0"/>
              <a:cs typeface="Aparajita" pitchFamily="34" charset="0"/>
            </a:endParaRPr>
          </a:p>
          <a:p>
            <a:pPr algn="just">
              <a:buFont typeface="Courier New" panose="02070309020205020404" pitchFamily="49" charset="0"/>
              <a:buChar char="o"/>
            </a:pPr>
            <a:r>
              <a:rPr lang="en-US" sz="2400" dirty="0" smtClean="0">
                <a:latin typeface="Aparajita" pitchFamily="34" charset="0"/>
                <a:cs typeface="Aparajita" pitchFamily="34" charset="0"/>
              </a:rPr>
              <a:t>Top and individual level goal setting</a:t>
            </a:r>
            <a:endParaRPr lang="en-US" sz="2400" dirty="0" smtClean="0">
              <a:latin typeface="Aparajita" pitchFamily="34" charset="0"/>
              <a:cs typeface="Aparajita" pitchFamily="34" charset="0"/>
            </a:endParaRPr>
          </a:p>
          <a:p>
            <a:pPr algn="just">
              <a:buFont typeface="Courier New" panose="02070309020205020404" pitchFamily="49" charset="0"/>
              <a:buChar char="o"/>
            </a:pPr>
            <a:r>
              <a:rPr lang="en-US" sz="2400" dirty="0" smtClean="0">
                <a:latin typeface="Aparajita" pitchFamily="34" charset="0"/>
                <a:cs typeface="Aparajita" pitchFamily="34" charset="0"/>
              </a:rPr>
              <a:t>Autonomy of implementing units( direction but no interference)</a:t>
            </a:r>
            <a:endParaRPr lang="en-US" sz="2400" dirty="0" smtClean="0">
              <a:latin typeface="Aparajita" pitchFamily="34" charset="0"/>
              <a:cs typeface="Aparajita" pitchFamily="34" charset="0"/>
            </a:endParaRPr>
          </a:p>
          <a:p>
            <a:pPr algn="just">
              <a:buFont typeface="Courier New" panose="02070309020205020404" pitchFamily="49" charset="0"/>
              <a:buChar char="o"/>
            </a:pPr>
            <a:r>
              <a:rPr lang="en-US" sz="2400" dirty="0" smtClean="0">
                <a:latin typeface="Aparajita" pitchFamily="34" charset="0"/>
                <a:cs typeface="Aparajita" pitchFamily="34" charset="0"/>
              </a:rPr>
              <a:t>Systems approach(assuming that organization is a set of interdependent and interrelated subsystems functioning as a whole).</a:t>
            </a:r>
            <a:endParaRPr lang="en-US" sz="2400" dirty="0" smtClean="0">
              <a:latin typeface="Aparajita" pitchFamily="34" charset="0"/>
              <a:cs typeface="Aparajita" pitchFamily="34" charset="0"/>
            </a:endParaRPr>
          </a:p>
          <a:p>
            <a:pPr algn="just">
              <a:buFont typeface="Courier New" panose="02070309020205020404" pitchFamily="49" charset="0"/>
              <a:buChar char="o"/>
            </a:pPr>
            <a:r>
              <a:rPr lang="en-US" sz="2400" dirty="0" smtClean="0">
                <a:latin typeface="Aparajita" pitchFamily="34" charset="0"/>
                <a:cs typeface="Aparajita" pitchFamily="34" charset="0"/>
              </a:rPr>
              <a:t>Periodical performance review.</a:t>
            </a:r>
            <a:endParaRPr lang="en-US" sz="2400" dirty="0">
              <a:latin typeface="Aparajita" pitchFamily="34" charset="0"/>
              <a:cs typeface="Aparajita" pitchFamily="34" charset="0"/>
            </a:endParaRPr>
          </a:p>
        </p:txBody>
      </p:sp>
    </p:spTree>
  </p:cSld>
  <p:clrMapOvr>
    <a:masterClrMapping/>
  </p:clrMapOvr>
  <p:transition>
    <p:newsflash/>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5336</Words>
  <Application>WPS Presentation</Application>
  <PresentationFormat>On-screen Show (4:3)</PresentationFormat>
  <Paragraphs>94</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Aparajita</vt:lpstr>
      <vt:lpstr>Nirmala UI</vt:lpstr>
      <vt:lpstr>Courier New</vt:lpstr>
      <vt:lpstr>Calibri Light</vt:lpstr>
      <vt:lpstr>Calibri</vt:lpstr>
      <vt:lpstr>Microsoft YaHei</vt:lpstr>
      <vt:lpstr>Arial Unicode MS</vt:lpstr>
      <vt:lpstr>Office Theme</vt:lpstr>
      <vt:lpstr>Planning &amp; Decision Making</vt:lpstr>
      <vt:lpstr>1. On the basis of time</vt:lpstr>
      <vt:lpstr>2. On the basis of durability</vt:lpstr>
      <vt:lpstr>PowerPoint 演示文稿</vt:lpstr>
      <vt:lpstr>3. On the basis of significance</vt:lpstr>
      <vt:lpstr>PowerPoint 演示文稿</vt:lpstr>
      <vt:lpstr>Decision making process</vt:lpstr>
      <vt:lpstr>Factors for evaluating and choosing alternative solutions</vt:lpstr>
      <vt:lpstr>Definition of Management By Objective and its Process</vt:lpstr>
      <vt:lpstr>Elements/characteristic of MBO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dc:title>
  <dc:creator>acer</dc:creator>
  <cp:lastModifiedBy>user</cp:lastModifiedBy>
  <cp:revision>49</cp:revision>
  <dcterms:created xsi:type="dcterms:W3CDTF">2018-02-05T13:48:00Z</dcterms:created>
  <dcterms:modified xsi:type="dcterms:W3CDTF">2026-01-01T04:16:38Z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A9381DC408B64421B8DB3F6DA853E2F9_12</vt:lpwstr>
  </property>
  <property fmtid="{D5CDD505-2E9C-101B-9397-08002B2CF9AE}" pid="3" name="KSOProductBuildVer">
    <vt:lpwstr>1033-12.2.0.23196</vt:lpwstr>
  </property>
</Properties>
</file>