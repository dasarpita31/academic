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9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4" r:id="rId19"/>
    <p:sldId id="325" r:id="rId20"/>
    <p:sldId id="326" r:id="rId21"/>
    <p:sldId id="327" r:id="rId22"/>
    <p:sldId id="328" r:id="rId23"/>
    <p:sldId id="329" r:id="rId24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02" autoAdjust="0"/>
    <p:restoredTop sz="94660"/>
  </p:normalViewPr>
  <p:slideViewPr>
    <p:cSldViewPr>
      <p:cViewPr varScale="1">
        <p:scale>
          <a:sx n="88" d="100"/>
          <a:sy n="88" d="100"/>
        </p:scale>
        <p:origin x="1819" y="2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7877D1-D2AE-4155-9CCB-57EE6000A861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38616A-723F-4FA1-8D33-0E0B85814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264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574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A6C74-E0AE-87E9-FC58-2419AC4C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329938-F473-F6EC-E073-3D085570C8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866310-9641-1B23-9B96-DB33E2B75D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1A930E-14C9-68F3-A7B7-F210E8F1D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8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F05D3-DB42-F75E-6991-5C04970F3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E458A2-8BE6-847C-0632-6C0B70626F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0AF876-B862-959C-CF5D-79FD336F9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6E1BF3-ABBD-0CB3-AF71-5280615DB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583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16880-2A2B-3C63-B7FE-74B5B316D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1843B9-659E-638F-709E-6ECE8182C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AC5BC-D077-D004-BF2D-17B8AB70F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CB0CF-139D-8132-B0D0-88C4C3EB5F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782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AD143-E386-F966-CF9A-2D9F67548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949F32-4D72-E352-4ED8-89FC259AC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DFDFC-F51C-6750-8867-042CFB82B9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E9B22-59DA-3C43-7754-D6DBF40B09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06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9D4C08-7D27-F872-BBA8-3DCCC7951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D8474-1516-4879-A031-5EAFA20D9D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C6827-363F-0B07-2DFD-E1871C977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6EF1B-C626-F33E-5EC5-8BBD368BE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9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86E9-5FFA-7198-27F0-488F7CEF2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308636-3AFD-6EB6-6DE7-D6650A47E6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290F0-8609-0E74-A618-2F1049C11C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FE62A-E1A8-EC76-3569-EE0AAB0ECA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019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DABC0-E814-0C71-6878-67AF79B8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0895B0-D0CB-ABD1-D66F-AEA0A3176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B18987-5F46-D3BA-E3A4-A75BFDE1DF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D72BA-D242-C4FA-5938-B484FFE71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254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330C6-0965-85EA-09A9-668C7B34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586D3-DC9C-A526-5C97-6386AC156A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5841D-92A6-21AB-373B-54A94D8303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EFE13F-1770-5948-11CD-33D3A5BDD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860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BAA7B-B4BC-943C-5ACC-C94296086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13C812-CD2D-CE0C-6C18-9DF398893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8D434D-6EA2-18CE-968E-42CEA803C6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E50CA-79F3-9D39-5506-05D00D399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135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B765D-B9EA-FF62-85D3-B8A06FE5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ECA862-D395-FCDC-93E5-14D13F49A9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2C0397-0D03-FEF5-0152-91C1556234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9A6BB-224C-A3CB-6B0C-EC2663C5DE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5901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E84A2-68AB-E78E-A876-5DD569745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94680-6345-21D3-5B89-C9E18A703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477F6-2DC3-28FF-6CB8-01F8F1605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EAF05-0CAB-4C35-888C-D95946442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159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FB889-F41B-3D05-0ABF-D84F4354C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89AAF5-F62F-D487-BE66-F91E33AB07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EFE8D1-B448-3324-6DB8-71F68D7DAE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8759B-4770-34E6-750E-A77721A16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980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E6B2C-AA28-D334-B052-DD8A3E735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37D05-0084-F001-3D66-14D96B0E0B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63A3D2-DAC4-ED75-4D06-3BF188859B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78426-2F64-726E-8378-13478083AE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415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C2C51-E9AA-6BFD-1190-BD59C03B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100D3-216D-BB96-1E41-ACE495F28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3A1858-48AB-3FE0-033E-8AF09BF4E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F596AB-783A-6A59-8B76-372850424A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1690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36B5-E4E8-B1FD-E9E3-0FFAC1A42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4C1CE9-CDFC-295E-F156-5157D386E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9D8D69-7B7E-8A03-76F6-C4BE9D04C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38993-32BC-0A7A-2B82-F09226A1DD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6829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EA68B-92A1-4480-8123-CE0D2E51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9BF722-1CEB-9DA1-6A02-04AE5E3603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568A1C-3253-69BD-98A3-CCA1CC0633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BB8CC2-4E68-70C5-5C09-C1BB9DBF78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034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8ACE2-5BCC-0844-FFD4-82C628BF0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2BB478-BD96-E7DB-28BA-26FF446F21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5D3DC0-35C1-09FB-3052-3FAA99A9DD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79FB5E-BB48-C16A-59DC-68E3B4F18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59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76C33-C613-ACF7-1D7C-B1746E45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502A3-6486-2D35-9F0F-0E80F033B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119E1-7832-9795-DBAA-B89FB8F78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6942E2-DD32-41C4-3933-064A0C814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38616A-723F-4FA1-8D33-0E0B85814B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81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07541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351915" cy="6858000"/>
          </a:xfrm>
          <a:custGeom>
            <a:avLst/>
            <a:gdLst/>
            <a:ahLst/>
            <a:cxnLst/>
            <a:rect l="l" t="t" r="r" b="b"/>
            <a:pathLst>
              <a:path w="1351915" h="6858000">
                <a:moveTo>
                  <a:pt x="12192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" y="6858000"/>
                </a:lnTo>
                <a:lnTo>
                  <a:pt x="1219200" y="0"/>
                </a:lnTo>
                <a:close/>
              </a:path>
              <a:path w="1351915" h="6858000">
                <a:moveTo>
                  <a:pt x="1351788" y="0"/>
                </a:moveTo>
                <a:lnTo>
                  <a:pt x="1284732" y="0"/>
                </a:lnTo>
                <a:lnTo>
                  <a:pt x="1284732" y="6858000"/>
                </a:lnTo>
                <a:lnTo>
                  <a:pt x="1351788" y="6858000"/>
                </a:lnTo>
                <a:lnTo>
                  <a:pt x="1351788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19200" y="0"/>
            <a:ext cx="66040" cy="6849109"/>
          </a:xfrm>
          <a:custGeom>
            <a:avLst/>
            <a:gdLst/>
            <a:ahLst/>
            <a:cxnLst/>
            <a:rect l="l" t="t" r="r" b="b"/>
            <a:pathLst>
              <a:path w="66040" h="6849109">
                <a:moveTo>
                  <a:pt x="0" y="6848855"/>
                </a:moveTo>
                <a:lnTo>
                  <a:pt x="65531" y="6848855"/>
                </a:lnTo>
                <a:lnTo>
                  <a:pt x="65531" y="0"/>
                </a:lnTo>
                <a:lnTo>
                  <a:pt x="0" y="0"/>
                </a:lnTo>
                <a:lnTo>
                  <a:pt x="0" y="6848855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41731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35178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54990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48285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68097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61696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810511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748027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3" y="0"/>
                </a:moveTo>
                <a:lnTo>
                  <a:pt x="0" y="0"/>
                </a:lnTo>
                <a:lnTo>
                  <a:pt x="0" y="6858000"/>
                </a:lnTo>
                <a:lnTo>
                  <a:pt x="62483" y="6858000"/>
                </a:lnTo>
                <a:lnTo>
                  <a:pt x="62483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1944623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87909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207721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201167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22098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2142744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2340864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22753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247345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240944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2602992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253898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273557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80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267157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286969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280416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bg object 43"/>
          <p:cNvSpPr/>
          <p:nvPr/>
        </p:nvSpPr>
        <p:spPr>
          <a:xfrm>
            <a:off x="300227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bg object 44"/>
          <p:cNvSpPr/>
          <p:nvPr/>
        </p:nvSpPr>
        <p:spPr>
          <a:xfrm>
            <a:off x="2935223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6" y="0"/>
                </a:moveTo>
                <a:lnTo>
                  <a:pt x="0" y="0"/>
                </a:lnTo>
                <a:lnTo>
                  <a:pt x="0" y="6858000"/>
                </a:lnTo>
                <a:lnTo>
                  <a:pt x="67056" y="6858000"/>
                </a:lnTo>
                <a:lnTo>
                  <a:pt x="67056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bg object 45"/>
          <p:cNvSpPr/>
          <p:nvPr/>
        </p:nvSpPr>
        <p:spPr>
          <a:xfrm>
            <a:off x="3133344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bg object 46"/>
          <p:cNvSpPr/>
          <p:nvPr/>
        </p:nvSpPr>
        <p:spPr>
          <a:xfrm>
            <a:off x="306781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bg object 47"/>
          <p:cNvSpPr/>
          <p:nvPr/>
        </p:nvSpPr>
        <p:spPr>
          <a:xfrm>
            <a:off x="32659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bg object 48"/>
          <p:cNvSpPr/>
          <p:nvPr/>
        </p:nvSpPr>
        <p:spPr>
          <a:xfrm>
            <a:off x="32004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bg object 49"/>
          <p:cNvSpPr/>
          <p:nvPr/>
        </p:nvSpPr>
        <p:spPr>
          <a:xfrm>
            <a:off x="3395471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bg object 50"/>
          <p:cNvSpPr/>
          <p:nvPr/>
        </p:nvSpPr>
        <p:spPr>
          <a:xfrm>
            <a:off x="333146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bg object 51"/>
          <p:cNvSpPr/>
          <p:nvPr/>
        </p:nvSpPr>
        <p:spPr>
          <a:xfrm>
            <a:off x="352805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bg object 52"/>
          <p:cNvSpPr/>
          <p:nvPr/>
        </p:nvSpPr>
        <p:spPr>
          <a:xfrm>
            <a:off x="346405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bg object 53"/>
          <p:cNvSpPr/>
          <p:nvPr/>
        </p:nvSpPr>
        <p:spPr>
          <a:xfrm>
            <a:off x="366217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bg object 54"/>
          <p:cNvSpPr/>
          <p:nvPr/>
        </p:nvSpPr>
        <p:spPr>
          <a:xfrm>
            <a:off x="359511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bg object 55"/>
          <p:cNvSpPr/>
          <p:nvPr/>
        </p:nvSpPr>
        <p:spPr>
          <a:xfrm>
            <a:off x="379323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bg object 56"/>
          <p:cNvSpPr/>
          <p:nvPr/>
        </p:nvSpPr>
        <p:spPr>
          <a:xfrm>
            <a:off x="372770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bg object 57"/>
          <p:cNvSpPr/>
          <p:nvPr/>
        </p:nvSpPr>
        <p:spPr>
          <a:xfrm>
            <a:off x="392582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bg object 58"/>
          <p:cNvSpPr/>
          <p:nvPr/>
        </p:nvSpPr>
        <p:spPr>
          <a:xfrm>
            <a:off x="3860291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bg object 59"/>
          <p:cNvSpPr/>
          <p:nvPr/>
        </p:nvSpPr>
        <p:spPr>
          <a:xfrm>
            <a:off x="405384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4" y="6858000"/>
                </a:lnTo>
                <a:lnTo>
                  <a:pt x="70104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bg object 60"/>
          <p:cNvSpPr/>
          <p:nvPr/>
        </p:nvSpPr>
        <p:spPr>
          <a:xfrm>
            <a:off x="399135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bg object 61"/>
          <p:cNvSpPr/>
          <p:nvPr/>
        </p:nvSpPr>
        <p:spPr>
          <a:xfrm>
            <a:off x="4187952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bg object 62"/>
          <p:cNvSpPr/>
          <p:nvPr/>
        </p:nvSpPr>
        <p:spPr>
          <a:xfrm>
            <a:off x="4123944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bg object 63"/>
          <p:cNvSpPr/>
          <p:nvPr/>
        </p:nvSpPr>
        <p:spPr>
          <a:xfrm>
            <a:off x="43220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bg object 64"/>
          <p:cNvSpPr/>
          <p:nvPr/>
        </p:nvSpPr>
        <p:spPr>
          <a:xfrm>
            <a:off x="42565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bg object 65"/>
          <p:cNvSpPr/>
          <p:nvPr/>
        </p:nvSpPr>
        <p:spPr>
          <a:xfrm>
            <a:off x="445465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bg object 66"/>
          <p:cNvSpPr/>
          <p:nvPr/>
        </p:nvSpPr>
        <p:spPr>
          <a:xfrm>
            <a:off x="438759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bg object 67"/>
          <p:cNvSpPr/>
          <p:nvPr/>
        </p:nvSpPr>
        <p:spPr>
          <a:xfrm>
            <a:off x="458571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bg object 68"/>
          <p:cNvSpPr/>
          <p:nvPr/>
        </p:nvSpPr>
        <p:spPr>
          <a:xfrm>
            <a:off x="452018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bg object 69"/>
          <p:cNvSpPr/>
          <p:nvPr/>
        </p:nvSpPr>
        <p:spPr>
          <a:xfrm>
            <a:off x="4712208" y="0"/>
            <a:ext cx="71755" cy="6858000"/>
          </a:xfrm>
          <a:custGeom>
            <a:avLst/>
            <a:gdLst/>
            <a:ahLst/>
            <a:cxnLst/>
            <a:rect l="l" t="t" r="r" b="b"/>
            <a:pathLst>
              <a:path w="71754" h="6858000">
                <a:moveTo>
                  <a:pt x="0" y="6858000"/>
                </a:moveTo>
                <a:lnTo>
                  <a:pt x="71627" y="6858000"/>
                </a:lnTo>
                <a:lnTo>
                  <a:pt x="7162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bg object 70"/>
          <p:cNvSpPr/>
          <p:nvPr/>
        </p:nvSpPr>
        <p:spPr>
          <a:xfrm>
            <a:off x="4651247" y="0"/>
            <a:ext cx="60960" cy="6858000"/>
          </a:xfrm>
          <a:custGeom>
            <a:avLst/>
            <a:gdLst/>
            <a:ahLst/>
            <a:cxnLst/>
            <a:rect l="l" t="t" r="r" b="b"/>
            <a:pathLst>
              <a:path w="60960" h="6858000">
                <a:moveTo>
                  <a:pt x="60960" y="0"/>
                </a:moveTo>
                <a:lnTo>
                  <a:pt x="0" y="0"/>
                </a:lnTo>
                <a:lnTo>
                  <a:pt x="0" y="6858000"/>
                </a:lnTo>
                <a:lnTo>
                  <a:pt x="60960" y="6858000"/>
                </a:lnTo>
                <a:lnTo>
                  <a:pt x="6096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bg object 71"/>
          <p:cNvSpPr/>
          <p:nvPr/>
        </p:nvSpPr>
        <p:spPr>
          <a:xfrm>
            <a:off x="484632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bg object 72"/>
          <p:cNvSpPr/>
          <p:nvPr/>
        </p:nvSpPr>
        <p:spPr>
          <a:xfrm>
            <a:off x="478383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bg object 73"/>
          <p:cNvSpPr/>
          <p:nvPr/>
        </p:nvSpPr>
        <p:spPr>
          <a:xfrm>
            <a:off x="498043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bg object 74"/>
          <p:cNvSpPr/>
          <p:nvPr/>
        </p:nvSpPr>
        <p:spPr>
          <a:xfrm>
            <a:off x="491642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bg object 75"/>
          <p:cNvSpPr/>
          <p:nvPr/>
        </p:nvSpPr>
        <p:spPr>
          <a:xfrm>
            <a:off x="511454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bg object 76"/>
          <p:cNvSpPr/>
          <p:nvPr/>
        </p:nvSpPr>
        <p:spPr>
          <a:xfrm>
            <a:off x="504748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bg object 77"/>
          <p:cNvSpPr/>
          <p:nvPr/>
        </p:nvSpPr>
        <p:spPr>
          <a:xfrm>
            <a:off x="524560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bg object 78"/>
          <p:cNvSpPr/>
          <p:nvPr/>
        </p:nvSpPr>
        <p:spPr>
          <a:xfrm>
            <a:off x="5180076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bg object 79"/>
          <p:cNvSpPr/>
          <p:nvPr/>
        </p:nvSpPr>
        <p:spPr>
          <a:xfrm>
            <a:off x="5378196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0" y="6858000"/>
                </a:moveTo>
                <a:lnTo>
                  <a:pt x="64007" y="6858000"/>
                </a:lnTo>
                <a:lnTo>
                  <a:pt x="6400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bg object 80"/>
          <p:cNvSpPr/>
          <p:nvPr/>
        </p:nvSpPr>
        <p:spPr>
          <a:xfrm>
            <a:off x="53126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bg object 81"/>
          <p:cNvSpPr/>
          <p:nvPr/>
        </p:nvSpPr>
        <p:spPr>
          <a:xfrm>
            <a:off x="5504688" y="0"/>
            <a:ext cx="71755" cy="6858000"/>
          </a:xfrm>
          <a:custGeom>
            <a:avLst/>
            <a:gdLst/>
            <a:ahLst/>
            <a:cxnLst/>
            <a:rect l="l" t="t" r="r" b="b"/>
            <a:pathLst>
              <a:path w="71754" h="6858000">
                <a:moveTo>
                  <a:pt x="0" y="6858000"/>
                </a:moveTo>
                <a:lnTo>
                  <a:pt x="71627" y="6858000"/>
                </a:lnTo>
                <a:lnTo>
                  <a:pt x="71627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bg object 82"/>
          <p:cNvSpPr/>
          <p:nvPr/>
        </p:nvSpPr>
        <p:spPr>
          <a:xfrm>
            <a:off x="5442203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bg object 83"/>
          <p:cNvSpPr/>
          <p:nvPr/>
        </p:nvSpPr>
        <p:spPr>
          <a:xfrm>
            <a:off x="5638800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5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bg object 84"/>
          <p:cNvSpPr/>
          <p:nvPr/>
        </p:nvSpPr>
        <p:spPr>
          <a:xfrm>
            <a:off x="5576315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bg object 85"/>
          <p:cNvSpPr/>
          <p:nvPr/>
        </p:nvSpPr>
        <p:spPr>
          <a:xfrm>
            <a:off x="577291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bg object 86"/>
          <p:cNvSpPr/>
          <p:nvPr/>
        </p:nvSpPr>
        <p:spPr>
          <a:xfrm>
            <a:off x="5708903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5" h="6858000">
                <a:moveTo>
                  <a:pt x="64008" y="0"/>
                </a:moveTo>
                <a:lnTo>
                  <a:pt x="0" y="0"/>
                </a:lnTo>
                <a:lnTo>
                  <a:pt x="0" y="6858000"/>
                </a:lnTo>
                <a:lnTo>
                  <a:pt x="64008" y="6858000"/>
                </a:lnTo>
                <a:lnTo>
                  <a:pt x="64008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bg object 87"/>
          <p:cNvSpPr/>
          <p:nvPr/>
        </p:nvSpPr>
        <p:spPr>
          <a:xfrm>
            <a:off x="5907023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bg object 88"/>
          <p:cNvSpPr/>
          <p:nvPr/>
        </p:nvSpPr>
        <p:spPr>
          <a:xfrm>
            <a:off x="5839967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bg object 89"/>
          <p:cNvSpPr/>
          <p:nvPr/>
        </p:nvSpPr>
        <p:spPr>
          <a:xfrm>
            <a:off x="6038088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bg object 90"/>
          <p:cNvSpPr/>
          <p:nvPr/>
        </p:nvSpPr>
        <p:spPr>
          <a:xfrm>
            <a:off x="597255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bg object 91"/>
          <p:cNvSpPr/>
          <p:nvPr/>
        </p:nvSpPr>
        <p:spPr>
          <a:xfrm>
            <a:off x="617067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10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bg object 92"/>
          <p:cNvSpPr/>
          <p:nvPr/>
        </p:nvSpPr>
        <p:spPr>
          <a:xfrm>
            <a:off x="610514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bg object 93"/>
          <p:cNvSpPr/>
          <p:nvPr/>
        </p:nvSpPr>
        <p:spPr>
          <a:xfrm>
            <a:off x="6303264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bg object 94"/>
          <p:cNvSpPr/>
          <p:nvPr/>
        </p:nvSpPr>
        <p:spPr>
          <a:xfrm>
            <a:off x="6237732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39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bg object 95"/>
          <p:cNvSpPr/>
          <p:nvPr/>
        </p:nvSpPr>
        <p:spPr>
          <a:xfrm>
            <a:off x="643127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79" y="6858000"/>
                </a:lnTo>
                <a:lnTo>
                  <a:pt x="68579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bg object 96"/>
          <p:cNvSpPr/>
          <p:nvPr/>
        </p:nvSpPr>
        <p:spPr>
          <a:xfrm>
            <a:off x="6368796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4" h="6858000">
                <a:moveTo>
                  <a:pt x="62484" y="0"/>
                </a:moveTo>
                <a:lnTo>
                  <a:pt x="0" y="0"/>
                </a:lnTo>
                <a:lnTo>
                  <a:pt x="0" y="6858000"/>
                </a:lnTo>
                <a:lnTo>
                  <a:pt x="62484" y="6858000"/>
                </a:lnTo>
                <a:lnTo>
                  <a:pt x="62484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bg object 97"/>
          <p:cNvSpPr/>
          <p:nvPr/>
        </p:nvSpPr>
        <p:spPr>
          <a:xfrm>
            <a:off x="656539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bg object 98"/>
          <p:cNvSpPr/>
          <p:nvPr/>
        </p:nvSpPr>
        <p:spPr>
          <a:xfrm>
            <a:off x="649985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bg object 99"/>
          <p:cNvSpPr/>
          <p:nvPr/>
        </p:nvSpPr>
        <p:spPr>
          <a:xfrm>
            <a:off x="669798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bg object 100"/>
          <p:cNvSpPr/>
          <p:nvPr/>
        </p:nvSpPr>
        <p:spPr>
          <a:xfrm>
            <a:off x="663244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bg object 101"/>
          <p:cNvSpPr/>
          <p:nvPr/>
        </p:nvSpPr>
        <p:spPr>
          <a:xfrm>
            <a:off x="683056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bg object 102"/>
          <p:cNvSpPr/>
          <p:nvPr/>
        </p:nvSpPr>
        <p:spPr>
          <a:xfrm>
            <a:off x="6765035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bg object 103"/>
          <p:cNvSpPr/>
          <p:nvPr/>
        </p:nvSpPr>
        <p:spPr>
          <a:xfrm>
            <a:off x="6963156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bg object 104"/>
          <p:cNvSpPr/>
          <p:nvPr/>
        </p:nvSpPr>
        <p:spPr>
          <a:xfrm>
            <a:off x="689610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bg object 105"/>
          <p:cNvSpPr/>
          <p:nvPr/>
        </p:nvSpPr>
        <p:spPr>
          <a:xfrm>
            <a:off x="709421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bg object 106"/>
          <p:cNvSpPr/>
          <p:nvPr/>
        </p:nvSpPr>
        <p:spPr>
          <a:xfrm>
            <a:off x="703021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bg object 107"/>
          <p:cNvSpPr/>
          <p:nvPr/>
        </p:nvSpPr>
        <p:spPr>
          <a:xfrm>
            <a:off x="722375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bg object 108"/>
          <p:cNvSpPr/>
          <p:nvPr/>
        </p:nvSpPr>
        <p:spPr>
          <a:xfrm>
            <a:off x="7161276" y="0"/>
            <a:ext cx="62865" cy="6858000"/>
          </a:xfrm>
          <a:custGeom>
            <a:avLst/>
            <a:gdLst/>
            <a:ahLst/>
            <a:cxnLst/>
            <a:rect l="l" t="t" r="r" b="b"/>
            <a:pathLst>
              <a:path w="62865" h="6858000">
                <a:moveTo>
                  <a:pt x="62483" y="0"/>
                </a:moveTo>
                <a:lnTo>
                  <a:pt x="0" y="0"/>
                </a:lnTo>
                <a:lnTo>
                  <a:pt x="0" y="6858000"/>
                </a:lnTo>
                <a:lnTo>
                  <a:pt x="62483" y="6858000"/>
                </a:lnTo>
                <a:lnTo>
                  <a:pt x="62483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bg object 109"/>
          <p:cNvSpPr/>
          <p:nvPr/>
        </p:nvSpPr>
        <p:spPr>
          <a:xfrm>
            <a:off x="735787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bg object 110"/>
          <p:cNvSpPr/>
          <p:nvPr/>
        </p:nvSpPr>
        <p:spPr>
          <a:xfrm>
            <a:off x="729234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bg object 111"/>
          <p:cNvSpPr/>
          <p:nvPr/>
        </p:nvSpPr>
        <p:spPr>
          <a:xfrm>
            <a:off x="7490459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bg object 112"/>
          <p:cNvSpPr/>
          <p:nvPr/>
        </p:nvSpPr>
        <p:spPr>
          <a:xfrm>
            <a:off x="742492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bg object 113"/>
          <p:cNvSpPr/>
          <p:nvPr/>
        </p:nvSpPr>
        <p:spPr>
          <a:xfrm>
            <a:off x="762304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bg object 114"/>
          <p:cNvSpPr/>
          <p:nvPr/>
        </p:nvSpPr>
        <p:spPr>
          <a:xfrm>
            <a:off x="7557516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bg object 115"/>
          <p:cNvSpPr/>
          <p:nvPr/>
        </p:nvSpPr>
        <p:spPr>
          <a:xfrm>
            <a:off x="7755635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bg object 116"/>
          <p:cNvSpPr/>
          <p:nvPr/>
        </p:nvSpPr>
        <p:spPr>
          <a:xfrm>
            <a:off x="7688580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bg object 117"/>
          <p:cNvSpPr/>
          <p:nvPr/>
        </p:nvSpPr>
        <p:spPr>
          <a:xfrm>
            <a:off x="788670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bg object 118"/>
          <p:cNvSpPr/>
          <p:nvPr/>
        </p:nvSpPr>
        <p:spPr>
          <a:xfrm>
            <a:off x="7822692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bg object 119"/>
          <p:cNvSpPr/>
          <p:nvPr/>
        </p:nvSpPr>
        <p:spPr>
          <a:xfrm>
            <a:off x="8016240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bg object 120"/>
          <p:cNvSpPr/>
          <p:nvPr/>
        </p:nvSpPr>
        <p:spPr>
          <a:xfrm>
            <a:off x="795223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bg object 121"/>
          <p:cNvSpPr/>
          <p:nvPr/>
        </p:nvSpPr>
        <p:spPr>
          <a:xfrm>
            <a:off x="815035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5" y="6858000"/>
                </a:lnTo>
                <a:lnTo>
                  <a:pt x="6705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bg object 122"/>
          <p:cNvSpPr/>
          <p:nvPr/>
        </p:nvSpPr>
        <p:spPr>
          <a:xfrm>
            <a:off x="808481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bg object 123"/>
          <p:cNvSpPr/>
          <p:nvPr/>
        </p:nvSpPr>
        <p:spPr>
          <a:xfrm>
            <a:off x="8282940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2" y="6858000"/>
                </a:lnTo>
                <a:lnTo>
                  <a:pt x="65532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bg object 124"/>
          <p:cNvSpPr/>
          <p:nvPr/>
        </p:nvSpPr>
        <p:spPr>
          <a:xfrm>
            <a:off x="8217407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bg object 125"/>
          <p:cNvSpPr/>
          <p:nvPr/>
        </p:nvSpPr>
        <p:spPr>
          <a:xfrm>
            <a:off x="8415528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0" y="6858000"/>
                </a:moveTo>
                <a:lnTo>
                  <a:pt x="65531" y="6858000"/>
                </a:lnTo>
                <a:lnTo>
                  <a:pt x="6553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bg object 126"/>
          <p:cNvSpPr/>
          <p:nvPr/>
        </p:nvSpPr>
        <p:spPr>
          <a:xfrm>
            <a:off x="834847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67055" y="0"/>
                </a:moveTo>
                <a:lnTo>
                  <a:pt x="0" y="0"/>
                </a:lnTo>
                <a:lnTo>
                  <a:pt x="0" y="6858000"/>
                </a:lnTo>
                <a:lnTo>
                  <a:pt x="67055" y="6858000"/>
                </a:lnTo>
                <a:lnTo>
                  <a:pt x="67055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bg object 127"/>
          <p:cNvSpPr/>
          <p:nvPr/>
        </p:nvSpPr>
        <p:spPr>
          <a:xfrm>
            <a:off x="8546592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bg object 128"/>
          <p:cNvSpPr/>
          <p:nvPr/>
        </p:nvSpPr>
        <p:spPr>
          <a:xfrm>
            <a:off x="8481059" y="0"/>
            <a:ext cx="66040" cy="6858000"/>
          </a:xfrm>
          <a:custGeom>
            <a:avLst/>
            <a:gdLst/>
            <a:ahLst/>
            <a:cxnLst/>
            <a:rect l="l" t="t" r="r" b="b"/>
            <a:pathLst>
              <a:path w="66040" h="6858000">
                <a:moveTo>
                  <a:pt x="65531" y="0"/>
                </a:moveTo>
                <a:lnTo>
                  <a:pt x="0" y="0"/>
                </a:lnTo>
                <a:lnTo>
                  <a:pt x="0" y="6858000"/>
                </a:lnTo>
                <a:lnTo>
                  <a:pt x="65531" y="6858000"/>
                </a:lnTo>
                <a:lnTo>
                  <a:pt x="65531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bg object 129"/>
          <p:cNvSpPr/>
          <p:nvPr/>
        </p:nvSpPr>
        <p:spPr>
          <a:xfrm>
            <a:off x="8674607" y="0"/>
            <a:ext cx="70485" cy="6858000"/>
          </a:xfrm>
          <a:custGeom>
            <a:avLst/>
            <a:gdLst/>
            <a:ahLst/>
            <a:cxnLst/>
            <a:rect l="l" t="t" r="r" b="b"/>
            <a:pathLst>
              <a:path w="70484" h="6858000">
                <a:moveTo>
                  <a:pt x="0" y="6858000"/>
                </a:moveTo>
                <a:lnTo>
                  <a:pt x="70103" y="6858000"/>
                </a:lnTo>
                <a:lnTo>
                  <a:pt x="70103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bg object 130"/>
          <p:cNvSpPr/>
          <p:nvPr/>
        </p:nvSpPr>
        <p:spPr>
          <a:xfrm>
            <a:off x="8613647" y="0"/>
            <a:ext cx="60960" cy="6858000"/>
          </a:xfrm>
          <a:custGeom>
            <a:avLst/>
            <a:gdLst/>
            <a:ahLst/>
            <a:cxnLst/>
            <a:rect l="l" t="t" r="r" b="b"/>
            <a:pathLst>
              <a:path w="60959" h="6858000">
                <a:moveTo>
                  <a:pt x="60959" y="0"/>
                </a:moveTo>
                <a:lnTo>
                  <a:pt x="0" y="0"/>
                </a:lnTo>
                <a:lnTo>
                  <a:pt x="0" y="6858000"/>
                </a:lnTo>
                <a:lnTo>
                  <a:pt x="60959" y="6858000"/>
                </a:lnTo>
                <a:lnTo>
                  <a:pt x="60959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bg object 131"/>
          <p:cNvSpPr/>
          <p:nvPr/>
        </p:nvSpPr>
        <p:spPr>
          <a:xfrm>
            <a:off x="8808719" y="0"/>
            <a:ext cx="68580" cy="6858000"/>
          </a:xfrm>
          <a:custGeom>
            <a:avLst/>
            <a:gdLst/>
            <a:ahLst/>
            <a:cxnLst/>
            <a:rect l="l" t="t" r="r" b="b"/>
            <a:pathLst>
              <a:path w="68579" h="6858000">
                <a:moveTo>
                  <a:pt x="0" y="6858000"/>
                </a:moveTo>
                <a:lnTo>
                  <a:pt x="68580" y="6858000"/>
                </a:lnTo>
                <a:lnTo>
                  <a:pt x="685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bg object 132"/>
          <p:cNvSpPr/>
          <p:nvPr/>
        </p:nvSpPr>
        <p:spPr>
          <a:xfrm>
            <a:off x="8744711" y="0"/>
            <a:ext cx="64135" cy="6858000"/>
          </a:xfrm>
          <a:custGeom>
            <a:avLst/>
            <a:gdLst/>
            <a:ahLst/>
            <a:cxnLst/>
            <a:rect l="l" t="t" r="r" b="b"/>
            <a:pathLst>
              <a:path w="64134" h="6858000">
                <a:moveTo>
                  <a:pt x="64007" y="0"/>
                </a:moveTo>
                <a:lnTo>
                  <a:pt x="0" y="0"/>
                </a:lnTo>
                <a:lnTo>
                  <a:pt x="0" y="6858000"/>
                </a:lnTo>
                <a:lnTo>
                  <a:pt x="64007" y="6858000"/>
                </a:lnTo>
                <a:lnTo>
                  <a:pt x="64007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bg object 133"/>
          <p:cNvSpPr/>
          <p:nvPr/>
        </p:nvSpPr>
        <p:spPr>
          <a:xfrm>
            <a:off x="8942831" y="0"/>
            <a:ext cx="67310" cy="6858000"/>
          </a:xfrm>
          <a:custGeom>
            <a:avLst/>
            <a:gdLst/>
            <a:ahLst/>
            <a:cxnLst/>
            <a:rect l="l" t="t" r="r" b="b"/>
            <a:pathLst>
              <a:path w="67309" h="6858000">
                <a:moveTo>
                  <a:pt x="0" y="6858000"/>
                </a:moveTo>
                <a:lnTo>
                  <a:pt x="67056" y="6858000"/>
                </a:lnTo>
                <a:lnTo>
                  <a:pt x="6705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bg object 134"/>
          <p:cNvSpPr/>
          <p:nvPr/>
        </p:nvSpPr>
        <p:spPr>
          <a:xfrm>
            <a:off x="8877300" y="0"/>
            <a:ext cx="198120" cy="6858000"/>
          </a:xfrm>
          <a:custGeom>
            <a:avLst/>
            <a:gdLst/>
            <a:ahLst/>
            <a:cxnLst/>
            <a:rect l="l" t="t" r="r" b="b"/>
            <a:pathLst>
              <a:path w="198120" h="6858000">
                <a:moveTo>
                  <a:pt x="65532" y="0"/>
                </a:moveTo>
                <a:lnTo>
                  <a:pt x="0" y="0"/>
                </a:lnTo>
                <a:lnTo>
                  <a:pt x="0" y="6858000"/>
                </a:lnTo>
                <a:lnTo>
                  <a:pt x="65532" y="6858000"/>
                </a:lnTo>
                <a:lnTo>
                  <a:pt x="65532" y="0"/>
                </a:lnTo>
                <a:close/>
              </a:path>
              <a:path w="198120" h="6858000">
                <a:moveTo>
                  <a:pt x="198120" y="0"/>
                </a:moveTo>
                <a:lnTo>
                  <a:pt x="132588" y="0"/>
                </a:lnTo>
                <a:lnTo>
                  <a:pt x="132588" y="6858000"/>
                </a:lnTo>
                <a:lnTo>
                  <a:pt x="198120" y="6858000"/>
                </a:lnTo>
                <a:lnTo>
                  <a:pt x="198120" y="0"/>
                </a:lnTo>
                <a:close/>
              </a:path>
            </a:pathLst>
          </a:custGeom>
          <a:solidFill>
            <a:srgbClr val="DDDDD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bg object 135"/>
          <p:cNvSpPr/>
          <p:nvPr/>
        </p:nvSpPr>
        <p:spPr>
          <a:xfrm>
            <a:off x="1812035" y="0"/>
            <a:ext cx="7332345" cy="6849109"/>
          </a:xfrm>
          <a:custGeom>
            <a:avLst/>
            <a:gdLst/>
            <a:ahLst/>
            <a:cxnLst/>
            <a:rect l="l" t="t" r="r" b="b"/>
            <a:pathLst>
              <a:path w="7332345" h="6849109">
                <a:moveTo>
                  <a:pt x="0" y="6848855"/>
                </a:moveTo>
                <a:lnTo>
                  <a:pt x="7331963" y="6848855"/>
                </a:lnTo>
                <a:lnTo>
                  <a:pt x="7331963" y="0"/>
                </a:lnTo>
                <a:lnTo>
                  <a:pt x="0" y="0"/>
                </a:lnTo>
                <a:lnTo>
                  <a:pt x="0" y="6848855"/>
                </a:lnTo>
                <a:close/>
              </a:path>
            </a:pathLst>
          </a:custGeom>
          <a:solidFill>
            <a:srgbClr val="FFFFFF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bg object 136"/>
          <p:cNvSpPr/>
          <p:nvPr/>
        </p:nvSpPr>
        <p:spPr>
          <a:xfrm>
            <a:off x="1219200" y="1706879"/>
            <a:ext cx="6021705" cy="74930"/>
          </a:xfrm>
          <a:custGeom>
            <a:avLst/>
            <a:gdLst/>
            <a:ahLst/>
            <a:cxnLst/>
            <a:rect l="l" t="t" r="r" b="b"/>
            <a:pathLst>
              <a:path w="6021705" h="74930">
                <a:moveTo>
                  <a:pt x="6021324" y="0"/>
                </a:moveTo>
                <a:lnTo>
                  <a:pt x="0" y="0"/>
                </a:lnTo>
                <a:lnTo>
                  <a:pt x="0" y="74675"/>
                </a:lnTo>
                <a:lnTo>
                  <a:pt x="6021324" y="74675"/>
                </a:lnTo>
                <a:lnTo>
                  <a:pt x="6021324" y="0"/>
                </a:lnTo>
                <a:close/>
              </a:path>
            </a:pathLst>
          </a:custGeom>
          <a:solidFill>
            <a:srgbClr val="336699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1563" y="1066038"/>
            <a:ext cx="5960872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6F2F9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07794" y="1930349"/>
            <a:ext cx="6776720" cy="2660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66800" y="381000"/>
            <a:ext cx="7277734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br>
              <a:rPr lang="en-US" sz="4000" spc="-5" dirty="0"/>
            </a:br>
            <a:r>
              <a:rPr lang="en-US" sz="4000" spc="-5" dirty="0"/>
              <a:t>Project Planning Processes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4000" spc="-5" dirty="0"/>
              <a:t>Contents </a:t>
            </a:r>
            <a:endParaRPr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D1538-8F62-AF3E-F602-7AA7565F0C28}"/>
              </a:ext>
            </a:extLst>
          </p:cNvPr>
          <p:cNvSpPr txBox="1"/>
          <p:nvPr/>
        </p:nvSpPr>
        <p:spPr>
          <a:xfrm>
            <a:off x="1219200" y="2286000"/>
            <a:ext cx="7315200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Project Planning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Project Manager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Process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Recourses used in Project Development</a:t>
            </a:r>
          </a:p>
        </p:txBody>
      </p:sp>
    </p:spTree>
    <p:extLst>
      <p:ext uri="{BB962C8B-B14F-4D97-AF65-F5344CB8AC3E}">
        <p14:creationId xmlns:p14="http://schemas.microsoft.com/office/powerpoint/2010/main" val="1553408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92BA-C26C-1981-E834-426C0A04B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4FBA9BE9-E49F-F527-0AF2-33D4188178C0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67057FA-464F-9F6F-25FD-07E1BB627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About Project Planning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95F5F0-DCE2-ADDF-5189-5CD2B6549092}"/>
              </a:ext>
            </a:extLst>
          </p:cNvPr>
          <p:cNvSpPr txBox="1"/>
          <p:nvPr/>
        </p:nvSpPr>
        <p:spPr>
          <a:xfrm>
            <a:off x="762000" y="1836878"/>
            <a:ext cx="8275820" cy="4751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starting a software project, it is essential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decide which tasks to be performed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manage all tasks involved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software development.</a:t>
            </a:r>
          </a:p>
          <a:p>
            <a:pPr>
              <a:lnSpc>
                <a:spcPct val="200000"/>
              </a:lnSpc>
            </a:pP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planning is an organized process from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gathering to testing and support.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all activities required for successful completion of the project.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obstacles that arise in the project such as changes in projects, organization's objectives, non-availability of resources and so on.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better utilization of resources and optimal usage of the allotted time for a project.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roles and responsibilities of the project management team members.</a:t>
            </a:r>
          </a:p>
        </p:txBody>
      </p:sp>
    </p:spTree>
    <p:extLst>
      <p:ext uri="{BB962C8B-B14F-4D97-AF65-F5344CB8AC3E}">
        <p14:creationId xmlns:p14="http://schemas.microsoft.com/office/powerpoint/2010/main" val="12299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4EAC8-B81E-63EA-93C7-6E5F99580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409A70B-8AD5-CA5C-E77A-5DCD34AFC9CF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9F55F8BA-CA83-A0D1-C796-59CC8755E1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ED267-4B78-4E7F-3469-710AAE536A2E}"/>
              </a:ext>
            </a:extLst>
          </p:cNvPr>
          <p:cNvSpPr txBox="1"/>
          <p:nvPr/>
        </p:nvSpPr>
        <p:spPr>
          <a:xfrm>
            <a:off x="838200" y="1905000"/>
            <a:ext cx="8275820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People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Leader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with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project 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activities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progress and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every phase.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necessary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to avoid or come out of problems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8228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CFBF1-7E63-3382-6CB6-3110550AA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2BF2015-1F33-F71E-6770-F1D0FEB9A106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00A23AA-8377-2DC6-5274-D9E42C4DC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55256-9635-DF8F-7054-D476C24B5CF7}"/>
              </a:ext>
            </a:extLst>
          </p:cNvPr>
          <p:cNvSpPr txBox="1"/>
          <p:nvPr/>
        </p:nvSpPr>
        <p:spPr>
          <a:xfrm>
            <a:off x="838200" y="1905000"/>
            <a:ext cx="8275820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People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Leader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Contact with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stakeholders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Project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project scope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 activities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progress and performance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analysis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every phase.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necessary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to avoid or come out of problems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854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49C4B-7F40-47A7-8BD5-43632CEFC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DA77D1C-9D88-C100-22AA-115F920A1A98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283987F6-98CC-6E80-0060-BD20B0C52C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Software Project Manager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7A8E9E-928F-3B6E-828C-BD4B0410B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2057400"/>
            <a:ext cx="4367810" cy="4073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51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F90E6-F63E-9058-CFE2-998C666FC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C649E82-DD6F-A8E3-A413-6AB4CA41E595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41612535-0057-21A3-0027-2DA057E0B2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Project Planning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B3ED88-1DE7-548C-970B-D84908164E7A}"/>
              </a:ext>
            </a:extLst>
          </p:cNvPr>
          <p:cNvSpPr txBox="1"/>
          <p:nvPr/>
        </p:nvSpPr>
        <p:spPr>
          <a:xfrm>
            <a:off x="685800" y="1905000"/>
            <a:ext cx="827582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Stakeholders Need: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must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 the expectations of stakeholders &amp; meet all of their needs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effective.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consider their needs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planner might identify the characteristics and qualities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project at hand.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Identify Project Objectives: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 must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specific, measurable, achievable, realistic and time-bound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order to be used to validate project success.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team members must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 ideas and compromise on collective goals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project.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4549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83F8D-1CAC-8099-F614-800D26FC0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5CC3A9-3466-70DF-014C-6B7A4E5B945E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2EBA961-B5A1-C135-7276-958BDB941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Project Planning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976E3-861A-6C00-AC32-8DC204AB3DA4}"/>
              </a:ext>
            </a:extLst>
          </p:cNvPr>
          <p:cNvSpPr txBox="1"/>
          <p:nvPr/>
        </p:nvSpPr>
        <p:spPr>
          <a:xfrm>
            <a:off x="685800" y="1828800"/>
            <a:ext cx="8275820" cy="562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Identify Deliverables &amp; Due Date: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due date is a scheduled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date and time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an objective is due within a project.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are defined as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products, services or results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quality, size, length, or any other standard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proves to be important in the success of project.</a:t>
            </a:r>
          </a:p>
          <a:p>
            <a:pPr lvl="0">
              <a:lnSpc>
                <a:spcPct val="150000"/>
              </a:lnSpc>
            </a:pP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Identify Project Schedules: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stage is created through different tasks that label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project's start and end date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 are used to make sure projects stay on task and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in a timely manner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957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317AC-4775-73E7-99C8-F7A6B3D4A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6EDDF8F-1A69-B987-CA08-1C2A83B3CA9C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EA21BCB-2E9A-BCFB-FC8F-1463A8046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Project Planning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E599A3-289F-3849-C517-2166A37AC4E5}"/>
              </a:ext>
            </a:extLst>
          </p:cNvPr>
          <p:cNvSpPr txBox="1"/>
          <p:nvPr/>
        </p:nvSpPr>
        <p:spPr>
          <a:xfrm>
            <a:off x="685800" y="1752600"/>
            <a:ext cx="8275820" cy="585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Provide Roles &amp; Responsibilities: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stage allows for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 communication between everyone involved in the project.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segment includes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who is involved and what their individual tasks are.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expected objectives, goals &amp; output of project.</a:t>
            </a:r>
          </a:p>
          <a:p>
            <a:pPr lvl="0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Identify Project Budget: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budget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calculating the anticipated cost, changing budget cost and monitoring the budget.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it is crucial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for unexpected alterations of project costs.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078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8DC3-B0BF-A727-2F61-89D112029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C52285-6B3B-8C01-D906-D836260E70F3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9325AA3-1D65-4C69-27EA-C436F0D031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2000" y="933958"/>
            <a:ext cx="7535696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4000" dirty="0"/>
              <a:t>Project Planning Process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F5FDD0-8641-99AF-F2A1-1D7549D6EE9A}"/>
              </a:ext>
            </a:extLst>
          </p:cNvPr>
          <p:cNvSpPr txBox="1"/>
          <p:nvPr/>
        </p:nvSpPr>
        <p:spPr>
          <a:xfrm>
            <a:off x="609600" y="1676400"/>
            <a:ext cx="8275820" cy="62750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Identify Communication Plan: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communication plan is a tool that able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effectively communicate about a project to your client, team and other stakeholders.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plan has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guidelines about how information will be shared &amp; who is responsible within the project.</a:t>
            </a:r>
          </a:p>
          <a:p>
            <a:pPr lvl="0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Provide Tracking &amp; Management: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an effective way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deliver projects on time and organize tasks.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this element include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planning/scheduling, collaboration, documentation and evaluation.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tools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productivity and growth of project.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0404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A08F-B8F7-8946-F7B7-DCF336905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B6708FD-C2A1-3C93-9DBD-B3D14E616318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AFD5775-5EF5-424B-F46D-03C3BBC11D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3652" y="990600"/>
            <a:ext cx="791669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Recourses Used in Project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90C6A4-64A2-3049-90FE-A64A1D8B6A8A}"/>
              </a:ext>
            </a:extLst>
          </p:cNvPr>
          <p:cNvSpPr txBox="1"/>
          <p:nvPr/>
        </p:nvSpPr>
        <p:spPr>
          <a:xfrm>
            <a:off x="533400" y="1828800"/>
            <a:ext cx="8275820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resources simply mean resources that are required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successful development and completion of project on time and on budget.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1: Human Recourses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software industry, manager, software developer, software testing and so 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positions are according to their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and specialty.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2: Reusable Components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budget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project is one of most important tasks that all project managers.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reusable resources are very helpful as they help in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overall cost of development.</a:t>
            </a:r>
          </a:p>
          <a:p>
            <a:pPr lvl="0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3: Hardware and Software tools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should be planned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 starting development of project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otherwise it way causes problems.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actually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resources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are part of project.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318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12A61-F08F-23C6-034F-A05E028B2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E72701F-492D-88BC-1E68-AFB4D3772008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AE56556A-2220-8B01-26A6-1C532098A6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3652" y="990600"/>
            <a:ext cx="791669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Recourses Used in Project Development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D3FC5C-61A0-B5AF-8897-C1B3A8721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600" y="2438400"/>
            <a:ext cx="2895600" cy="307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482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35F68-88B1-962A-116B-D3C4ECE1F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BA42BAC-95C0-47E6-D1B7-A6E257581DF0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F61B907E-671E-713E-3047-89C0DC9017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66800" y="381000"/>
            <a:ext cx="7277734" cy="1243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br>
              <a:rPr lang="en-US" sz="4000" spc="-5" dirty="0"/>
            </a:br>
            <a:r>
              <a:rPr lang="en-US" sz="4000" spc="-5" dirty="0"/>
              <a:t>Project Scope Management</a:t>
            </a:r>
            <a:endParaRPr sz="4000" dirty="0"/>
          </a:p>
        </p:txBody>
      </p:sp>
    </p:spTree>
    <p:extLst>
      <p:ext uri="{BB962C8B-B14F-4D97-AF65-F5344CB8AC3E}">
        <p14:creationId xmlns:p14="http://schemas.microsoft.com/office/powerpoint/2010/main" val="3118506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44B3D-4C68-8372-BB33-9DCB0AD6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CE5D47C-B77A-DB8F-8F91-CF586455624B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B593BD28-3F52-E574-E009-6282020FEC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3652" y="990600"/>
            <a:ext cx="791669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Project Scope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EF07C7-53D5-1EC4-66D1-774CFD69E7F6}"/>
              </a:ext>
            </a:extLst>
          </p:cNvPr>
          <p:cNvSpPr txBox="1"/>
          <p:nvPr/>
        </p:nvSpPr>
        <p:spPr>
          <a:xfrm>
            <a:off x="868180" y="2286000"/>
            <a:ext cx="8275820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refers to the detailed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deliverables or features of a project.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 all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objectives, activities, process, output, deadline need to be done in order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make a deliverable software product.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management is essential because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creates boundaries of the project by clearly defining what would be done in the project and what would not be done.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88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7BFE-622C-126A-F35A-808BBEABF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0811937-C38A-B891-AE69-D744375A3F67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E78674F-5F18-9415-1258-CE151B3A8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8180" y="1241921"/>
            <a:ext cx="9525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dirty="0"/>
              <a:t>Real Life Example of Project Scope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F0F25C-A8EC-94A1-855C-50BFB0E79A3D}"/>
              </a:ext>
            </a:extLst>
          </p:cNvPr>
          <p:cNvSpPr txBox="1"/>
          <p:nvPr/>
        </p:nvSpPr>
        <p:spPr>
          <a:xfrm>
            <a:off x="762000" y="1905000"/>
            <a:ext cx="8275820" cy="4451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 need a new house’,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one has any idea about functionality of the house at this point.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it be Apartment or an Independent house?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rooms, swimming pool, car park, security, air conditioning the scope gets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elaborated as the project progresses.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which has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impact on the architecture, budget of the project need to be fixed before we commence the detailed planning.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‘Project scope management’ is to ensure that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includes all the work required and exclude all the unwanted 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 till the end of the project.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088727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EF4F3-9C88-EEB8-017E-13D85D620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4B64A20-42AA-BEBB-59D6-C7C00DFCD3D5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86442C24-289E-8DC6-ABD9-D1EF912DCF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3652" y="990600"/>
            <a:ext cx="7916696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Project Scope Management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79FB12-D77E-9728-2101-E3BF01E67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47726"/>
            <a:ext cx="6248400" cy="464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0305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A01E-0A30-7D8D-5FF9-B17CBFFF7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A611BE9-CBBF-5ABA-4BBA-3D675DD26F2E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31063744-EB66-AC80-DA78-CFA4413BA9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157167"/>
            <a:ext cx="9525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Work Breakdown Structure</a:t>
            </a:r>
          </a:p>
        </p:txBody>
      </p:sp>
    </p:spTree>
    <p:extLst>
      <p:ext uri="{BB962C8B-B14F-4D97-AF65-F5344CB8AC3E}">
        <p14:creationId xmlns:p14="http://schemas.microsoft.com/office/powerpoint/2010/main" val="3240825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500A2-7DBB-27F4-B599-348B49C6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623C8F1-B588-64ED-CC0F-E7AE8C0D164B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F8E3EAD-E56A-C3F8-D849-2A7C3F523EC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3000" y="1157167"/>
            <a:ext cx="9525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Work Breakdown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F8D04B-3335-4DA2-005C-A2CEE6513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362200"/>
            <a:ext cx="4015411" cy="273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5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CDA74-A09C-D8C5-CE4E-424767C0C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D03700C-F443-D8B3-4C63-62B2F1F74835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F40D8A2-A4F8-711C-08ED-403DF3CE04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1219200"/>
            <a:ext cx="9525000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sz="2400" dirty="0"/>
              <a:t>Work Breakdown 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2D43B-5748-A533-EC20-AD92CF7D1B35}"/>
              </a:ext>
            </a:extLst>
          </p:cNvPr>
          <p:cNvSpPr txBox="1"/>
          <p:nvPr/>
        </p:nvSpPr>
        <p:spPr>
          <a:xfrm>
            <a:off x="914400" y="2057400"/>
            <a:ext cx="827582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dirty="0"/>
              <a:t>A Work Breakdown Structure includes </a:t>
            </a:r>
            <a:r>
              <a:rPr lang="en-US" b="1" dirty="0"/>
              <a:t>dividing a large and complex project into simpler, manageable and independent tasks.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It used to </a:t>
            </a:r>
            <a:r>
              <a:rPr lang="en-US" b="1" dirty="0"/>
              <a:t>organize and plan projects, programs and portfolio.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It follows a </a:t>
            </a:r>
            <a:r>
              <a:rPr lang="en-US" b="1" dirty="0"/>
              <a:t>Top-Down &amp; Hierarchical view approach.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root</a:t>
            </a:r>
            <a:r>
              <a:rPr lang="en-US" dirty="0"/>
              <a:t> of this tree is labelled by the </a:t>
            </a:r>
            <a:r>
              <a:rPr lang="en-US" b="1" dirty="0"/>
              <a:t>Project name itself.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Perform by </a:t>
            </a:r>
            <a:r>
              <a:rPr lang="en-US" b="1" dirty="0"/>
              <a:t>Project Manager &amp; Subject Matter Expert.</a:t>
            </a:r>
            <a:endParaRPr lang="en-US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24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E1620-4A85-84A3-43D6-165234DA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AA032BB-BD9C-B107-D468-44B93B663A44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6DD42297-D70D-00E3-69F9-DB97B16FE3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0600" y="1144632"/>
            <a:ext cx="9525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Working of Work Breakdown Structure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D9101-BDBD-37C1-B8BC-6FF94B70C82D}"/>
              </a:ext>
            </a:extLst>
          </p:cNvPr>
          <p:cNvSpPr txBox="1"/>
          <p:nvPr/>
        </p:nvSpPr>
        <p:spPr>
          <a:xfrm>
            <a:off x="762000" y="1905000"/>
            <a:ext cx="8275820" cy="5028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managers decide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name at top / root of WBS.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managers identifies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deliverables of the project.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deliverables are broke down into smaller higher-level tasks.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complete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is done recursively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produce much smaller independent tasks.</a:t>
            </a: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Choose Task Owner. They need to get the job done.</a:t>
            </a:r>
          </a:p>
          <a:p>
            <a:pPr lvl="0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up to which level of detail they want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 down project.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level tasks are most simplest &amp; independent tasks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takes less than weeks of work.</a:t>
            </a:r>
          </a:p>
          <a:p>
            <a:pPr lvl="0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430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AC795-9041-45B0-92A4-2E510174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4B871D8-79F8-D2F3-3787-D8B2FACA7F91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EE04D008-F73E-7406-74C4-D5BB2A6220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117689"/>
            <a:ext cx="9525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Components of Work Breakdown Structure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1B75A8-0DF5-BB36-9452-9AA5916A7A79}"/>
              </a:ext>
            </a:extLst>
          </p:cNvPr>
          <p:cNvSpPr txBox="1"/>
          <p:nvPr/>
        </p:nvSpPr>
        <p:spPr>
          <a:xfrm>
            <a:off x="868180" y="2286000"/>
            <a:ext cx="8275820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WBS Dictionary: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Document that defines the various WBS elements.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WBS Levels: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the hierarchy level of a WBS element.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 deliverable tasks. Status, Description, Task owner, Dependencies and Duration.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Task: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Main deliverable tasks.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Packages: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Lowest level of WBS. Small group of tasks.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Account: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Group work packages and measure their status.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Deliverables: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Desired outcome of project tasks and work packages.</a:t>
            </a:r>
          </a:p>
        </p:txBody>
      </p:sp>
    </p:spTree>
    <p:extLst>
      <p:ext uri="{BB962C8B-B14F-4D97-AF65-F5344CB8AC3E}">
        <p14:creationId xmlns:p14="http://schemas.microsoft.com/office/powerpoint/2010/main" val="4114242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23640-5F16-8C7F-A612-A0123FF05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2A1A39D-9CED-0DB7-6197-0F36799B3C14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5D7B00AD-7242-90F9-4748-2B1806537B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117689"/>
            <a:ext cx="9525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Example-01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9EF527-C75A-6C7C-A6EA-D7E69EBE1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2112619"/>
            <a:ext cx="4154662" cy="385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643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1BFC6-8391-6A99-B743-E92A1F481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6086700-9AC9-152D-F6D6-8EA839294DCC}"/>
              </a:ext>
            </a:extLst>
          </p:cNvPr>
          <p:cNvSpPr txBox="1"/>
          <p:nvPr/>
        </p:nvSpPr>
        <p:spPr>
          <a:xfrm>
            <a:off x="8677656" y="6517633"/>
            <a:ext cx="70485" cy="1416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00"/>
              </a:lnSpc>
            </a:pPr>
            <a:r>
              <a:rPr sz="1000" spc="-5" dirty="0">
                <a:latin typeface="Arial MT"/>
                <a:cs typeface="Arial MT"/>
              </a:rPr>
              <a:t>1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74CC1E52-FFF6-F939-A68D-9A479D957D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1117689"/>
            <a:ext cx="9525000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r>
              <a:rPr lang="en-US" dirty="0"/>
              <a:t>Common WBS Software tools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728876-654C-A55D-2F24-651C7047680A}"/>
              </a:ext>
            </a:extLst>
          </p:cNvPr>
          <p:cNvSpPr txBox="1"/>
          <p:nvPr/>
        </p:nvSpPr>
        <p:spPr>
          <a:xfrm>
            <a:off x="762000" y="2133600"/>
            <a:ext cx="827582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free and paid software tools can help you create WBS for your projects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WBS Software tools are: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EdrawMax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Lucidchart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SmartDraw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Paradigm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MindView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5DEA51-EBBD-D2CE-45CE-15F8174C5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3124200"/>
            <a:ext cx="5242464" cy="297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7753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669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355</TotalTime>
  <Words>1296</Words>
  <Application>Microsoft Office PowerPoint</Application>
  <PresentationFormat>On-screen Show (4:3)</PresentationFormat>
  <Paragraphs>194</Paragraphs>
  <Slides>23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Aptos</vt:lpstr>
      <vt:lpstr>Arial</vt:lpstr>
      <vt:lpstr>Arial MT</vt:lpstr>
      <vt:lpstr>Calibri</vt:lpstr>
      <vt:lpstr>Times New Roman</vt:lpstr>
      <vt:lpstr>Wingdings</vt:lpstr>
      <vt:lpstr>Office Theme</vt:lpstr>
      <vt:lpstr> Project Planning Processes</vt:lpstr>
      <vt:lpstr>Contents </vt:lpstr>
      <vt:lpstr>About Project Planning</vt:lpstr>
      <vt:lpstr>Software Project Manager</vt:lpstr>
      <vt:lpstr>Software Project Manager</vt:lpstr>
      <vt:lpstr>Software Project Manager</vt:lpstr>
      <vt:lpstr>Project Planning Process</vt:lpstr>
      <vt:lpstr>Project Planning Process</vt:lpstr>
      <vt:lpstr>Project Planning Process</vt:lpstr>
      <vt:lpstr>Project Planning Process</vt:lpstr>
      <vt:lpstr>Recourses Used in Project Development</vt:lpstr>
      <vt:lpstr>Recourses Used in Project Development</vt:lpstr>
      <vt:lpstr> Project Scope Management</vt:lpstr>
      <vt:lpstr>Project Scope Management</vt:lpstr>
      <vt:lpstr>Real Life Example of Project Scope Management</vt:lpstr>
      <vt:lpstr>Project Scope Management</vt:lpstr>
      <vt:lpstr>Work Breakdown Structure</vt:lpstr>
      <vt:lpstr>Work Breakdown Structure</vt:lpstr>
      <vt:lpstr>Work Breakdown Structure</vt:lpstr>
      <vt:lpstr>Working of Work Breakdown Structure</vt:lpstr>
      <vt:lpstr>Components of Work Breakdown Structure</vt:lpstr>
      <vt:lpstr>Example-01</vt:lpstr>
      <vt:lpstr>Common WBS Software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Set to accompany Web Engineering: A Practitioner Approach</dc:title>
  <dc:creator>Roger Pressman</dc:creator>
  <cp:lastModifiedBy>Muhammad Muhtasim</cp:lastModifiedBy>
  <cp:revision>17</cp:revision>
  <dcterms:created xsi:type="dcterms:W3CDTF">2024-01-10T11:24:42Z</dcterms:created>
  <dcterms:modified xsi:type="dcterms:W3CDTF">2026-02-24T09:02:15Z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2020-07-20T00:00:00Z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2024-01-10T00:00:00Z</vt:filetime>
  </property>
  <property fmtid="{D5CDD505-2E9C-101B-9397-08002B2CF9AE}" pid="5" name="MSIP_Label_defa4170-0d19-0005-0004-bc88714345d2_Enabled">
    <vt:lpwstr>true</vt:lpwstr>
  </property>
  <property fmtid="{D5CDD505-2E9C-101B-9397-08002B2CF9AE}" pid="6" name="MSIP_Label_defa4170-0d19-0005-0004-bc88714345d2_SetDate">
    <vt:lpwstr>2024-01-10T11:25:39Z</vt:lpwstr>
  </property>
  <property fmtid="{D5CDD505-2E9C-101B-9397-08002B2CF9AE}" pid="7" name="MSIP_Label_defa4170-0d19-0005-0004-bc88714345d2_Method">
    <vt:lpwstr>Standard</vt:lpwstr>
  </property>
  <property fmtid="{D5CDD505-2E9C-101B-9397-08002B2CF9AE}" pid="8" name="MSIP_Label_defa4170-0d19-0005-0004-bc88714345d2_Name">
    <vt:lpwstr>defa4170-0d19-0005-0004-bc88714345d2</vt:lpwstr>
  </property>
  <property fmtid="{D5CDD505-2E9C-101B-9397-08002B2CF9AE}" pid="9" name="MSIP_Label_defa4170-0d19-0005-0004-bc88714345d2_SiteId">
    <vt:lpwstr>62a14c85-6502-4d92-8cf6-05c3ba33adfe</vt:lpwstr>
  </property>
  <property fmtid="{D5CDD505-2E9C-101B-9397-08002B2CF9AE}" pid="10" name="MSIP_Label_defa4170-0d19-0005-0004-bc88714345d2_ActionId">
    <vt:lpwstr>c0d6c09e-7602-446e-9f8f-00260b449c1d</vt:lpwstr>
  </property>
  <property fmtid="{D5CDD505-2E9C-101B-9397-08002B2CF9AE}" pid="11" name="MSIP_Label_defa4170-0d19-0005-0004-bc88714345d2_ContentBits">
    <vt:lpwstr>0</vt:lpwstr>
  </property>
</Properties>
</file>