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374" r:id="rId3"/>
    <p:sldId id="259" r:id="rId4"/>
    <p:sldId id="375" r:id="rId5"/>
    <p:sldId id="376" r:id="rId6"/>
    <p:sldId id="377" r:id="rId7"/>
    <p:sldId id="378" r:id="rId8"/>
    <p:sldId id="379" r:id="rId9"/>
    <p:sldId id="380" r:id="rId10"/>
    <p:sldId id="381" r:id="rId11"/>
    <p:sldId id="382" r:id="rId12"/>
    <p:sldId id="383" r:id="rId13"/>
    <p:sldId id="384" r:id="rId14"/>
    <p:sldId id="385" r:id="rId15"/>
    <p:sldId id="386" r:id="rId16"/>
    <p:sldId id="387" r:id="rId17"/>
    <p:sldId id="388" r:id="rId18"/>
    <p:sldId id="389" r:id="rId19"/>
    <p:sldId id="390" r:id="rId20"/>
    <p:sldId id="391" r:id="rId21"/>
    <p:sldId id="392" r:id="rId22"/>
    <p:sldId id="394" r:id="rId2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02" autoAdjust="0"/>
    <p:restoredTop sz="94660"/>
  </p:normalViewPr>
  <p:slideViewPr>
    <p:cSldViewPr>
      <p:cViewPr varScale="1">
        <p:scale>
          <a:sx n="88" d="100"/>
          <a:sy n="88" d="100"/>
        </p:scale>
        <p:origin x="1819" y="2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7877D1-D2AE-4155-9CCB-57EE6000A86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8616A-723F-4FA1-8D33-0E0B85814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64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0BFDFF-095C-40A5-AEB1-2E38C8CFFC25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F2F9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B5F7E-736C-4B49-9263-31AD86CA2508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F2F9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9F963-A61C-4C85-800A-76BE0FF523B3}" type="datetime1">
              <a:rPr lang="en-US" smtClean="0"/>
              <a:t>3/12/2026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F2F9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6AE23-F7EE-45AE-BF92-5E21C6AB41FD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0003D-FFD4-4E6E-AAE2-F27D3E9461A1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075419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79" h="6858000">
                <a:moveTo>
                  <a:pt x="0" y="6858000"/>
                </a:moveTo>
                <a:lnTo>
                  <a:pt x="68579" y="6858000"/>
                </a:lnTo>
                <a:lnTo>
                  <a:pt x="6857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351915" cy="6858000"/>
          </a:xfrm>
          <a:custGeom>
            <a:avLst/>
            <a:gdLst/>
            <a:ahLst/>
            <a:cxnLst/>
            <a:rect l="l" t="t" r="r" b="b"/>
            <a:pathLst>
              <a:path w="1351915" h="6858000">
                <a:moveTo>
                  <a:pt x="12192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" y="6858000"/>
                </a:lnTo>
                <a:lnTo>
                  <a:pt x="1219200" y="0"/>
                </a:lnTo>
                <a:close/>
              </a:path>
              <a:path w="1351915" h="6858000">
                <a:moveTo>
                  <a:pt x="1351788" y="0"/>
                </a:moveTo>
                <a:lnTo>
                  <a:pt x="1284732" y="0"/>
                </a:lnTo>
                <a:lnTo>
                  <a:pt x="1284732" y="6858000"/>
                </a:lnTo>
                <a:lnTo>
                  <a:pt x="1351788" y="6858000"/>
                </a:lnTo>
                <a:lnTo>
                  <a:pt x="1351788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19200" y="0"/>
            <a:ext cx="66040" cy="6849109"/>
          </a:xfrm>
          <a:custGeom>
            <a:avLst/>
            <a:gdLst/>
            <a:ahLst/>
            <a:cxnLst/>
            <a:rect l="l" t="t" r="r" b="b"/>
            <a:pathLst>
              <a:path w="66040" h="6849109">
                <a:moveTo>
                  <a:pt x="0" y="6848855"/>
                </a:moveTo>
                <a:lnTo>
                  <a:pt x="65531" y="6848855"/>
                </a:lnTo>
                <a:lnTo>
                  <a:pt x="65531" y="0"/>
                </a:lnTo>
                <a:lnTo>
                  <a:pt x="0" y="0"/>
                </a:lnTo>
                <a:lnTo>
                  <a:pt x="0" y="684885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417319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0" y="6858000"/>
                </a:moveTo>
                <a:lnTo>
                  <a:pt x="65532" y="6858000"/>
                </a:lnTo>
                <a:lnTo>
                  <a:pt x="6553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351788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549908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482852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67056" y="0"/>
                </a:moveTo>
                <a:lnTo>
                  <a:pt x="0" y="0"/>
                </a:lnTo>
                <a:lnTo>
                  <a:pt x="0" y="6858000"/>
                </a:lnTo>
                <a:lnTo>
                  <a:pt x="67056" y="6858000"/>
                </a:lnTo>
                <a:lnTo>
                  <a:pt x="67056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680972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6" y="6858000"/>
                </a:lnTo>
                <a:lnTo>
                  <a:pt x="670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616963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64007" y="0"/>
                </a:moveTo>
                <a:lnTo>
                  <a:pt x="0" y="0"/>
                </a:lnTo>
                <a:lnTo>
                  <a:pt x="0" y="6858000"/>
                </a:lnTo>
                <a:lnTo>
                  <a:pt x="64007" y="6858000"/>
                </a:lnTo>
                <a:lnTo>
                  <a:pt x="64007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810511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80" h="6858000">
                <a:moveTo>
                  <a:pt x="0" y="6858000"/>
                </a:moveTo>
                <a:lnTo>
                  <a:pt x="68580" y="6858000"/>
                </a:lnTo>
                <a:lnTo>
                  <a:pt x="685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748027" y="0"/>
            <a:ext cx="62865" cy="6858000"/>
          </a:xfrm>
          <a:custGeom>
            <a:avLst/>
            <a:gdLst/>
            <a:ahLst/>
            <a:cxnLst/>
            <a:rect l="l" t="t" r="r" b="b"/>
            <a:pathLst>
              <a:path w="62864" h="6858000">
                <a:moveTo>
                  <a:pt x="62483" y="0"/>
                </a:moveTo>
                <a:lnTo>
                  <a:pt x="0" y="0"/>
                </a:lnTo>
                <a:lnTo>
                  <a:pt x="0" y="6858000"/>
                </a:lnTo>
                <a:lnTo>
                  <a:pt x="62483" y="6858000"/>
                </a:lnTo>
                <a:lnTo>
                  <a:pt x="62483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944623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6" y="6858000"/>
                </a:lnTo>
                <a:lnTo>
                  <a:pt x="670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879092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2077211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2011679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2209800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2142744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67056" y="0"/>
                </a:moveTo>
                <a:lnTo>
                  <a:pt x="0" y="0"/>
                </a:lnTo>
                <a:lnTo>
                  <a:pt x="0" y="6858000"/>
                </a:lnTo>
                <a:lnTo>
                  <a:pt x="67056" y="6858000"/>
                </a:lnTo>
                <a:lnTo>
                  <a:pt x="67056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2340864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80" h="6858000">
                <a:moveTo>
                  <a:pt x="0" y="6858000"/>
                </a:moveTo>
                <a:lnTo>
                  <a:pt x="68580" y="6858000"/>
                </a:lnTo>
                <a:lnTo>
                  <a:pt x="685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2275332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2473451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2409444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64007" y="0"/>
                </a:moveTo>
                <a:lnTo>
                  <a:pt x="0" y="0"/>
                </a:lnTo>
                <a:lnTo>
                  <a:pt x="0" y="6858000"/>
                </a:lnTo>
                <a:lnTo>
                  <a:pt x="64007" y="6858000"/>
                </a:lnTo>
                <a:lnTo>
                  <a:pt x="64007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2602992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80" h="6858000">
                <a:moveTo>
                  <a:pt x="0" y="6858000"/>
                </a:moveTo>
                <a:lnTo>
                  <a:pt x="68580" y="6858000"/>
                </a:lnTo>
                <a:lnTo>
                  <a:pt x="685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2538983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64007" y="0"/>
                </a:moveTo>
                <a:lnTo>
                  <a:pt x="0" y="0"/>
                </a:lnTo>
                <a:lnTo>
                  <a:pt x="0" y="6858000"/>
                </a:lnTo>
                <a:lnTo>
                  <a:pt x="64007" y="6858000"/>
                </a:lnTo>
                <a:lnTo>
                  <a:pt x="64007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2735579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80" h="6858000">
                <a:moveTo>
                  <a:pt x="0" y="6858000"/>
                </a:moveTo>
                <a:lnTo>
                  <a:pt x="68580" y="6858000"/>
                </a:lnTo>
                <a:lnTo>
                  <a:pt x="685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2671572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64007" y="0"/>
                </a:moveTo>
                <a:lnTo>
                  <a:pt x="0" y="0"/>
                </a:lnTo>
                <a:lnTo>
                  <a:pt x="0" y="6858000"/>
                </a:lnTo>
                <a:lnTo>
                  <a:pt x="64007" y="6858000"/>
                </a:lnTo>
                <a:lnTo>
                  <a:pt x="64007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2869692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2804160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3002279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2935223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67056" y="0"/>
                </a:moveTo>
                <a:lnTo>
                  <a:pt x="0" y="0"/>
                </a:lnTo>
                <a:lnTo>
                  <a:pt x="0" y="6858000"/>
                </a:lnTo>
                <a:lnTo>
                  <a:pt x="67056" y="6858000"/>
                </a:lnTo>
                <a:lnTo>
                  <a:pt x="67056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3133344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6" y="6858000"/>
                </a:lnTo>
                <a:lnTo>
                  <a:pt x="670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3067811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3265932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3200400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3395471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79" h="6858000">
                <a:moveTo>
                  <a:pt x="0" y="6858000"/>
                </a:moveTo>
                <a:lnTo>
                  <a:pt x="68579" y="6858000"/>
                </a:lnTo>
                <a:lnTo>
                  <a:pt x="6857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3331464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64008" y="0"/>
                </a:moveTo>
                <a:lnTo>
                  <a:pt x="0" y="0"/>
                </a:lnTo>
                <a:lnTo>
                  <a:pt x="0" y="6858000"/>
                </a:lnTo>
                <a:lnTo>
                  <a:pt x="64008" y="6858000"/>
                </a:lnTo>
                <a:lnTo>
                  <a:pt x="64008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3528059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3464052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64008" y="0"/>
                </a:moveTo>
                <a:lnTo>
                  <a:pt x="0" y="0"/>
                </a:lnTo>
                <a:lnTo>
                  <a:pt x="0" y="6858000"/>
                </a:lnTo>
                <a:lnTo>
                  <a:pt x="64008" y="6858000"/>
                </a:lnTo>
                <a:lnTo>
                  <a:pt x="64008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3662171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2" y="6858000"/>
                </a:lnTo>
                <a:lnTo>
                  <a:pt x="6553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3595115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67055" y="0"/>
                </a:moveTo>
                <a:lnTo>
                  <a:pt x="0" y="0"/>
                </a:lnTo>
                <a:lnTo>
                  <a:pt x="0" y="6858000"/>
                </a:lnTo>
                <a:lnTo>
                  <a:pt x="67055" y="6858000"/>
                </a:lnTo>
                <a:lnTo>
                  <a:pt x="67055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3793235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3727703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3925823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3860291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4053840" y="0"/>
            <a:ext cx="70485" cy="6858000"/>
          </a:xfrm>
          <a:custGeom>
            <a:avLst/>
            <a:gdLst/>
            <a:ahLst/>
            <a:cxnLst/>
            <a:rect l="l" t="t" r="r" b="b"/>
            <a:pathLst>
              <a:path w="70485" h="6858000">
                <a:moveTo>
                  <a:pt x="0" y="6858000"/>
                </a:moveTo>
                <a:lnTo>
                  <a:pt x="70104" y="6858000"/>
                </a:lnTo>
                <a:lnTo>
                  <a:pt x="7010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3991355" y="0"/>
            <a:ext cx="62865" cy="6858000"/>
          </a:xfrm>
          <a:custGeom>
            <a:avLst/>
            <a:gdLst/>
            <a:ahLst/>
            <a:cxnLst/>
            <a:rect l="l" t="t" r="r" b="b"/>
            <a:pathLst>
              <a:path w="62864" h="6858000">
                <a:moveTo>
                  <a:pt x="62484" y="0"/>
                </a:moveTo>
                <a:lnTo>
                  <a:pt x="0" y="0"/>
                </a:lnTo>
                <a:lnTo>
                  <a:pt x="0" y="6858000"/>
                </a:lnTo>
                <a:lnTo>
                  <a:pt x="62484" y="6858000"/>
                </a:lnTo>
                <a:lnTo>
                  <a:pt x="62484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4187952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79" h="6858000">
                <a:moveTo>
                  <a:pt x="0" y="6858000"/>
                </a:moveTo>
                <a:lnTo>
                  <a:pt x="68579" y="6858000"/>
                </a:lnTo>
                <a:lnTo>
                  <a:pt x="6857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4123944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64008" y="0"/>
                </a:moveTo>
                <a:lnTo>
                  <a:pt x="0" y="0"/>
                </a:lnTo>
                <a:lnTo>
                  <a:pt x="0" y="6858000"/>
                </a:lnTo>
                <a:lnTo>
                  <a:pt x="64008" y="6858000"/>
                </a:lnTo>
                <a:lnTo>
                  <a:pt x="64008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4322064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4256532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4454652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2" y="6858000"/>
                </a:lnTo>
                <a:lnTo>
                  <a:pt x="6553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4387596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67055" y="0"/>
                </a:moveTo>
                <a:lnTo>
                  <a:pt x="0" y="0"/>
                </a:lnTo>
                <a:lnTo>
                  <a:pt x="0" y="6858000"/>
                </a:lnTo>
                <a:lnTo>
                  <a:pt x="67055" y="6858000"/>
                </a:lnTo>
                <a:lnTo>
                  <a:pt x="67055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4585715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4520184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4712208" y="0"/>
            <a:ext cx="71755" cy="6858000"/>
          </a:xfrm>
          <a:custGeom>
            <a:avLst/>
            <a:gdLst/>
            <a:ahLst/>
            <a:cxnLst/>
            <a:rect l="l" t="t" r="r" b="b"/>
            <a:pathLst>
              <a:path w="71754" h="6858000">
                <a:moveTo>
                  <a:pt x="0" y="6858000"/>
                </a:moveTo>
                <a:lnTo>
                  <a:pt x="71627" y="6858000"/>
                </a:lnTo>
                <a:lnTo>
                  <a:pt x="7162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4651247" y="0"/>
            <a:ext cx="60960" cy="6858000"/>
          </a:xfrm>
          <a:custGeom>
            <a:avLst/>
            <a:gdLst/>
            <a:ahLst/>
            <a:cxnLst/>
            <a:rect l="l" t="t" r="r" b="b"/>
            <a:pathLst>
              <a:path w="60960" h="6858000">
                <a:moveTo>
                  <a:pt x="60960" y="0"/>
                </a:moveTo>
                <a:lnTo>
                  <a:pt x="0" y="0"/>
                </a:lnTo>
                <a:lnTo>
                  <a:pt x="0" y="6858000"/>
                </a:lnTo>
                <a:lnTo>
                  <a:pt x="60960" y="6858000"/>
                </a:lnTo>
                <a:lnTo>
                  <a:pt x="60960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4846320" y="0"/>
            <a:ext cx="70485" cy="6858000"/>
          </a:xfrm>
          <a:custGeom>
            <a:avLst/>
            <a:gdLst/>
            <a:ahLst/>
            <a:cxnLst/>
            <a:rect l="l" t="t" r="r" b="b"/>
            <a:pathLst>
              <a:path w="70485" h="6858000">
                <a:moveTo>
                  <a:pt x="0" y="6858000"/>
                </a:moveTo>
                <a:lnTo>
                  <a:pt x="70103" y="6858000"/>
                </a:lnTo>
                <a:lnTo>
                  <a:pt x="70103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4783835" y="0"/>
            <a:ext cx="62865" cy="6858000"/>
          </a:xfrm>
          <a:custGeom>
            <a:avLst/>
            <a:gdLst/>
            <a:ahLst/>
            <a:cxnLst/>
            <a:rect l="l" t="t" r="r" b="b"/>
            <a:pathLst>
              <a:path w="62864" h="6858000">
                <a:moveTo>
                  <a:pt x="62484" y="0"/>
                </a:moveTo>
                <a:lnTo>
                  <a:pt x="0" y="0"/>
                </a:lnTo>
                <a:lnTo>
                  <a:pt x="0" y="6858000"/>
                </a:lnTo>
                <a:lnTo>
                  <a:pt x="62484" y="6858000"/>
                </a:lnTo>
                <a:lnTo>
                  <a:pt x="62484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4980432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4916423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64008" y="0"/>
                </a:moveTo>
                <a:lnTo>
                  <a:pt x="0" y="0"/>
                </a:lnTo>
                <a:lnTo>
                  <a:pt x="0" y="6858000"/>
                </a:lnTo>
                <a:lnTo>
                  <a:pt x="64008" y="6858000"/>
                </a:lnTo>
                <a:lnTo>
                  <a:pt x="64008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5114544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2" y="6858000"/>
                </a:lnTo>
                <a:lnTo>
                  <a:pt x="6553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5047488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67055" y="0"/>
                </a:moveTo>
                <a:lnTo>
                  <a:pt x="0" y="0"/>
                </a:lnTo>
                <a:lnTo>
                  <a:pt x="0" y="6858000"/>
                </a:lnTo>
                <a:lnTo>
                  <a:pt x="67055" y="6858000"/>
                </a:lnTo>
                <a:lnTo>
                  <a:pt x="67055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5245608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5180076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5378196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0" y="6858000"/>
                </a:moveTo>
                <a:lnTo>
                  <a:pt x="64007" y="6858000"/>
                </a:lnTo>
                <a:lnTo>
                  <a:pt x="6400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5312664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5504688" y="0"/>
            <a:ext cx="71755" cy="6858000"/>
          </a:xfrm>
          <a:custGeom>
            <a:avLst/>
            <a:gdLst/>
            <a:ahLst/>
            <a:cxnLst/>
            <a:rect l="l" t="t" r="r" b="b"/>
            <a:pathLst>
              <a:path w="71754" h="6858000">
                <a:moveTo>
                  <a:pt x="0" y="6858000"/>
                </a:moveTo>
                <a:lnTo>
                  <a:pt x="71627" y="6858000"/>
                </a:lnTo>
                <a:lnTo>
                  <a:pt x="7162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5442203" y="0"/>
            <a:ext cx="62865" cy="6858000"/>
          </a:xfrm>
          <a:custGeom>
            <a:avLst/>
            <a:gdLst/>
            <a:ahLst/>
            <a:cxnLst/>
            <a:rect l="l" t="t" r="r" b="b"/>
            <a:pathLst>
              <a:path w="62864" h="6858000">
                <a:moveTo>
                  <a:pt x="62484" y="0"/>
                </a:moveTo>
                <a:lnTo>
                  <a:pt x="0" y="0"/>
                </a:lnTo>
                <a:lnTo>
                  <a:pt x="0" y="6858000"/>
                </a:lnTo>
                <a:lnTo>
                  <a:pt x="62484" y="6858000"/>
                </a:lnTo>
                <a:lnTo>
                  <a:pt x="62484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5638800" y="0"/>
            <a:ext cx="70485" cy="6858000"/>
          </a:xfrm>
          <a:custGeom>
            <a:avLst/>
            <a:gdLst/>
            <a:ahLst/>
            <a:cxnLst/>
            <a:rect l="l" t="t" r="r" b="b"/>
            <a:pathLst>
              <a:path w="70485" h="6858000">
                <a:moveTo>
                  <a:pt x="0" y="6858000"/>
                </a:moveTo>
                <a:lnTo>
                  <a:pt x="70103" y="6858000"/>
                </a:lnTo>
                <a:lnTo>
                  <a:pt x="70103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5576315" y="0"/>
            <a:ext cx="62865" cy="6858000"/>
          </a:xfrm>
          <a:custGeom>
            <a:avLst/>
            <a:gdLst/>
            <a:ahLst/>
            <a:cxnLst/>
            <a:rect l="l" t="t" r="r" b="b"/>
            <a:pathLst>
              <a:path w="62864" h="6858000">
                <a:moveTo>
                  <a:pt x="62484" y="0"/>
                </a:moveTo>
                <a:lnTo>
                  <a:pt x="0" y="0"/>
                </a:lnTo>
                <a:lnTo>
                  <a:pt x="0" y="6858000"/>
                </a:lnTo>
                <a:lnTo>
                  <a:pt x="62484" y="6858000"/>
                </a:lnTo>
                <a:lnTo>
                  <a:pt x="62484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5772911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5708903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64008" y="0"/>
                </a:moveTo>
                <a:lnTo>
                  <a:pt x="0" y="0"/>
                </a:lnTo>
                <a:lnTo>
                  <a:pt x="0" y="6858000"/>
                </a:lnTo>
                <a:lnTo>
                  <a:pt x="64008" y="6858000"/>
                </a:lnTo>
                <a:lnTo>
                  <a:pt x="64008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5907023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2" y="6858000"/>
                </a:lnTo>
                <a:lnTo>
                  <a:pt x="6553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5839967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67055" y="0"/>
                </a:moveTo>
                <a:lnTo>
                  <a:pt x="0" y="0"/>
                </a:lnTo>
                <a:lnTo>
                  <a:pt x="0" y="6858000"/>
                </a:lnTo>
                <a:lnTo>
                  <a:pt x="67055" y="6858000"/>
                </a:lnTo>
                <a:lnTo>
                  <a:pt x="67055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6038088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6" y="6858000"/>
                </a:lnTo>
                <a:lnTo>
                  <a:pt x="670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5972555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6170676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6105144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6303264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6237732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6431279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79" h="6858000">
                <a:moveTo>
                  <a:pt x="0" y="6858000"/>
                </a:moveTo>
                <a:lnTo>
                  <a:pt x="68579" y="6858000"/>
                </a:lnTo>
                <a:lnTo>
                  <a:pt x="6857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6368796" y="0"/>
            <a:ext cx="62865" cy="6858000"/>
          </a:xfrm>
          <a:custGeom>
            <a:avLst/>
            <a:gdLst/>
            <a:ahLst/>
            <a:cxnLst/>
            <a:rect l="l" t="t" r="r" b="b"/>
            <a:pathLst>
              <a:path w="62864" h="6858000">
                <a:moveTo>
                  <a:pt x="62484" y="0"/>
                </a:moveTo>
                <a:lnTo>
                  <a:pt x="0" y="0"/>
                </a:lnTo>
                <a:lnTo>
                  <a:pt x="0" y="6858000"/>
                </a:lnTo>
                <a:lnTo>
                  <a:pt x="62484" y="6858000"/>
                </a:lnTo>
                <a:lnTo>
                  <a:pt x="62484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6565392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6499859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6697980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bg object 100"/>
          <p:cNvSpPr/>
          <p:nvPr/>
        </p:nvSpPr>
        <p:spPr>
          <a:xfrm>
            <a:off x="6632447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bg object 101"/>
          <p:cNvSpPr/>
          <p:nvPr/>
        </p:nvSpPr>
        <p:spPr>
          <a:xfrm>
            <a:off x="6830568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0" y="6858000"/>
                </a:moveTo>
                <a:lnTo>
                  <a:pt x="65532" y="6858000"/>
                </a:lnTo>
                <a:lnTo>
                  <a:pt x="6553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6765035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bg object 103"/>
          <p:cNvSpPr/>
          <p:nvPr/>
        </p:nvSpPr>
        <p:spPr>
          <a:xfrm>
            <a:off x="6963156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bg object 104"/>
          <p:cNvSpPr/>
          <p:nvPr/>
        </p:nvSpPr>
        <p:spPr>
          <a:xfrm>
            <a:off x="6896100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67055" y="0"/>
                </a:moveTo>
                <a:lnTo>
                  <a:pt x="0" y="0"/>
                </a:lnTo>
                <a:lnTo>
                  <a:pt x="0" y="6858000"/>
                </a:lnTo>
                <a:lnTo>
                  <a:pt x="67055" y="6858000"/>
                </a:lnTo>
                <a:lnTo>
                  <a:pt x="67055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7094219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6" y="6858000"/>
                </a:lnTo>
                <a:lnTo>
                  <a:pt x="670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7030211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4" h="6858000">
                <a:moveTo>
                  <a:pt x="64007" y="0"/>
                </a:moveTo>
                <a:lnTo>
                  <a:pt x="0" y="0"/>
                </a:lnTo>
                <a:lnTo>
                  <a:pt x="0" y="6858000"/>
                </a:lnTo>
                <a:lnTo>
                  <a:pt x="64007" y="6858000"/>
                </a:lnTo>
                <a:lnTo>
                  <a:pt x="64007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bg object 107"/>
          <p:cNvSpPr/>
          <p:nvPr/>
        </p:nvSpPr>
        <p:spPr>
          <a:xfrm>
            <a:off x="7223759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79" h="6858000">
                <a:moveTo>
                  <a:pt x="0" y="6858000"/>
                </a:moveTo>
                <a:lnTo>
                  <a:pt x="68580" y="6858000"/>
                </a:lnTo>
                <a:lnTo>
                  <a:pt x="685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bg object 108"/>
          <p:cNvSpPr/>
          <p:nvPr/>
        </p:nvSpPr>
        <p:spPr>
          <a:xfrm>
            <a:off x="7161276" y="0"/>
            <a:ext cx="62865" cy="6858000"/>
          </a:xfrm>
          <a:custGeom>
            <a:avLst/>
            <a:gdLst/>
            <a:ahLst/>
            <a:cxnLst/>
            <a:rect l="l" t="t" r="r" b="b"/>
            <a:pathLst>
              <a:path w="62865" h="6858000">
                <a:moveTo>
                  <a:pt x="62483" y="0"/>
                </a:moveTo>
                <a:lnTo>
                  <a:pt x="0" y="0"/>
                </a:lnTo>
                <a:lnTo>
                  <a:pt x="0" y="6858000"/>
                </a:lnTo>
                <a:lnTo>
                  <a:pt x="62483" y="6858000"/>
                </a:lnTo>
                <a:lnTo>
                  <a:pt x="62483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bg object 109"/>
          <p:cNvSpPr/>
          <p:nvPr/>
        </p:nvSpPr>
        <p:spPr>
          <a:xfrm>
            <a:off x="7357871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bg object 110"/>
          <p:cNvSpPr/>
          <p:nvPr/>
        </p:nvSpPr>
        <p:spPr>
          <a:xfrm>
            <a:off x="7292340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bg object 111"/>
          <p:cNvSpPr/>
          <p:nvPr/>
        </p:nvSpPr>
        <p:spPr>
          <a:xfrm>
            <a:off x="7490459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6" y="6858000"/>
                </a:lnTo>
                <a:lnTo>
                  <a:pt x="670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bg object 112"/>
          <p:cNvSpPr/>
          <p:nvPr/>
        </p:nvSpPr>
        <p:spPr>
          <a:xfrm>
            <a:off x="7424928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7623047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bg object 114"/>
          <p:cNvSpPr/>
          <p:nvPr/>
        </p:nvSpPr>
        <p:spPr>
          <a:xfrm>
            <a:off x="7557516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bg object 115"/>
          <p:cNvSpPr/>
          <p:nvPr/>
        </p:nvSpPr>
        <p:spPr>
          <a:xfrm>
            <a:off x="7755635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6" y="6858000"/>
                </a:lnTo>
                <a:lnTo>
                  <a:pt x="670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bg object 116"/>
          <p:cNvSpPr/>
          <p:nvPr/>
        </p:nvSpPr>
        <p:spPr>
          <a:xfrm>
            <a:off x="7688580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67055" y="0"/>
                </a:moveTo>
                <a:lnTo>
                  <a:pt x="0" y="0"/>
                </a:lnTo>
                <a:lnTo>
                  <a:pt x="0" y="6858000"/>
                </a:lnTo>
                <a:lnTo>
                  <a:pt x="67055" y="6858000"/>
                </a:lnTo>
                <a:lnTo>
                  <a:pt x="67055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bg object 117"/>
          <p:cNvSpPr/>
          <p:nvPr/>
        </p:nvSpPr>
        <p:spPr>
          <a:xfrm>
            <a:off x="7886700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bg object 118"/>
          <p:cNvSpPr/>
          <p:nvPr/>
        </p:nvSpPr>
        <p:spPr>
          <a:xfrm>
            <a:off x="7822692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4" h="6858000">
                <a:moveTo>
                  <a:pt x="64007" y="0"/>
                </a:moveTo>
                <a:lnTo>
                  <a:pt x="0" y="0"/>
                </a:lnTo>
                <a:lnTo>
                  <a:pt x="0" y="6858000"/>
                </a:lnTo>
                <a:lnTo>
                  <a:pt x="64007" y="6858000"/>
                </a:lnTo>
                <a:lnTo>
                  <a:pt x="64007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bg object 119"/>
          <p:cNvSpPr/>
          <p:nvPr/>
        </p:nvSpPr>
        <p:spPr>
          <a:xfrm>
            <a:off x="8016240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79" h="6858000">
                <a:moveTo>
                  <a:pt x="0" y="6858000"/>
                </a:moveTo>
                <a:lnTo>
                  <a:pt x="68580" y="6858000"/>
                </a:lnTo>
                <a:lnTo>
                  <a:pt x="685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bg object 120"/>
          <p:cNvSpPr/>
          <p:nvPr/>
        </p:nvSpPr>
        <p:spPr>
          <a:xfrm>
            <a:off x="7952231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4" h="6858000">
                <a:moveTo>
                  <a:pt x="64007" y="0"/>
                </a:moveTo>
                <a:lnTo>
                  <a:pt x="0" y="0"/>
                </a:lnTo>
                <a:lnTo>
                  <a:pt x="0" y="6858000"/>
                </a:lnTo>
                <a:lnTo>
                  <a:pt x="64007" y="6858000"/>
                </a:lnTo>
                <a:lnTo>
                  <a:pt x="64007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bg object 121"/>
          <p:cNvSpPr/>
          <p:nvPr/>
        </p:nvSpPr>
        <p:spPr>
          <a:xfrm>
            <a:off x="8150352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bg object 122"/>
          <p:cNvSpPr/>
          <p:nvPr/>
        </p:nvSpPr>
        <p:spPr>
          <a:xfrm>
            <a:off x="8084819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bg object 123"/>
          <p:cNvSpPr/>
          <p:nvPr/>
        </p:nvSpPr>
        <p:spPr>
          <a:xfrm>
            <a:off x="8282940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0" y="6858000"/>
                </a:moveTo>
                <a:lnTo>
                  <a:pt x="65532" y="6858000"/>
                </a:lnTo>
                <a:lnTo>
                  <a:pt x="6553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bg object 124"/>
          <p:cNvSpPr/>
          <p:nvPr/>
        </p:nvSpPr>
        <p:spPr>
          <a:xfrm>
            <a:off x="8217407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bg object 125"/>
          <p:cNvSpPr/>
          <p:nvPr/>
        </p:nvSpPr>
        <p:spPr>
          <a:xfrm>
            <a:off x="8415528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bg object 126"/>
          <p:cNvSpPr/>
          <p:nvPr/>
        </p:nvSpPr>
        <p:spPr>
          <a:xfrm>
            <a:off x="8348471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67055" y="0"/>
                </a:moveTo>
                <a:lnTo>
                  <a:pt x="0" y="0"/>
                </a:lnTo>
                <a:lnTo>
                  <a:pt x="0" y="6858000"/>
                </a:lnTo>
                <a:lnTo>
                  <a:pt x="67055" y="6858000"/>
                </a:lnTo>
                <a:lnTo>
                  <a:pt x="67055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bg object 127"/>
          <p:cNvSpPr/>
          <p:nvPr/>
        </p:nvSpPr>
        <p:spPr>
          <a:xfrm>
            <a:off x="8546592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6" y="6858000"/>
                </a:lnTo>
                <a:lnTo>
                  <a:pt x="670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bg object 128"/>
          <p:cNvSpPr/>
          <p:nvPr/>
        </p:nvSpPr>
        <p:spPr>
          <a:xfrm>
            <a:off x="8481059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bg object 129"/>
          <p:cNvSpPr/>
          <p:nvPr/>
        </p:nvSpPr>
        <p:spPr>
          <a:xfrm>
            <a:off x="8674607" y="0"/>
            <a:ext cx="70485" cy="6858000"/>
          </a:xfrm>
          <a:custGeom>
            <a:avLst/>
            <a:gdLst/>
            <a:ahLst/>
            <a:cxnLst/>
            <a:rect l="l" t="t" r="r" b="b"/>
            <a:pathLst>
              <a:path w="70484" h="6858000">
                <a:moveTo>
                  <a:pt x="0" y="6858000"/>
                </a:moveTo>
                <a:lnTo>
                  <a:pt x="70103" y="6858000"/>
                </a:lnTo>
                <a:lnTo>
                  <a:pt x="70103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bg object 130"/>
          <p:cNvSpPr/>
          <p:nvPr/>
        </p:nvSpPr>
        <p:spPr>
          <a:xfrm>
            <a:off x="8613647" y="0"/>
            <a:ext cx="60960" cy="6858000"/>
          </a:xfrm>
          <a:custGeom>
            <a:avLst/>
            <a:gdLst/>
            <a:ahLst/>
            <a:cxnLst/>
            <a:rect l="l" t="t" r="r" b="b"/>
            <a:pathLst>
              <a:path w="60959" h="6858000">
                <a:moveTo>
                  <a:pt x="60959" y="0"/>
                </a:moveTo>
                <a:lnTo>
                  <a:pt x="0" y="0"/>
                </a:lnTo>
                <a:lnTo>
                  <a:pt x="0" y="6858000"/>
                </a:lnTo>
                <a:lnTo>
                  <a:pt x="60959" y="6858000"/>
                </a:lnTo>
                <a:lnTo>
                  <a:pt x="60959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bg object 131"/>
          <p:cNvSpPr/>
          <p:nvPr/>
        </p:nvSpPr>
        <p:spPr>
          <a:xfrm>
            <a:off x="8808719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79" h="6858000">
                <a:moveTo>
                  <a:pt x="0" y="6858000"/>
                </a:moveTo>
                <a:lnTo>
                  <a:pt x="68580" y="6858000"/>
                </a:lnTo>
                <a:lnTo>
                  <a:pt x="685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bg object 132"/>
          <p:cNvSpPr/>
          <p:nvPr/>
        </p:nvSpPr>
        <p:spPr>
          <a:xfrm>
            <a:off x="8744711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4" h="6858000">
                <a:moveTo>
                  <a:pt x="64007" y="0"/>
                </a:moveTo>
                <a:lnTo>
                  <a:pt x="0" y="0"/>
                </a:lnTo>
                <a:lnTo>
                  <a:pt x="0" y="6858000"/>
                </a:lnTo>
                <a:lnTo>
                  <a:pt x="64007" y="6858000"/>
                </a:lnTo>
                <a:lnTo>
                  <a:pt x="64007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bg object 133"/>
          <p:cNvSpPr/>
          <p:nvPr/>
        </p:nvSpPr>
        <p:spPr>
          <a:xfrm>
            <a:off x="8942831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6" y="6858000"/>
                </a:lnTo>
                <a:lnTo>
                  <a:pt x="670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bg object 134"/>
          <p:cNvSpPr/>
          <p:nvPr/>
        </p:nvSpPr>
        <p:spPr>
          <a:xfrm>
            <a:off x="8877300" y="0"/>
            <a:ext cx="198120" cy="6858000"/>
          </a:xfrm>
          <a:custGeom>
            <a:avLst/>
            <a:gdLst/>
            <a:ahLst/>
            <a:cxnLst/>
            <a:rect l="l" t="t" r="r" b="b"/>
            <a:pathLst>
              <a:path w="198120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  <a:path w="198120" h="6858000">
                <a:moveTo>
                  <a:pt x="198120" y="0"/>
                </a:moveTo>
                <a:lnTo>
                  <a:pt x="132588" y="0"/>
                </a:lnTo>
                <a:lnTo>
                  <a:pt x="132588" y="6858000"/>
                </a:lnTo>
                <a:lnTo>
                  <a:pt x="198120" y="6858000"/>
                </a:lnTo>
                <a:lnTo>
                  <a:pt x="198120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bg object 135"/>
          <p:cNvSpPr/>
          <p:nvPr/>
        </p:nvSpPr>
        <p:spPr>
          <a:xfrm>
            <a:off x="1812035" y="0"/>
            <a:ext cx="7332345" cy="6849109"/>
          </a:xfrm>
          <a:custGeom>
            <a:avLst/>
            <a:gdLst/>
            <a:ahLst/>
            <a:cxnLst/>
            <a:rect l="l" t="t" r="r" b="b"/>
            <a:pathLst>
              <a:path w="7332345" h="6849109">
                <a:moveTo>
                  <a:pt x="0" y="6848855"/>
                </a:moveTo>
                <a:lnTo>
                  <a:pt x="7331963" y="6848855"/>
                </a:lnTo>
                <a:lnTo>
                  <a:pt x="7331963" y="0"/>
                </a:lnTo>
                <a:lnTo>
                  <a:pt x="0" y="0"/>
                </a:lnTo>
                <a:lnTo>
                  <a:pt x="0" y="6848855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bg object 136"/>
          <p:cNvSpPr/>
          <p:nvPr/>
        </p:nvSpPr>
        <p:spPr>
          <a:xfrm>
            <a:off x="1219200" y="1706879"/>
            <a:ext cx="6021705" cy="74930"/>
          </a:xfrm>
          <a:custGeom>
            <a:avLst/>
            <a:gdLst/>
            <a:ahLst/>
            <a:cxnLst/>
            <a:rect l="l" t="t" r="r" b="b"/>
            <a:pathLst>
              <a:path w="6021705" h="74930">
                <a:moveTo>
                  <a:pt x="6021324" y="0"/>
                </a:moveTo>
                <a:lnTo>
                  <a:pt x="0" y="0"/>
                </a:lnTo>
                <a:lnTo>
                  <a:pt x="0" y="74675"/>
                </a:lnTo>
                <a:lnTo>
                  <a:pt x="6021324" y="74675"/>
                </a:lnTo>
                <a:lnTo>
                  <a:pt x="6021324" y="0"/>
                </a:lnTo>
                <a:close/>
              </a:path>
            </a:pathLst>
          </a:custGeom>
          <a:solidFill>
            <a:srgbClr val="336699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91563" y="1066038"/>
            <a:ext cx="5960872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6F2F9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07794" y="1930349"/>
            <a:ext cx="6776720" cy="2660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8F3E7-00AD-4F35-AC57-3B52B25316D1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66800" y="838200"/>
            <a:ext cx="727773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Software Cost Estimation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F34AE7-7634-0AF1-68DD-2BA7925F62F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20552-41B2-9187-A91A-ECED7F39B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850096A-FC1D-E054-9748-D8D1D1BBDF37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0FFFFF7-8FEA-44BA-BC19-3E8D0FBCF8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23240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Software Cost Estimation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4C5C64-2690-8775-598F-87E246CC3289}"/>
              </a:ext>
            </a:extLst>
          </p:cNvPr>
          <p:cNvSpPr txBox="1"/>
          <p:nvPr/>
        </p:nvSpPr>
        <p:spPr>
          <a:xfrm>
            <a:off x="1134896" y="1919436"/>
            <a:ext cx="7315200" cy="4398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Software Cost Estimation is a process of predict /estimate the approximate cost of the software project before the development starts.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Cost estimation models are some mathematical algorithms or parametric equations that are used to estimate the cost of a product or a project.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Factors considering for Project Budgeting: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1714500" lvl="3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Specification &amp; Scope </a:t>
            </a:r>
          </a:p>
          <a:p>
            <a:pPr marL="1714500" lvl="3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Location </a:t>
            </a:r>
          </a:p>
          <a:p>
            <a:pPr marL="1714500" lvl="3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Duration </a:t>
            </a:r>
          </a:p>
          <a:p>
            <a:pPr marL="1714500" lvl="3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Project Team Efforts </a:t>
            </a:r>
          </a:p>
          <a:p>
            <a:pPr marL="1714500" lvl="3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Resources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946187-5548-BCA2-8CA0-D11E9365512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F5D806-F495-900E-AC2C-FFE0E3B9D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5432379"/>
            <a:ext cx="3919959" cy="87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765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4400" y="923240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Tools and techniques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CD1538-8F62-AF3E-F602-7AA7565F0C28}"/>
              </a:ext>
            </a:extLst>
          </p:cNvPr>
          <p:cNvSpPr txBox="1"/>
          <p:nvPr/>
        </p:nvSpPr>
        <p:spPr>
          <a:xfrm>
            <a:off x="914400" y="1905000"/>
            <a:ext cx="7315200" cy="5035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Expert Judgment: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experts are the people who have prior knowledge on similar kind of projects.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So they can suggest valuable insight based on their experience.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You can also take their advice on various tools and techniques that can be used to estimate similar kind of project.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Analogous Estimation: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It uses historical data from similar projects like scope, budget, duration, size, weight and complexity etc.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It measures the current project on that basis and does the estimation.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It used in the early phases of a project and is less costly, time &amp; accurate than other methods.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247197-EA7C-C7B2-BFCE-97D6C47A29D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408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C5C3C-82F8-0D95-1623-5D8459F04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FFB4FB6-688B-3E3A-3EFF-89534EB80AFD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33A25CE-49F8-1A9F-DEAE-9EC8895B25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23240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Tools and techniques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E7BF8D-E50B-BCBD-3757-B60A928A2B7E}"/>
              </a:ext>
            </a:extLst>
          </p:cNvPr>
          <p:cNvSpPr txBox="1"/>
          <p:nvPr/>
        </p:nvSpPr>
        <p:spPr>
          <a:xfrm>
            <a:off x="895149" y="1905000"/>
            <a:ext cx="7763256" cy="5035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Parametric Estimation: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It analyze a past project and get the man-hours for each unit.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Then it estimate the total man-hour for the new project's activity.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It use statistical modelling technique to identify both cost and time for current project using data from past projects.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Bottom-up Estimation: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In WPS, All the project is divided into smaller work packages &amp; cost of each work package is estimated one by one.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It estimate every single activity and rolling them up into an overall project estimate.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It is a time consuming and costly technique but it provides the most accurate estimation.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DACE2C-9A8B-280E-0AD4-40491F577CB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508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EBB9A-B2C7-EAF6-E84B-48B3D9DBB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D5F1933-EFD7-975C-FA2C-808C13BB8D69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9B32973-9B77-B254-4AE9-839745091C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23240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Tools and techniques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2CCEEB-BBAF-698F-39B1-A55277B70B84}"/>
              </a:ext>
            </a:extLst>
          </p:cNvPr>
          <p:cNvSpPr txBox="1"/>
          <p:nvPr/>
        </p:nvSpPr>
        <p:spPr>
          <a:xfrm>
            <a:off x="914400" y="1981200"/>
            <a:ext cx="7763256" cy="3772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Three-Point Estimation: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To deal with uncertainties and risk PERT (Program Evaluation and Review Technique) method is used.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Most Likely Estimate: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Assuming a normal case in which everything goes as usual.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Pessimistic Estimate: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Assuming everything goes wrong i.e. worst case scenario.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Optimistic Estimate: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Assuming everything goes as planned i.e. best case scenario.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668294-C9F4-723D-5026-A26F20A9AAF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299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F3079-1BDA-DC9A-EBC0-36D97C9E3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8C0D155-AD82-CEA4-1640-7C7997FE1793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B7B69EB-1826-636F-B300-AEBF1E6349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23240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Tools and techniques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42812D-F21B-850E-118B-A75342CB0C04}"/>
              </a:ext>
            </a:extLst>
          </p:cNvPr>
          <p:cNvSpPr txBox="1"/>
          <p:nvPr/>
        </p:nvSpPr>
        <p:spPr>
          <a:xfrm>
            <a:off x="895149" y="1905000"/>
            <a:ext cx="7763256" cy="4242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Reserve Analysis: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It is important to keep the reserve budget to deal with uncertain events.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Project manager need to take approval from the sponsors for management of reserve budget.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Cost of Quality: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Includes money spent during the project to avoid failures and money spent during &amp; after the project due to failures.</a:t>
            </a:r>
          </a:p>
          <a:p>
            <a:pPr>
              <a:buNone/>
            </a:pPr>
            <a:r>
              <a:rPr lang="en-US" b="1" dirty="0"/>
              <a:t>Vendor Bid Analysis: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to estimate what the project should cost by comparing the bids submitted by multiple vendors.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0846D0-DDD2-03FB-7218-D1FD0ED3819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818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DC719-83E2-BB02-DA3D-3BEB48B24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A9A80F8-97F5-4ED3-2F06-19AEA4CC57E6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2B04F32-800B-588F-FAD6-A2E1756E2C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23240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COCOMO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90AAA0-BA73-E616-AC7E-AB500303F502}"/>
              </a:ext>
            </a:extLst>
          </p:cNvPr>
          <p:cNvSpPr txBox="1"/>
          <p:nvPr/>
        </p:nvSpPr>
        <p:spPr>
          <a:xfrm>
            <a:off x="984885" y="2057400"/>
            <a:ext cx="7763256" cy="3032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It was developed by a scientist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Barry Boehm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in 1981.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COCOMO (Constructive Cost Model)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is one of the most popularly used software cost estimation models.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This model depends on the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size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means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number of lines of code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for software product development.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It estimates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Effort required for project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,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Total project cost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&amp;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Scheduled time of project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171148-6AC6-D391-C3F0-A825A42F91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49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5324A-CAF3-116F-70BF-7D55F37E0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266BDC3-5018-BF4D-42A3-794097431E4A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7BD57D2-E21E-24C9-CC0A-257E3C01EC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23240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Software Project Types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FAD1BE-53BE-CEAC-BA03-F502373D9F11}"/>
              </a:ext>
            </a:extLst>
          </p:cNvPr>
          <p:cNvSpPr txBox="1"/>
          <p:nvPr/>
        </p:nvSpPr>
        <p:spPr>
          <a:xfrm>
            <a:off x="984885" y="2057400"/>
            <a:ext cx="7763256" cy="3658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In COCOMO, projects are categorized into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three types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: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1. Organic Type: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Project is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small and simple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(2-50 KLOC)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Few Requirements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of projects.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Project team is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small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with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prior experience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problem is well understood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and has been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solved in the past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Examples: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Simple Inventory Management Systems &amp; Data Processing Systems.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5BFFA4-4A5B-53F8-7225-7B5DA0DFE6B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361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38A95-23F5-EB1E-993B-0C1C0BF84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BE53958-FAB1-54C3-27CC-A18CE374783D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442034C-7E20-DCDC-017B-E83D92E14F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23240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Software Project Types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D37160-26F8-2BD1-48DA-564D828C4502}"/>
              </a:ext>
            </a:extLst>
          </p:cNvPr>
          <p:cNvSpPr txBox="1"/>
          <p:nvPr/>
        </p:nvSpPr>
        <p:spPr>
          <a:xfrm>
            <a:off x="913598" y="1828800"/>
            <a:ext cx="8159115" cy="5343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2. Semidetached Type: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Medium size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and has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mixed rigid requirements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. (50-300 KLOC)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Project has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Complexity not too high &amp; low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Both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experienced and inexperienced members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in Project Team.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Project are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few known and few unknown modules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Examples: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Database Management System, Difficult inventory management system.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3. Embedded Type: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Large project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with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fixed requirements of resources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. (More than 300 KLOC)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Larger team size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with little previous experience.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Highest level of complexity, creativity and experience requirement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Examples: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ATM, Air Traffic control, Banking software.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2E19B1-C616-EEE9-3DE0-25AB9EB22FE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47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CAEC1-9810-E7F4-39F3-658C09EDA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DCF7D9C-5F74-FA68-D029-94A75999D3E5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742E327-AA32-AA5A-F8E9-088E2375F7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23240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Types of COCOMO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A545C7-9C5E-A3B6-72CC-D2132EC648C8}"/>
              </a:ext>
            </a:extLst>
          </p:cNvPr>
          <p:cNvSpPr txBox="1"/>
          <p:nvPr/>
        </p:nvSpPr>
        <p:spPr>
          <a:xfrm>
            <a:off x="1905000" y="2362200"/>
            <a:ext cx="8159115" cy="1234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Basic COCOMO Model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Intermediate COCOMO Model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Complete/ Detailed COCOMO Model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CEA8AD-6D3F-FEC3-38E7-8417881F8C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15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C5A17-75F9-D693-9607-F30B8D5DB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BC16142-EFA8-FB38-797F-F48AFEAD073E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DDB9811-B4D0-CF0A-5EF3-73201A5A00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6800" y="533400"/>
            <a:ext cx="7535696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Basic COCOMO Model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3BE539-74C5-90D3-29A7-2CAC1A584A03}"/>
              </a:ext>
            </a:extLst>
          </p:cNvPr>
          <p:cNvSpPr txBox="1"/>
          <p:nvPr/>
        </p:nvSpPr>
        <p:spPr>
          <a:xfrm>
            <a:off x="1128141" y="2286000"/>
            <a:ext cx="7620000" cy="195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Key Characteristics: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It is a type of static model to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estimates software development effort quickly and roughly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It mainly deals with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number of lines of code in project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.</a:t>
            </a: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9DC3BE-FE2E-6680-BF4D-D812D32C40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53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D5BE6-B452-8F62-BE13-9A62A9589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4497114-F0EF-3D3B-1D19-19EC645957A8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82F5F62-49FF-CB69-1EFE-0D7BBE8B62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6800" y="533400"/>
            <a:ext cx="7535696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Basic COCOMO Model 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C96348F-CEBF-7C30-54DB-577EFC36C14E}"/>
                  </a:ext>
                </a:extLst>
              </p:cNvPr>
              <p:cNvSpPr txBox="1"/>
              <p:nvPr/>
            </p:nvSpPr>
            <p:spPr>
              <a:xfrm>
                <a:off x="1092898" y="1943204"/>
                <a:ext cx="7620000" cy="3991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Vrinda" panose="020B0502040204020203" pitchFamily="34" charset="0"/>
                  </a:rPr>
                  <a:t> </a:t>
                </a:r>
                <a:r>
                  <a:rPr lang="en-US" b="1" dirty="0"/>
                  <a:t>Formula: </a:t>
                </a:r>
              </a:p>
              <a:p>
                <a:r>
                  <a:rPr lang="en-US" b="1" dirty="0"/>
                  <a:t>Effort (E)</a:t>
                </a:r>
                <a:r>
                  <a:rPr lang="en-US" dirty="0"/>
                  <a:t> :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𝐾𝐿𝑂𝐶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1" dirty="0"/>
                  <a:t>  MM</a:t>
                </a:r>
                <a:endParaRPr lang="ar-AE" dirty="0"/>
              </a:p>
              <a:p>
                <a:r>
                  <a:rPr lang="en-US" dirty="0"/>
                  <a:t>Effort is measured in </a:t>
                </a:r>
                <a:r>
                  <a:rPr lang="en-US" b="1" dirty="0"/>
                  <a:t>Man-Months (MM)</a:t>
                </a:r>
                <a:r>
                  <a:rPr lang="en-US" dirty="0"/>
                  <a:t>.</a:t>
                </a:r>
              </a:p>
              <a:p>
                <a:endParaRPr lang="en-US" sz="1100" dirty="0"/>
              </a:p>
              <a:p>
                <a:r>
                  <a:rPr lang="en-US" b="1" dirty="0"/>
                  <a:t>Scheduled Time (D)</a:t>
                </a:r>
                <a:r>
                  <a:rPr lang="en-US" dirty="0"/>
                  <a:t>: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M</a:t>
                </a:r>
                <a:endParaRPr lang="ar-AE" dirty="0"/>
              </a:p>
              <a:p>
                <a:r>
                  <a:rPr lang="en-US" dirty="0"/>
                  <a:t>Scheduled time is measured in </a:t>
                </a:r>
                <a:r>
                  <a:rPr lang="en-US" b="1" dirty="0"/>
                  <a:t>Months (M)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b="1" dirty="0"/>
                  <a:t>Where</a:t>
                </a:r>
              </a:p>
              <a:p>
                <a:r>
                  <a:rPr lang="en-US" b="1" dirty="0"/>
                  <a:t>E</a:t>
                </a:r>
                <a:r>
                  <a:rPr lang="en-US" dirty="0"/>
                  <a:t> = Total effort required for the project in </a:t>
                </a:r>
                <a:r>
                  <a:rPr lang="en-US" b="1" dirty="0"/>
                  <a:t>Man-Months (MM)</a:t>
                </a:r>
                <a:endParaRPr lang="en-US" dirty="0"/>
              </a:p>
              <a:p>
                <a:r>
                  <a:rPr lang="en-US" b="1" dirty="0"/>
                  <a:t>D</a:t>
                </a:r>
                <a:r>
                  <a:rPr lang="en-US" dirty="0"/>
                  <a:t> = Total time required for project development in </a:t>
                </a:r>
                <a:r>
                  <a:rPr lang="en-US" b="1" dirty="0"/>
                  <a:t>Months (M)</a:t>
                </a:r>
                <a:endParaRPr lang="en-US" dirty="0"/>
              </a:p>
              <a:p>
                <a:r>
                  <a:rPr lang="en-US" b="1" dirty="0"/>
                  <a:t>KLOC</a:t>
                </a:r>
                <a:r>
                  <a:rPr lang="en-US" dirty="0"/>
                  <a:t> = Size of the project measured in </a:t>
                </a:r>
                <a:r>
                  <a:rPr lang="en-US" b="1" dirty="0"/>
                  <a:t>Kilo Lines of Code</a:t>
                </a:r>
                <a:endParaRPr lang="en-US" dirty="0"/>
              </a:p>
              <a:p>
                <a:r>
                  <a:rPr lang="en-US" b="1" dirty="0"/>
                  <a:t>a, b, c, d</a:t>
                </a:r>
                <a:r>
                  <a:rPr lang="en-US" dirty="0"/>
                  <a:t> = Constant parameters that depend on the </a:t>
                </a:r>
                <a:r>
                  <a:rPr lang="en-US" b="1" dirty="0"/>
                  <a:t>type of software project</a:t>
                </a:r>
                <a:endParaRPr lang="en-US" dirty="0"/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Vrinda" panose="020B0502040204020203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C96348F-CEBF-7C30-54DB-577EFC36C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898" y="1943204"/>
                <a:ext cx="7620000" cy="3991221"/>
              </a:xfrm>
              <a:prstGeom prst="rect">
                <a:avLst/>
              </a:prstGeom>
              <a:blipFill>
                <a:blip r:embed="rId2"/>
                <a:stretch>
                  <a:fillRect l="-640" t="-15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361069-5F95-2A9C-426F-D62116905D3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532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F6CFC-87D8-8318-2320-1440A9B66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73FE71E-8B42-B338-DC23-CC25E2270512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5A30B6E-4D92-37AB-B740-2A4119192B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6800" y="533400"/>
            <a:ext cx="7535696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Basic COCOMO Model Overview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061FF-3DB8-F439-D7B8-015715BC480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CCD6A0-A1E3-7B4B-2CA0-1385BFB4B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02539"/>
              </p:ext>
            </p:extLst>
          </p:nvPr>
        </p:nvGraphicFramePr>
        <p:xfrm>
          <a:off x="1446128" y="2590800"/>
          <a:ext cx="6777040" cy="173736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525672">
                  <a:extLst>
                    <a:ext uri="{9D8B030D-6E8A-4147-A177-3AD203B41FA5}">
                      <a16:colId xmlns:a16="http://schemas.microsoft.com/office/drawing/2014/main" val="1022220256"/>
                    </a:ext>
                  </a:extLst>
                </a:gridCol>
                <a:gridCol w="1185144">
                  <a:extLst>
                    <a:ext uri="{9D8B030D-6E8A-4147-A177-3AD203B41FA5}">
                      <a16:colId xmlns:a16="http://schemas.microsoft.com/office/drawing/2014/main" val="241290701"/>
                    </a:ext>
                  </a:extLst>
                </a:gridCol>
                <a:gridCol w="1355408">
                  <a:extLst>
                    <a:ext uri="{9D8B030D-6E8A-4147-A177-3AD203B41FA5}">
                      <a16:colId xmlns:a16="http://schemas.microsoft.com/office/drawing/2014/main" val="2889617471"/>
                    </a:ext>
                  </a:extLst>
                </a:gridCol>
                <a:gridCol w="1355408">
                  <a:extLst>
                    <a:ext uri="{9D8B030D-6E8A-4147-A177-3AD203B41FA5}">
                      <a16:colId xmlns:a16="http://schemas.microsoft.com/office/drawing/2014/main" val="999925887"/>
                    </a:ext>
                  </a:extLst>
                </a:gridCol>
                <a:gridCol w="1355408">
                  <a:extLst>
                    <a:ext uri="{9D8B030D-6E8A-4147-A177-3AD203B41FA5}">
                      <a16:colId xmlns:a16="http://schemas.microsoft.com/office/drawing/2014/main" val="417978166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Project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45683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Organic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2.4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1.05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0.38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041134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Semi-detached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3.0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1.12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0.35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977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Embedded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3.6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1.20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0.32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9046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2695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F9AFD-51D9-C49A-1C8E-4DEF95758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3F763AF-B33F-A47A-1405-AA09C367A765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984E3D5-3CF9-5F12-4F74-3FD9A8EBB7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6800" y="533400"/>
            <a:ext cx="7535696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Basic COCOMO Model 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1CA97B-1492-B57F-E0C0-D4365CE8AE22}"/>
                  </a:ext>
                </a:extLst>
              </p:cNvPr>
              <p:cNvSpPr txBox="1"/>
              <p:nvPr/>
            </p:nvSpPr>
            <p:spPr>
              <a:xfrm>
                <a:off x="533400" y="1776689"/>
                <a:ext cx="7840496" cy="4122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None/>
                </a:pPr>
                <a:endParaRPr lang="en-US" b="1" dirty="0"/>
              </a:p>
              <a:p>
                <a:pPr>
                  <a:buNone/>
                </a:pPr>
                <a:r>
                  <a:rPr lang="en-US" b="1" dirty="0"/>
                  <a:t>Problem Statement</a:t>
                </a:r>
              </a:p>
              <a:p>
                <a:pPr>
                  <a:buNone/>
                </a:pPr>
                <a:r>
                  <a:rPr lang="en-US" dirty="0"/>
                  <a:t>Consider a software project that follows the </a:t>
                </a:r>
                <a:r>
                  <a:rPr lang="en-US" b="1" dirty="0"/>
                  <a:t>semi-detached mode</a:t>
                </a:r>
                <a:r>
                  <a:rPr lang="en-US" dirty="0"/>
                  <a:t> with </a:t>
                </a:r>
                <a:r>
                  <a:rPr lang="en-US" b="1" dirty="0"/>
                  <a:t>300 KLOC</a:t>
                </a:r>
                <a:r>
                  <a:rPr lang="en-US" dirty="0"/>
                  <a:t>.</a:t>
                </a:r>
                <a:br>
                  <a:rPr lang="en-US" dirty="0"/>
                </a:br>
                <a:r>
                  <a:rPr lang="en-US" dirty="0"/>
                  <a:t>Find the </a:t>
                </a:r>
                <a:r>
                  <a:rPr lang="en-US" b="1" dirty="0"/>
                  <a:t>Effort estimation, Development time, and Person estimation</a:t>
                </a:r>
                <a:r>
                  <a:rPr lang="en-US" dirty="0"/>
                  <a:t>.</a:t>
                </a:r>
              </a:p>
              <a:p>
                <a:endParaRPr lang="en-US" sz="1000" dirty="0"/>
              </a:p>
              <a:p>
                <a:r>
                  <a:rPr lang="en-US" b="1" dirty="0"/>
                  <a:t>Solution-</a:t>
                </a:r>
              </a:p>
              <a:p>
                <a:br>
                  <a:rPr lang="en-US" dirty="0"/>
                </a:br>
                <a:r>
                  <a:rPr lang="en-US" dirty="0"/>
                  <a:t>Using the constants for Semi-detached mode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35</m:t>
                        </m:r>
                      </m:e>
                    </m:d>
                  </m:oMath>
                </a14:m>
                <a:r>
                  <a:rPr lang="ar-AE" dirty="0"/>
                  <a:t>:</a:t>
                </a:r>
                <a:endParaRPr lang="en-US" dirty="0"/>
              </a:p>
              <a:p>
                <a:endParaRPr lang="ar-AE" dirty="0"/>
              </a:p>
              <a:p>
                <a:r>
                  <a:rPr lang="en-US" dirty="0"/>
                  <a:t>Effort (E)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𝐾𝐿𝑂𝐶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e>
                    </m:d>
                  </m:oMath>
                </a14:m>
                <a:br>
                  <a:rPr lang="ar-AE" dirty="0"/>
                </a:br>
                <a:r>
                  <a:rPr lang="ar-AE" dirty="0"/>
                  <a:t>= </a:t>
                </a: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300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e>
                    </m:d>
                  </m:oMath>
                </a14:m>
                <a:br>
                  <a:rPr lang="ar-AE" dirty="0"/>
                </a:br>
                <a:r>
                  <a:rPr lang="ar-AE" dirty="0"/>
                  <a:t>= </a:t>
                </a:r>
                <a:r>
                  <a:rPr lang="ar-AE" b="1" dirty="0"/>
                  <a:t>1784.42 </a:t>
                </a:r>
                <a:r>
                  <a:rPr lang="en-US" b="1" dirty="0"/>
                  <a:t>PM</a:t>
                </a:r>
                <a:endParaRPr lang="en-US" dirty="0"/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1CA97B-1492-B57F-E0C0-D4365CE8A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776689"/>
                <a:ext cx="7840496" cy="4122282"/>
              </a:xfrm>
              <a:prstGeom prst="rect">
                <a:avLst/>
              </a:prstGeom>
              <a:blipFill>
                <a:blip r:embed="rId2"/>
                <a:stretch>
                  <a:fillRect l="-778" b="-17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8BDDB-0DD3-6CC1-AB35-3F44E914F55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BFD912B-9639-3606-92ED-D30B7C5A47D6}"/>
                  </a:ext>
                </a:extLst>
              </p:cNvPr>
              <p:cNvSpPr/>
              <p:nvPr/>
            </p:nvSpPr>
            <p:spPr>
              <a:xfrm>
                <a:off x="4924926" y="3124200"/>
                <a:ext cx="3657600" cy="26670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dirty="0"/>
                  <a:t>Development Time (D)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br>
                  <a:rPr lang="ar-AE" dirty="0"/>
                </a:br>
                <a:r>
                  <a:rPr lang="ar-AE" dirty="0"/>
                  <a:t>= </a:t>
                </a: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1784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42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35</m:t>
                            </m:r>
                          </m:sup>
                        </m:sSup>
                      </m:e>
                    </m:d>
                  </m:oMath>
                </a14:m>
                <a:br>
                  <a:rPr lang="ar-AE" dirty="0"/>
                </a:br>
                <a:r>
                  <a:rPr lang="ar-AE" dirty="0"/>
                  <a:t>= </a:t>
                </a:r>
                <a:r>
                  <a:rPr lang="ar-AE" b="1" dirty="0"/>
                  <a:t>34.35 </a:t>
                </a:r>
                <a:r>
                  <a:rPr lang="en-US" b="1" dirty="0"/>
                  <a:t>Months (M)</a:t>
                </a:r>
              </a:p>
              <a:p>
                <a:endParaRPr lang="en-US" dirty="0"/>
              </a:p>
              <a:p>
                <a:r>
                  <a:rPr lang="en-US" dirty="0"/>
                  <a:t>Person Required (P)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=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1784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>
                        <a:latin typeface="Cambria Math" panose="02040503050406030204" pitchFamily="18" charset="0"/>
                      </a:rPr>
                      <m:t>42</m:t>
                    </m:r>
                    <m:r>
                      <a:rPr lang="en-US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34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= </a:t>
                </a:r>
                <a:r>
                  <a:rPr lang="en-US" b="1" dirty="0"/>
                  <a:t>51.9481 Persons ≈ 52 Persons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BFD912B-9639-3606-92ED-D30B7C5A47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4926" y="3124200"/>
                <a:ext cx="3657600" cy="2667000"/>
              </a:xfrm>
              <a:prstGeom prst="rect">
                <a:avLst/>
              </a:prstGeom>
              <a:blipFill>
                <a:blip r:embed="rId3"/>
                <a:stretch>
                  <a:fillRect l="-1325" t="-26304" r="-71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6431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E4850-A6CF-ED1E-9592-2A5AF8CA7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D012423-D71E-CE2E-094C-959AC360FEBF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B147029-FC25-F8F8-DA86-3E5E2B0679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8253" y="876081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Intermediate COCOMO Model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F7A042-8AA2-E23A-C845-B204E55B9235}"/>
                  </a:ext>
                </a:extLst>
              </p:cNvPr>
              <p:cNvSpPr txBox="1"/>
              <p:nvPr/>
            </p:nvSpPr>
            <p:spPr>
              <a:xfrm>
                <a:off x="907645" y="1828800"/>
                <a:ext cx="7840496" cy="4824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marR="0" lvl="0" indent="-342900">
                  <a:lnSpc>
                    <a:spcPct val="115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sz="18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Vrinda" panose="020B0502040204020203" pitchFamily="34" charset="0"/>
                  </a:rPr>
                  <a:t>Extension of </a:t>
                </a:r>
                <a:r>
                  <a:rPr lang="en-US" sz="1800" b="1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Vrinda" panose="020B0502040204020203" pitchFamily="34" charset="0"/>
                  </a:rPr>
                  <a:t>Basic COCOMO model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Vrinda" panose="020B0502040204020203" pitchFamily="34" charset="0"/>
                  </a:rPr>
                  <a:t> which </a:t>
                </a:r>
                <a:r>
                  <a:rPr lang="en-US" sz="1800" b="1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Vrinda" panose="020B0502040204020203" pitchFamily="34" charset="0"/>
                  </a:rPr>
                  <a:t>enhance more accuracy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Vrinda" panose="020B0502040204020203" pitchFamily="34" charset="0"/>
                  </a:rPr>
                  <a:t> to cost estimation model result.</a:t>
                </a:r>
              </a:p>
              <a:p>
                <a:pPr marL="342900" marR="0" lvl="0" indent="-342900">
                  <a:lnSpc>
                    <a:spcPct val="115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sz="18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Vrinda" panose="020B0502040204020203" pitchFamily="34" charset="0"/>
                  </a:rPr>
                  <a:t>It </a:t>
                </a:r>
                <a:r>
                  <a:rPr lang="en-US" sz="1800" b="1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Vrinda" panose="020B0502040204020203" pitchFamily="34" charset="0"/>
                  </a:rPr>
                  <a:t>include cost drivers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Vrinda" panose="020B0502040204020203" pitchFamily="34" charset="0"/>
                  </a:rPr>
                  <a:t> (Product, Hardware, Resource &amp; project Parameter) of project.</a:t>
                </a:r>
              </a:p>
              <a:p>
                <a:r>
                  <a:rPr lang="en-US" sz="18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Vrinda" panose="020B0502040204020203" pitchFamily="34" charset="0"/>
                  </a:rPr>
                  <a:t> </a:t>
                </a:r>
                <a:r>
                  <a:rPr lang="en-US" b="1" dirty="0"/>
                  <a:t>Formula:</a:t>
                </a:r>
              </a:p>
              <a:p>
                <a:r>
                  <a:rPr lang="en-US" b="1" dirty="0"/>
                  <a:t>Effort (E) 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𝐾𝐿𝑂𝐶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𝐸𝐴𝐹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MM</a:t>
                </a:r>
              </a:p>
              <a:p>
                <a:r>
                  <a:rPr lang="en-US" b="1" dirty="0"/>
                  <a:t>Scheduled Time (D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Months (M)</a:t>
                </a:r>
              </a:p>
              <a:p>
                <a:endParaRPr lang="en-US" sz="1200" dirty="0"/>
              </a:p>
              <a:p>
                <a:r>
                  <a:rPr lang="en-US" b="1" dirty="0"/>
                  <a:t>Where,</a:t>
                </a:r>
              </a:p>
              <a:p>
                <a:endParaRPr lang="en-US" sz="1000" b="1" dirty="0"/>
              </a:p>
              <a:p>
                <a:r>
                  <a:rPr lang="en-US" dirty="0"/>
                  <a:t>E = Total effort required for the project in Man-Months (MM).</a:t>
                </a:r>
                <a:br>
                  <a:rPr lang="en-US" dirty="0"/>
                </a:br>
                <a:r>
                  <a:rPr lang="en-US" dirty="0"/>
                  <a:t>D = Total time required for project development in Months (M).</a:t>
                </a:r>
                <a:br>
                  <a:rPr lang="en-US" dirty="0"/>
                </a:br>
                <a:r>
                  <a:rPr lang="en-US" dirty="0"/>
                  <a:t>KLOC = The size of the code for the project in Kilo lines of code.</a:t>
                </a:r>
                <a:br>
                  <a:rPr lang="en-US" dirty="0"/>
                </a:br>
                <a:r>
                  <a:rPr lang="en-US" dirty="0"/>
                  <a:t>a, b, c, d = The constant parameters for the software project.</a:t>
                </a: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Vrinda" panose="020B0502040204020203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F7A042-8AA2-E23A-C845-B204E55B9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645" y="1828800"/>
                <a:ext cx="7840496" cy="4824269"/>
              </a:xfrm>
              <a:prstGeom prst="rect">
                <a:avLst/>
              </a:prstGeom>
              <a:blipFill>
                <a:blip r:embed="rId2"/>
                <a:stretch>
                  <a:fillRect l="-700" t="-1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9FA830-0078-7ACD-5BE6-C2FA191F62D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897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121C-8702-C2DB-310E-F818CFE86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155577-F182-87DB-C908-C4CB2BE6C46D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26A25FE-3FEC-D208-9931-9C27B33E26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8253" y="876081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Intermediate COCOMO Model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F9F449-A784-A035-F932-85D35CEE91C0}"/>
              </a:ext>
            </a:extLst>
          </p:cNvPr>
          <p:cNvSpPr txBox="1"/>
          <p:nvPr/>
        </p:nvSpPr>
        <p:spPr>
          <a:xfrm>
            <a:off x="907645" y="1828800"/>
            <a:ext cx="7840496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Effort Adjustment Factor (EAF)</a:t>
            </a:r>
          </a:p>
          <a:p>
            <a:endParaRPr lang="en-US" sz="800" b="1" dirty="0"/>
          </a:p>
          <a:p>
            <a:r>
              <a:rPr lang="en-US" b="1" dirty="0"/>
              <a:t>EAF</a:t>
            </a:r>
            <a:r>
              <a:rPr lang="en-US" dirty="0"/>
              <a:t> is calculated by multiplying the parameter values of different </a:t>
            </a:r>
            <a:r>
              <a:rPr lang="en-US" b="1" dirty="0"/>
              <a:t>cost driver parameters</a:t>
            </a:r>
            <a:r>
              <a:rPr lang="en-US" dirty="0"/>
              <a:t>. For ideal, the value is 1.</a:t>
            </a:r>
          </a:p>
          <a:p>
            <a:endParaRPr lang="en-US" sz="1200" dirty="0"/>
          </a:p>
          <a:p>
            <a:r>
              <a:rPr lang="en-US" sz="2000" b="1" dirty="0"/>
              <a:t>Product Attributes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ED466-2A00-68C9-9A21-843E09949A5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83C1AD9-A770-F2D0-892B-7257F6C8C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99373"/>
              </p:ext>
            </p:extLst>
          </p:nvPr>
        </p:nvGraphicFramePr>
        <p:xfrm>
          <a:off x="2209800" y="3429000"/>
          <a:ext cx="5715000" cy="296988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062246">
                  <a:extLst>
                    <a:ext uri="{9D8B030D-6E8A-4147-A177-3AD203B41FA5}">
                      <a16:colId xmlns:a16="http://schemas.microsoft.com/office/drawing/2014/main" val="2519042703"/>
                    </a:ext>
                  </a:extLst>
                </a:gridCol>
                <a:gridCol w="842754">
                  <a:extLst>
                    <a:ext uri="{9D8B030D-6E8A-4147-A177-3AD203B41FA5}">
                      <a16:colId xmlns:a16="http://schemas.microsoft.com/office/drawing/2014/main" val="146594327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32580911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95063594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312168799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688641460"/>
                    </a:ext>
                  </a:extLst>
                </a:gridCol>
              </a:tblGrid>
              <a:tr h="5033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Parameter</a:t>
                      </a:r>
                    </a:p>
                  </a:txBody>
                  <a:tcPr marL="71909" marR="71909" marT="35955" marB="35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Very Low</a:t>
                      </a:r>
                    </a:p>
                  </a:txBody>
                  <a:tcPr marL="71909" marR="71909" marT="35955" marB="35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Low</a:t>
                      </a:r>
                    </a:p>
                  </a:txBody>
                  <a:tcPr marL="71909" marR="71909" marT="35955" marB="35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Nominal</a:t>
                      </a:r>
                    </a:p>
                  </a:txBody>
                  <a:tcPr marL="71909" marR="71909" marT="35955" marB="35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High</a:t>
                      </a:r>
                    </a:p>
                  </a:txBody>
                  <a:tcPr marL="71909" marR="71909" marT="35955" marB="359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Very High</a:t>
                      </a:r>
                    </a:p>
                  </a:txBody>
                  <a:tcPr marL="71909" marR="71909" marT="35955" marB="35955" anchor="ctr"/>
                </a:tc>
                <a:extLst>
                  <a:ext uri="{0D108BD9-81ED-4DB2-BD59-A6C34878D82A}">
                    <a16:rowId xmlns:a16="http://schemas.microsoft.com/office/drawing/2014/main" val="1163779647"/>
                  </a:ext>
                </a:extLst>
              </a:tr>
              <a:tr h="719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Required Software Reliability</a:t>
                      </a:r>
                      <a:endParaRPr lang="en-US" sz="1600" dirty="0"/>
                    </a:p>
                  </a:txBody>
                  <a:tcPr marL="71909" marR="71909" marT="35955" marB="3595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0.75</a:t>
                      </a:r>
                    </a:p>
                  </a:txBody>
                  <a:tcPr marL="71909" marR="71909" marT="35955" marB="3595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0.88</a:t>
                      </a:r>
                    </a:p>
                  </a:txBody>
                  <a:tcPr marL="71909" marR="71909" marT="35955" marB="3595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1</a:t>
                      </a:r>
                    </a:p>
                  </a:txBody>
                  <a:tcPr marL="71909" marR="71909" marT="35955" marB="3595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1.15</a:t>
                      </a:r>
                    </a:p>
                  </a:txBody>
                  <a:tcPr marL="71909" marR="71909" marT="35955" marB="3595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1.40</a:t>
                      </a:r>
                    </a:p>
                  </a:txBody>
                  <a:tcPr marL="71909" marR="71909" marT="35955" marB="35955" anchor="ctr"/>
                </a:tc>
                <a:extLst>
                  <a:ext uri="{0D108BD9-81ED-4DB2-BD59-A6C34878D82A}">
                    <a16:rowId xmlns:a16="http://schemas.microsoft.com/office/drawing/2014/main" val="285786581"/>
                  </a:ext>
                </a:extLst>
              </a:tr>
              <a:tr h="719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Size of Project Database</a:t>
                      </a:r>
                      <a:endParaRPr lang="en-US" sz="1600"/>
                    </a:p>
                  </a:txBody>
                  <a:tcPr marL="71909" marR="71909" marT="35955" marB="3595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NA</a:t>
                      </a:r>
                    </a:p>
                  </a:txBody>
                  <a:tcPr marL="71909" marR="71909" marT="35955" marB="3595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0.94</a:t>
                      </a:r>
                    </a:p>
                  </a:txBody>
                  <a:tcPr marL="71909" marR="71909" marT="35955" marB="3595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1</a:t>
                      </a:r>
                    </a:p>
                  </a:txBody>
                  <a:tcPr marL="71909" marR="71909" marT="35955" marB="3595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1.08</a:t>
                      </a:r>
                    </a:p>
                  </a:txBody>
                  <a:tcPr marL="71909" marR="71909" marT="35955" marB="3595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1.16</a:t>
                      </a:r>
                    </a:p>
                  </a:txBody>
                  <a:tcPr marL="71909" marR="71909" marT="35955" marB="35955" anchor="ctr"/>
                </a:tc>
                <a:extLst>
                  <a:ext uri="{0D108BD9-81ED-4DB2-BD59-A6C34878D82A}">
                    <a16:rowId xmlns:a16="http://schemas.microsoft.com/office/drawing/2014/main" val="4186515789"/>
                  </a:ext>
                </a:extLst>
              </a:tr>
              <a:tr h="719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Complexity of the Project</a:t>
                      </a:r>
                      <a:endParaRPr lang="en-US" sz="1600"/>
                    </a:p>
                  </a:txBody>
                  <a:tcPr marL="71909" marR="71909" marT="35955" marB="3595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0.70</a:t>
                      </a:r>
                    </a:p>
                  </a:txBody>
                  <a:tcPr marL="71909" marR="71909" marT="35955" marB="3595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0.85</a:t>
                      </a:r>
                    </a:p>
                  </a:txBody>
                  <a:tcPr marL="71909" marR="71909" marT="35955" marB="3595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</a:t>
                      </a:r>
                    </a:p>
                  </a:txBody>
                  <a:tcPr marL="71909" marR="71909" marT="35955" marB="3595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1.15</a:t>
                      </a:r>
                    </a:p>
                  </a:txBody>
                  <a:tcPr marL="71909" marR="71909" marT="35955" marB="3595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1.30</a:t>
                      </a:r>
                    </a:p>
                  </a:txBody>
                  <a:tcPr marL="71909" marR="71909" marT="35955" marB="35955" anchor="ctr"/>
                </a:tc>
                <a:extLst>
                  <a:ext uri="{0D108BD9-81ED-4DB2-BD59-A6C34878D82A}">
                    <a16:rowId xmlns:a16="http://schemas.microsoft.com/office/drawing/2014/main" val="886674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7715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5CF67-3231-8374-93E0-2D8B42021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F04A403-3682-AA73-A5EF-4906AD58D1FB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07E341D-7FCC-6504-D84E-D6F4793C89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8253" y="876081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Intermediate COCOMO Model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43A409-4E5E-F869-58AD-B44CFF075709}"/>
              </a:ext>
            </a:extLst>
          </p:cNvPr>
          <p:cNvSpPr txBox="1"/>
          <p:nvPr/>
        </p:nvSpPr>
        <p:spPr>
          <a:xfrm>
            <a:off x="990600" y="1662761"/>
            <a:ext cx="78404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Hardware Parameters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97972E-6784-2759-EB21-C57BD1F268E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85649B-AE57-46A1-1C9B-141813971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583698"/>
              </p:ext>
            </p:extLst>
          </p:nvPr>
        </p:nvGraphicFramePr>
        <p:xfrm>
          <a:off x="1447800" y="2439529"/>
          <a:ext cx="6858000" cy="3938411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238250">
                  <a:extLst>
                    <a:ext uri="{9D8B030D-6E8A-4147-A177-3AD203B41FA5}">
                      <a16:colId xmlns:a16="http://schemas.microsoft.com/office/drawing/2014/main" val="2901731583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73271858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38502528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3154781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27006829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962270167"/>
                    </a:ext>
                  </a:extLst>
                </a:gridCol>
              </a:tblGrid>
              <a:tr h="578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Parameter</a:t>
                      </a:r>
                    </a:p>
                  </a:txBody>
                  <a:tcPr marL="50201" marR="50201" marT="25100" marB="25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Very Low</a:t>
                      </a:r>
                    </a:p>
                  </a:txBody>
                  <a:tcPr marL="50201" marR="50201" marT="25100" marB="25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Low</a:t>
                      </a:r>
                    </a:p>
                  </a:txBody>
                  <a:tcPr marL="50201" marR="50201" marT="25100" marB="25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Nominal</a:t>
                      </a:r>
                    </a:p>
                  </a:txBody>
                  <a:tcPr marL="50201" marR="50201" marT="25100" marB="25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High</a:t>
                      </a:r>
                    </a:p>
                  </a:txBody>
                  <a:tcPr marL="50201" marR="50201" marT="25100" marB="25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Very High</a:t>
                      </a:r>
                    </a:p>
                  </a:txBody>
                  <a:tcPr marL="50201" marR="50201" marT="25100" marB="25100" anchor="ctr"/>
                </a:tc>
                <a:extLst>
                  <a:ext uri="{0D108BD9-81ED-4DB2-BD59-A6C34878D82A}">
                    <a16:rowId xmlns:a16="http://schemas.microsoft.com/office/drawing/2014/main" val="2129079988"/>
                  </a:ext>
                </a:extLst>
              </a:tr>
              <a:tr h="84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Performance Restriction</a:t>
                      </a:r>
                      <a:endParaRPr lang="en-US" sz="1600"/>
                    </a:p>
                  </a:txBody>
                  <a:tcPr marL="50201" marR="50201" marT="25100" marB="25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NA</a:t>
                      </a:r>
                    </a:p>
                  </a:txBody>
                  <a:tcPr marL="50201" marR="50201" marT="25100" marB="25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NA</a:t>
                      </a:r>
                    </a:p>
                  </a:txBody>
                  <a:tcPr marL="50201" marR="50201" marT="25100" marB="25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1</a:t>
                      </a:r>
                    </a:p>
                  </a:txBody>
                  <a:tcPr marL="50201" marR="50201" marT="25100" marB="25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1.11</a:t>
                      </a:r>
                    </a:p>
                  </a:txBody>
                  <a:tcPr marL="50201" marR="50201" marT="25100" marB="25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1.30</a:t>
                      </a:r>
                    </a:p>
                  </a:txBody>
                  <a:tcPr marL="50201" marR="50201" marT="25100" marB="25100" anchor="ctr"/>
                </a:tc>
                <a:extLst>
                  <a:ext uri="{0D108BD9-81ED-4DB2-BD59-A6C34878D82A}">
                    <a16:rowId xmlns:a16="http://schemas.microsoft.com/office/drawing/2014/main" val="1064360507"/>
                  </a:ext>
                </a:extLst>
              </a:tr>
              <a:tr h="578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Memory Restriction</a:t>
                      </a:r>
                      <a:endParaRPr lang="en-US" sz="1600"/>
                    </a:p>
                  </a:txBody>
                  <a:tcPr marL="50201" marR="50201" marT="25100" marB="25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NA</a:t>
                      </a:r>
                    </a:p>
                  </a:txBody>
                  <a:tcPr marL="50201" marR="50201" marT="25100" marB="25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NA</a:t>
                      </a:r>
                    </a:p>
                  </a:txBody>
                  <a:tcPr marL="50201" marR="50201" marT="25100" marB="25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</a:t>
                      </a:r>
                    </a:p>
                  </a:txBody>
                  <a:tcPr marL="50201" marR="50201" marT="25100" marB="25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1.06</a:t>
                      </a:r>
                    </a:p>
                  </a:txBody>
                  <a:tcPr marL="50201" marR="50201" marT="25100" marB="25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1.21</a:t>
                      </a:r>
                    </a:p>
                  </a:txBody>
                  <a:tcPr marL="50201" marR="50201" marT="25100" marB="25100" anchor="ctr"/>
                </a:tc>
                <a:extLst>
                  <a:ext uri="{0D108BD9-81ED-4DB2-BD59-A6C34878D82A}">
                    <a16:rowId xmlns:a16="http://schemas.microsoft.com/office/drawing/2014/main" val="938656465"/>
                  </a:ext>
                </a:extLst>
              </a:tr>
              <a:tr h="1102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Virtual Machine Environment</a:t>
                      </a:r>
                      <a:endParaRPr lang="en-US" sz="1600"/>
                    </a:p>
                  </a:txBody>
                  <a:tcPr marL="50201" marR="50201" marT="25100" marB="25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NA</a:t>
                      </a:r>
                    </a:p>
                  </a:txBody>
                  <a:tcPr marL="50201" marR="50201" marT="25100" marB="25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0.87</a:t>
                      </a:r>
                    </a:p>
                  </a:txBody>
                  <a:tcPr marL="50201" marR="50201" marT="25100" marB="25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</a:t>
                      </a:r>
                    </a:p>
                  </a:txBody>
                  <a:tcPr marL="50201" marR="50201" marT="25100" marB="25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1.15</a:t>
                      </a:r>
                    </a:p>
                  </a:txBody>
                  <a:tcPr marL="50201" marR="50201" marT="25100" marB="25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1.30</a:t>
                      </a:r>
                    </a:p>
                  </a:txBody>
                  <a:tcPr marL="50201" marR="50201" marT="25100" marB="25100" anchor="ctr"/>
                </a:tc>
                <a:extLst>
                  <a:ext uri="{0D108BD9-81ED-4DB2-BD59-A6C34878D82A}">
                    <a16:rowId xmlns:a16="http://schemas.microsoft.com/office/drawing/2014/main" val="1242932266"/>
                  </a:ext>
                </a:extLst>
              </a:tr>
              <a:tr h="84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Required Turnabout Time</a:t>
                      </a:r>
                      <a:endParaRPr lang="en-US" sz="1600" dirty="0"/>
                    </a:p>
                  </a:txBody>
                  <a:tcPr marL="50201" marR="50201" marT="25100" marB="25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NA</a:t>
                      </a:r>
                    </a:p>
                  </a:txBody>
                  <a:tcPr marL="50201" marR="50201" marT="25100" marB="25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0.94</a:t>
                      </a:r>
                    </a:p>
                  </a:txBody>
                  <a:tcPr marL="50201" marR="50201" marT="25100" marB="25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</a:t>
                      </a:r>
                    </a:p>
                  </a:txBody>
                  <a:tcPr marL="50201" marR="50201" marT="25100" marB="25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1.07</a:t>
                      </a:r>
                    </a:p>
                  </a:txBody>
                  <a:tcPr marL="50201" marR="50201" marT="25100" marB="25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1.15</a:t>
                      </a:r>
                    </a:p>
                  </a:txBody>
                  <a:tcPr marL="50201" marR="50201" marT="25100" marB="25100" anchor="ctr"/>
                </a:tc>
                <a:extLst>
                  <a:ext uri="{0D108BD9-81ED-4DB2-BD59-A6C34878D82A}">
                    <a16:rowId xmlns:a16="http://schemas.microsoft.com/office/drawing/2014/main" val="296188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2410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316F3-7965-2EF0-261B-1C73D5CE5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1EFA4A4-B759-7FC6-05CA-562801F95589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342D82B-88BC-1EE7-332D-AA3E0EA51A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8253" y="876081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Intermediate COCOMO Model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C76AA6-4325-EC6E-6111-EAAF102B42FD}"/>
              </a:ext>
            </a:extLst>
          </p:cNvPr>
          <p:cNvSpPr txBox="1"/>
          <p:nvPr/>
        </p:nvSpPr>
        <p:spPr>
          <a:xfrm>
            <a:off x="1066800" y="1600200"/>
            <a:ext cx="78404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Personnel Parameters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B4FFE-F751-DE63-0B2C-5A30E1AB5AC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FACC01A-3C76-07C0-C7B2-70ACD933A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661309"/>
              </p:ext>
            </p:extLst>
          </p:nvPr>
        </p:nvGraphicFramePr>
        <p:xfrm>
          <a:off x="1420888" y="2364449"/>
          <a:ext cx="7132320" cy="415318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1470256229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108640472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115587556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305732487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1518874108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1260493753"/>
                    </a:ext>
                  </a:extLst>
                </a:gridCol>
              </a:tblGrid>
              <a:tr h="4336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Parameter</a:t>
                      </a:r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Very Low</a:t>
                      </a:r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Low</a:t>
                      </a:r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Nominal</a:t>
                      </a:r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High</a:t>
                      </a:r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Very High</a:t>
                      </a:r>
                    </a:p>
                  </a:txBody>
                  <a:tcPr marL="42233" marR="42233" marT="21116" marB="21116" anchor="ctr"/>
                </a:tc>
                <a:extLst>
                  <a:ext uri="{0D108BD9-81ED-4DB2-BD59-A6C34878D82A}">
                    <a16:rowId xmlns:a16="http://schemas.microsoft.com/office/drawing/2014/main" val="2039675266"/>
                  </a:ext>
                </a:extLst>
              </a:tr>
              <a:tr h="4336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Analysis Capability</a:t>
                      </a:r>
                      <a:endParaRPr lang="en-US" sz="1600"/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1.46</a:t>
                      </a:r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1.19</a:t>
                      </a:r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</a:t>
                      </a:r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0.86</a:t>
                      </a:r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0.71</a:t>
                      </a:r>
                    </a:p>
                  </a:txBody>
                  <a:tcPr marL="42233" marR="42233" marT="21116" marB="21116" anchor="ctr"/>
                </a:tc>
                <a:extLst>
                  <a:ext uri="{0D108BD9-81ED-4DB2-BD59-A6C34878D82A}">
                    <a16:rowId xmlns:a16="http://schemas.microsoft.com/office/drawing/2014/main" val="3653258928"/>
                  </a:ext>
                </a:extLst>
              </a:tr>
              <a:tr h="8052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Application Experience</a:t>
                      </a:r>
                      <a:endParaRPr lang="en-US" sz="1600"/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1.29</a:t>
                      </a:r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1.13</a:t>
                      </a:r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</a:t>
                      </a:r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0.91</a:t>
                      </a:r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0.82</a:t>
                      </a:r>
                    </a:p>
                  </a:txBody>
                  <a:tcPr marL="42233" marR="42233" marT="21116" marB="21116" anchor="ctr"/>
                </a:tc>
                <a:extLst>
                  <a:ext uri="{0D108BD9-81ED-4DB2-BD59-A6C34878D82A}">
                    <a16:rowId xmlns:a16="http://schemas.microsoft.com/office/drawing/2014/main" val="2275821962"/>
                  </a:ext>
                </a:extLst>
              </a:tr>
              <a:tr h="6194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Software Engineer Capability</a:t>
                      </a:r>
                      <a:endParaRPr lang="en-US" sz="1600"/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1.42</a:t>
                      </a:r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1.17</a:t>
                      </a:r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1</a:t>
                      </a:r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0.86</a:t>
                      </a:r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0.70</a:t>
                      </a:r>
                    </a:p>
                  </a:txBody>
                  <a:tcPr marL="42233" marR="42233" marT="21116" marB="21116" anchor="ctr"/>
                </a:tc>
                <a:extLst>
                  <a:ext uri="{0D108BD9-81ED-4DB2-BD59-A6C34878D82A}">
                    <a16:rowId xmlns:a16="http://schemas.microsoft.com/office/drawing/2014/main" val="424332184"/>
                  </a:ext>
                </a:extLst>
              </a:tr>
              <a:tr h="8052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Virtual Machine Experience</a:t>
                      </a:r>
                      <a:endParaRPr lang="en-US" sz="1600"/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1.21</a:t>
                      </a:r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1.10</a:t>
                      </a:r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</a:t>
                      </a:r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0.90</a:t>
                      </a:r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NA</a:t>
                      </a:r>
                    </a:p>
                  </a:txBody>
                  <a:tcPr marL="42233" marR="42233" marT="21116" marB="21116" anchor="ctr"/>
                </a:tc>
                <a:extLst>
                  <a:ext uri="{0D108BD9-81ED-4DB2-BD59-A6C34878D82A}">
                    <a16:rowId xmlns:a16="http://schemas.microsoft.com/office/drawing/2014/main" val="1917949154"/>
                  </a:ext>
                </a:extLst>
              </a:tr>
              <a:tr h="8052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Programming Experience</a:t>
                      </a:r>
                      <a:endParaRPr lang="en-US" sz="1600"/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1.14</a:t>
                      </a:r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1.07</a:t>
                      </a:r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</a:t>
                      </a:r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0.95</a:t>
                      </a:r>
                    </a:p>
                  </a:txBody>
                  <a:tcPr marL="42233" marR="42233" marT="21116" marB="211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NA</a:t>
                      </a:r>
                    </a:p>
                  </a:txBody>
                  <a:tcPr marL="42233" marR="42233" marT="21116" marB="21116" anchor="ctr"/>
                </a:tc>
                <a:extLst>
                  <a:ext uri="{0D108BD9-81ED-4DB2-BD59-A6C34878D82A}">
                    <a16:rowId xmlns:a16="http://schemas.microsoft.com/office/drawing/2014/main" val="2122917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6340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87EBE-928E-9746-7130-F623B9F28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0384BAC-3961-1D4A-5CF5-B13C5AA39226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118239F-D65C-9EC3-3C42-497D083152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8253" y="876081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Intermediate COCOMO Model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3CB923-E103-7D7F-CEB9-7F78AF632814}"/>
              </a:ext>
            </a:extLst>
          </p:cNvPr>
          <p:cNvSpPr txBox="1"/>
          <p:nvPr/>
        </p:nvSpPr>
        <p:spPr>
          <a:xfrm>
            <a:off x="1066800" y="1600200"/>
            <a:ext cx="78404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Project Parameters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64E37-FB2A-64E1-B00F-1B5C2419697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C585210-F1B8-0928-C732-DFC40013E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031781"/>
              </p:ext>
            </p:extLst>
          </p:nvPr>
        </p:nvGraphicFramePr>
        <p:xfrm>
          <a:off x="1752600" y="2248118"/>
          <a:ext cx="6477000" cy="3733801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079500">
                  <a:extLst>
                    <a:ext uri="{9D8B030D-6E8A-4147-A177-3AD203B41FA5}">
                      <a16:colId xmlns:a16="http://schemas.microsoft.com/office/drawing/2014/main" val="3474741638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6601542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120828922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69843349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128427716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774147090"/>
                    </a:ext>
                  </a:extLst>
                </a:gridCol>
              </a:tblGrid>
              <a:tr h="562325"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</a:rPr>
                        <a:t>Parameter</a:t>
                      </a:r>
                      <a:endParaRPr lang="en-US" sz="160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6" marR="66516" marT="33258" marB="33258" anchor="ctr"/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</a:rPr>
                        <a:t>Very Low</a:t>
                      </a:r>
                      <a:endParaRPr lang="en-US" sz="1600" b="1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6" marR="66516" marT="33258" marB="33258" anchor="ctr"/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</a:rPr>
                        <a:t>Low</a:t>
                      </a:r>
                      <a:endParaRPr lang="en-US" sz="160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6" marR="66516" marT="33258" marB="33258" anchor="ctr"/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</a:rPr>
                        <a:t>Nominal</a:t>
                      </a:r>
                      <a:endParaRPr lang="en-US" sz="1600" b="1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6" marR="66516" marT="33258" marB="33258" anchor="ctr"/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</a:rPr>
                        <a:t>High</a:t>
                      </a:r>
                      <a:endParaRPr lang="en-US" sz="1600" b="1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6" marR="66516" marT="33258" marB="33258" anchor="ctr"/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</a:rPr>
                        <a:t>Very High</a:t>
                      </a:r>
                      <a:endParaRPr lang="en-US" sz="1600" b="1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6" marR="66516" marT="33258" marB="33258" anchor="ctr"/>
                </a:tc>
                <a:extLst>
                  <a:ext uri="{0D108BD9-81ED-4DB2-BD59-A6C34878D82A}">
                    <a16:rowId xmlns:a16="http://schemas.microsoft.com/office/drawing/2014/main" val="3422496648"/>
                  </a:ext>
                </a:extLst>
              </a:tr>
              <a:tr h="1551992"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</a:rPr>
                        <a:t>Software Engineering Methods</a:t>
                      </a:r>
                      <a:endParaRPr lang="en-US" sz="1600" b="1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6" marR="66516" marT="33258" marB="33258" anchor="ctr"/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</a:rPr>
                        <a:t>1.24</a:t>
                      </a:r>
                      <a:endParaRPr lang="en-US" sz="1600" b="1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6" marR="66516" marT="33258" marB="33258" anchor="ctr"/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</a:rPr>
                        <a:t>1.10</a:t>
                      </a:r>
                      <a:endParaRPr lang="en-US" sz="160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6" marR="66516" marT="33258" marB="33258" anchor="ctr"/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sz="1600" b="1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6" marR="66516" marT="33258" marB="33258" anchor="ctr"/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</a:rPr>
                        <a:t>0.91</a:t>
                      </a:r>
                      <a:endParaRPr lang="en-US" sz="1600" b="1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6" marR="66516" marT="33258" marB="33258" anchor="ctr"/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</a:rPr>
                        <a:t>0.82</a:t>
                      </a:r>
                      <a:endParaRPr lang="en-US" sz="1600" b="1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6" marR="66516" marT="33258" marB="33258" anchor="ctr"/>
                </a:tc>
                <a:extLst>
                  <a:ext uri="{0D108BD9-81ED-4DB2-BD59-A6C34878D82A}">
                    <a16:rowId xmlns:a16="http://schemas.microsoft.com/office/drawing/2014/main" val="1795015971"/>
                  </a:ext>
                </a:extLst>
              </a:tr>
              <a:tr h="809742"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</a:rPr>
                        <a:t>Use of Software Tools</a:t>
                      </a:r>
                      <a:endParaRPr lang="en-US" sz="1600" b="1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6" marR="66516" marT="33258" marB="33258" anchor="ctr"/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</a:rPr>
                        <a:t>1.24</a:t>
                      </a:r>
                      <a:endParaRPr lang="en-US" sz="1600" b="1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6" marR="66516" marT="33258" marB="33258" anchor="ctr"/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</a:rPr>
                        <a:t>1.10</a:t>
                      </a:r>
                      <a:endParaRPr lang="en-US" sz="1600" b="1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6" marR="66516" marT="33258" marB="33258" anchor="ctr"/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sz="1600" b="1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6" marR="66516" marT="33258" marB="33258" anchor="ctr"/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</a:rPr>
                        <a:t>0.91</a:t>
                      </a:r>
                      <a:endParaRPr lang="en-US" sz="160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6" marR="66516" marT="33258" marB="33258" anchor="ctr"/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</a:rPr>
                        <a:t>0.83</a:t>
                      </a:r>
                      <a:endParaRPr lang="en-US" sz="1600" b="1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6" marR="66516" marT="33258" marB="33258" anchor="ctr"/>
                </a:tc>
                <a:extLst>
                  <a:ext uri="{0D108BD9-81ED-4DB2-BD59-A6C34878D82A}">
                    <a16:rowId xmlns:a16="http://schemas.microsoft.com/office/drawing/2014/main" val="1120999159"/>
                  </a:ext>
                </a:extLst>
              </a:tr>
              <a:tr h="809742"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</a:rPr>
                        <a:t>Development Time</a:t>
                      </a:r>
                      <a:endParaRPr lang="en-US" sz="1600" b="1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6" marR="66516" marT="33258" marB="33258" anchor="ctr"/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</a:rPr>
                        <a:t>1.23</a:t>
                      </a:r>
                      <a:endParaRPr lang="en-US" sz="1600" b="1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6" marR="66516" marT="33258" marB="33258" anchor="ctr"/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</a:rPr>
                        <a:t>1.08</a:t>
                      </a:r>
                      <a:endParaRPr lang="en-US" sz="1600" b="1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6" marR="66516" marT="33258" marB="33258" anchor="ctr"/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</a:rPr>
                        <a:t>1</a:t>
                      </a:r>
                      <a:endParaRPr lang="en-US" sz="1600" b="1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6" marR="66516" marT="33258" marB="33258" anchor="ctr"/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</a:rPr>
                        <a:t>1.04</a:t>
                      </a:r>
                      <a:endParaRPr lang="en-US" sz="160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6" marR="66516" marT="33258" marB="33258" anchor="ctr"/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</a:rPr>
                        <a:t>1.10</a:t>
                      </a:r>
                      <a:endParaRPr lang="en-US" sz="1600" b="1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6" marR="66516" marT="33258" marB="33258" anchor="ctr"/>
                </a:tc>
                <a:extLst>
                  <a:ext uri="{0D108BD9-81ED-4DB2-BD59-A6C34878D82A}">
                    <a16:rowId xmlns:a16="http://schemas.microsoft.com/office/drawing/2014/main" val="4051085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5484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CEBCD-E52D-78C2-C2D0-5FDC4308D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076C0FA-C3CE-E0F4-B2F3-6A4C9B9899E5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A7E9A2D-B8EA-05F4-385E-5C6409C032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8253" y="876081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Intermediate COCOMO Model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A0D1C7-7574-0752-D279-AA49CC3B9A45}"/>
                  </a:ext>
                </a:extLst>
              </p:cNvPr>
              <p:cNvSpPr txBox="1"/>
              <p:nvPr/>
            </p:nvSpPr>
            <p:spPr>
              <a:xfrm>
                <a:off x="854756" y="1806613"/>
                <a:ext cx="7840496" cy="4781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0" lvl="0">
                  <a:lnSpc>
                    <a:spcPct val="115000"/>
                  </a:lnSpc>
                  <a:spcAft>
                    <a:spcPts val="800"/>
                  </a:spcAft>
                  <a:buSzPts val="1000"/>
                  <a:tabLst>
                    <a:tab pos="457200" algn="l"/>
                  </a:tabLst>
                </a:pPr>
                <a:r>
                  <a:rPr lang="en-US" b="1" dirty="0"/>
                  <a:t>Problem Statement:</a:t>
                </a:r>
                <a:r>
                  <a:rPr lang="en-US" dirty="0"/>
                  <a:t> </a:t>
                </a:r>
              </a:p>
              <a:p>
                <a:pPr marR="0" lvl="0" algn="just">
                  <a:lnSpc>
                    <a:spcPct val="115000"/>
                  </a:lnSpc>
                  <a:spcAft>
                    <a:spcPts val="800"/>
                  </a:spcAft>
                  <a:buSzPts val="1000"/>
                  <a:tabLst>
                    <a:tab pos="457200" algn="l"/>
                  </a:tabLst>
                </a:pPr>
                <a:r>
                  <a:rPr lang="en-US" dirty="0"/>
                  <a:t>For a given </a:t>
                </a:r>
                <a:r>
                  <a:rPr lang="en-US" b="1" dirty="0"/>
                  <a:t>Semidetached project</a:t>
                </a:r>
                <a:r>
                  <a:rPr lang="en-US" dirty="0"/>
                  <a:t> was estimated with a </a:t>
                </a:r>
                <a:r>
                  <a:rPr lang="en-US" b="1" dirty="0"/>
                  <a:t>size of 300 KLOC</a:t>
                </a:r>
                <a:r>
                  <a:rPr lang="en-US" dirty="0"/>
                  <a:t>. Calculate the Effort, Scheduled time for development by considering developer having </a:t>
                </a:r>
                <a:r>
                  <a:rPr lang="en-US" b="1" dirty="0"/>
                  <a:t>high application experience</a:t>
                </a:r>
                <a:r>
                  <a:rPr lang="en-US" dirty="0"/>
                  <a:t> and </a:t>
                </a:r>
                <a:r>
                  <a:rPr lang="en-US" b="1" dirty="0"/>
                  <a:t>very low experience in programming</a:t>
                </a:r>
                <a:r>
                  <a:rPr lang="en-US" dirty="0"/>
                  <a:t>.</a:t>
                </a:r>
              </a:p>
              <a:p>
                <a:pPr marR="0" lvl="0" algn="just">
                  <a:lnSpc>
                    <a:spcPct val="115000"/>
                  </a:lnSpc>
                  <a:spcAft>
                    <a:spcPts val="800"/>
                  </a:spcAft>
                  <a:buSzPts val="1000"/>
                  <a:tabLst>
                    <a:tab pos="457200" algn="l"/>
                  </a:tabLst>
                </a:pPr>
                <a:r>
                  <a:rPr lang="en-US" sz="1800" b="1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Vrinda" panose="020B0502040204020203" pitchFamily="34" charset="0"/>
                  </a:rPr>
                  <a:t>Solution-</a:t>
                </a:r>
              </a:p>
              <a:p>
                <a:r>
                  <a:rPr lang="en-US" b="1" dirty="0"/>
                  <a:t>EAF 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0.91×1.14=0.9348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Effort (E) 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𝐾𝐿𝑂𝐶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𝐸𝐴𝐹</m:t>
                        </m:r>
                      </m:e>
                    </m:d>
                  </m:oMath>
                </a14:m>
                <a:br>
                  <a:rPr lang="ar-AE" dirty="0"/>
                </a:br>
                <a:r>
                  <a:rPr lang="ar-AE" dirty="0"/>
                  <a:t>= </a:t>
                </a: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300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9348</m:t>
                        </m:r>
                      </m:e>
                    </m:d>
                  </m:oMath>
                </a14:m>
                <a:br>
                  <a:rPr lang="ar-AE" dirty="0"/>
                </a:br>
                <a:r>
                  <a:rPr lang="ar-AE" dirty="0"/>
                  <a:t>= </a:t>
                </a:r>
                <a:r>
                  <a:rPr lang="ar-AE" b="1" dirty="0"/>
                  <a:t>1668.07 </a:t>
                </a:r>
                <a:r>
                  <a:rPr lang="en-US" b="1" dirty="0"/>
                  <a:t>MM</a:t>
                </a:r>
                <a:endParaRPr lang="en-US" dirty="0"/>
              </a:p>
              <a:p>
                <a:r>
                  <a:rPr lang="en-US" b="1" dirty="0"/>
                  <a:t>Scheduled Time (D) 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br>
                  <a:rPr lang="ar-AE" dirty="0"/>
                </a:br>
                <a:r>
                  <a:rPr lang="ar-AE" dirty="0"/>
                  <a:t>= </a:t>
                </a: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1668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07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35</m:t>
                            </m:r>
                          </m:sup>
                        </m:sSup>
                      </m:e>
                    </m:d>
                  </m:oMath>
                </a14:m>
                <a:br>
                  <a:rPr lang="ar-AE" dirty="0"/>
                </a:br>
                <a:r>
                  <a:rPr lang="ar-AE" dirty="0"/>
                  <a:t>= </a:t>
                </a:r>
                <a:r>
                  <a:rPr lang="ar-AE" b="1" dirty="0"/>
                  <a:t>33.55 </a:t>
                </a:r>
                <a:r>
                  <a:rPr lang="en-US" b="1" dirty="0"/>
                  <a:t>Months (M)</a:t>
                </a:r>
                <a:r>
                  <a:rPr lang="en-US" dirty="0"/>
                  <a:t>.</a:t>
                </a:r>
              </a:p>
              <a:p>
                <a:pPr marR="0" lvl="0" algn="just">
                  <a:lnSpc>
                    <a:spcPct val="115000"/>
                  </a:lnSpc>
                  <a:spcAft>
                    <a:spcPts val="800"/>
                  </a:spcAft>
                  <a:buSzPts val="1000"/>
                  <a:tabLst>
                    <a:tab pos="457200" algn="l"/>
                  </a:tabLst>
                </a:pPr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Vrinda" panose="020B0502040204020203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A0D1C7-7574-0752-D279-AA49CC3B9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756" y="1806613"/>
                <a:ext cx="7840496" cy="4781822"/>
              </a:xfrm>
              <a:prstGeom prst="rect">
                <a:avLst/>
              </a:prstGeom>
              <a:blipFill>
                <a:blip r:embed="rId2"/>
                <a:stretch>
                  <a:fillRect l="-700" t="-127" r="-700" b="-14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9C4E74-534D-D027-FDA6-25946F3600D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973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2FB80-CE56-6C3F-4E20-D2A518D31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C98FC62-9CC3-AB6C-8597-D7AA712041C3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570BE18-991B-A1B5-68BF-467144D76F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4152" y="393220"/>
            <a:ext cx="7535696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Detailed/Complete COCOMO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18198C-0573-EB31-98C9-ECAB31EF773F}"/>
              </a:ext>
            </a:extLst>
          </p:cNvPr>
          <p:cNvSpPr txBox="1"/>
          <p:nvPr/>
        </p:nvSpPr>
        <p:spPr>
          <a:xfrm>
            <a:off x="775819" y="1815436"/>
            <a:ext cx="7840496" cy="4992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model incorporates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all qualities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of both Basic COCOMO and Intermediate COCOMO strategies on each software engineering process.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whole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software is divided into different modules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and then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apply COCOMO in different modules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to estimate effort and then sum the effort.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Six phases of detailed COCOMO are: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Planning and requirements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System design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Detailed design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Module code and test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Integration and test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Cost Constructive model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7F9292-B3B0-C5CA-A1A8-45D85D9AA67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218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FDFA1-DE88-55B2-8361-CF51EC200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FFF0B45-062C-7550-0761-F40ED244188B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BA185E3-9449-CC75-E0F2-7B662F6686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990600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Example: Detailed COCOMO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ADE372-E120-0E5B-82D3-F9CBAA06238E}"/>
              </a:ext>
            </a:extLst>
          </p:cNvPr>
          <p:cNvSpPr txBox="1"/>
          <p:nvPr/>
        </p:nvSpPr>
        <p:spPr>
          <a:xfrm>
            <a:off x="651752" y="1800701"/>
            <a:ext cx="7840496" cy="5559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Problem Statement: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A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distributed Management Information System (MIS)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product for an organization having offices at several places across the country can have the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following sub-components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Database part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Graphical User Interface (GUI) part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Communication part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Solution: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communication part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can be considered as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Embedded software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database part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could be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Semi-detached software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GUI part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Organic software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. 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600" kern="100" dirty="0"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costs for these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three components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can be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estimated separately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and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summed up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to give the overall cost of the system.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868B9F-0336-E846-51DB-DCED484F4D5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17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669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1927</TotalTime>
  <Words>1584</Words>
  <Application>Microsoft Office PowerPoint</Application>
  <PresentationFormat>On-screen Show (4:3)</PresentationFormat>
  <Paragraphs>344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Arial</vt:lpstr>
      <vt:lpstr>Arial MT</vt:lpstr>
      <vt:lpstr>Calibri</vt:lpstr>
      <vt:lpstr>Cambria Math</vt:lpstr>
      <vt:lpstr>Symbol</vt:lpstr>
      <vt:lpstr>Wingdings</vt:lpstr>
      <vt:lpstr>Office Theme</vt:lpstr>
      <vt:lpstr>Software Cost Estimation</vt:lpstr>
      <vt:lpstr>Software Cost Estimation</vt:lpstr>
      <vt:lpstr>Tools and techniques</vt:lpstr>
      <vt:lpstr>Tools and techniques</vt:lpstr>
      <vt:lpstr>Tools and techniques</vt:lpstr>
      <vt:lpstr>Tools and techniques</vt:lpstr>
      <vt:lpstr>COCOMO Model</vt:lpstr>
      <vt:lpstr>Software Project Types</vt:lpstr>
      <vt:lpstr>Software Project Types</vt:lpstr>
      <vt:lpstr>Types of COCOMO Model</vt:lpstr>
      <vt:lpstr>Basic COCOMO Model Overview</vt:lpstr>
      <vt:lpstr>Basic COCOMO Model Overview</vt:lpstr>
      <vt:lpstr>Basic COCOMO Model Overview</vt:lpstr>
      <vt:lpstr>Basic COCOMO Model Overview</vt:lpstr>
      <vt:lpstr>Intermediate COCOMO Model </vt:lpstr>
      <vt:lpstr>Intermediate COCOMO Model </vt:lpstr>
      <vt:lpstr>Intermediate COCOMO Model </vt:lpstr>
      <vt:lpstr>Intermediate COCOMO Model </vt:lpstr>
      <vt:lpstr>Intermediate COCOMO Model </vt:lpstr>
      <vt:lpstr>Intermediate COCOMO Model </vt:lpstr>
      <vt:lpstr>Detailed/Complete COCOMO Model</vt:lpstr>
      <vt:lpstr>Example: Detailed COCOMO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Set to accompany Web Engineering: A Practitioner Approach</dc:title>
  <dc:creator>Roger Pressman</dc:creator>
  <cp:lastModifiedBy>Muhammad Muhtasim</cp:lastModifiedBy>
  <cp:revision>27</cp:revision>
  <dcterms:created xsi:type="dcterms:W3CDTF">2024-01-10T11:24:42Z</dcterms:created>
  <dcterms:modified xsi:type="dcterms:W3CDTF">2026-03-12T10:59:30Z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2020-07-20T00:00:00Z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2024-01-10T00:00:00Z</vt:filetime>
  </property>
  <property fmtid="{D5CDD505-2E9C-101B-9397-08002B2CF9AE}" pid="5" name="MSIP_Label_defa4170-0d19-0005-0004-bc88714345d2_Enabled">
    <vt:lpwstr>true</vt:lpwstr>
  </property>
  <property fmtid="{D5CDD505-2E9C-101B-9397-08002B2CF9AE}" pid="6" name="MSIP_Label_defa4170-0d19-0005-0004-bc88714345d2_SetDate">
    <vt:lpwstr>2024-01-10T11:25:39Z</vt:lpwstr>
  </property>
  <property fmtid="{D5CDD505-2E9C-101B-9397-08002B2CF9AE}" pid="7" name="MSIP_Label_defa4170-0d19-0005-0004-bc88714345d2_Method">
    <vt:lpwstr>Standard</vt:lpwstr>
  </property>
  <property fmtid="{D5CDD505-2E9C-101B-9397-08002B2CF9AE}" pid="8" name="MSIP_Label_defa4170-0d19-0005-0004-bc88714345d2_Name">
    <vt:lpwstr>defa4170-0d19-0005-0004-bc88714345d2</vt:lpwstr>
  </property>
  <property fmtid="{D5CDD505-2E9C-101B-9397-08002B2CF9AE}" pid="9" name="MSIP_Label_defa4170-0d19-0005-0004-bc88714345d2_SiteId">
    <vt:lpwstr>62a14c85-6502-4d92-8cf6-05c3ba33adfe</vt:lpwstr>
  </property>
  <property fmtid="{D5CDD505-2E9C-101B-9397-08002B2CF9AE}" pid="10" name="MSIP_Label_defa4170-0d19-0005-0004-bc88714345d2_ActionId">
    <vt:lpwstr>c0d6c09e-7602-446e-9f8f-00260b449c1d</vt:lpwstr>
  </property>
  <property fmtid="{D5CDD505-2E9C-101B-9397-08002B2CF9AE}" pid="11" name="MSIP_Label_defa4170-0d19-0005-0004-bc88714345d2_ContentBits">
    <vt:lpwstr>0</vt:lpwstr>
  </property>
</Properties>
</file>