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9" r:id="rId3"/>
    <p:sldId id="330" r:id="rId4"/>
    <p:sldId id="331" r:id="rId5"/>
    <p:sldId id="332" r:id="rId6"/>
    <p:sldId id="333" r:id="rId7"/>
    <p:sldId id="334" r:id="rId8"/>
    <p:sldId id="335" r:id="rId9"/>
    <p:sldId id="336" r:id="rId10"/>
    <p:sldId id="337" r:id="rId11"/>
    <p:sldId id="338" r:id="rId12"/>
    <p:sldId id="340" r:id="rId13"/>
    <p:sldId id="339" r:id="rId14"/>
    <p:sldId id="341" r:id="rId15"/>
    <p:sldId id="349" r:id="rId16"/>
    <p:sldId id="342" r:id="rId17"/>
    <p:sldId id="343" r:id="rId18"/>
    <p:sldId id="344" r:id="rId19"/>
    <p:sldId id="345" r:id="rId20"/>
    <p:sldId id="346" r:id="rId21"/>
    <p:sldId id="347" r:id="rId22"/>
    <p:sldId id="348" r:id="rId2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02" autoAdjust="0"/>
    <p:restoredTop sz="94660"/>
  </p:normalViewPr>
  <p:slideViewPr>
    <p:cSldViewPr>
      <p:cViewPr varScale="1">
        <p:scale>
          <a:sx n="88" d="100"/>
          <a:sy n="88" d="100"/>
        </p:scale>
        <p:origin x="1819" y="2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27877D1-D2AE-4155-9CCB-57EE6000A861}" type="datetimeFigureOut">
              <a:rPr lang="en-US" smtClean="0"/>
              <a:t>3/3/2026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D38616A-723F-4FA1-8D33-0E0B85814BB0}" type="slidenum">
              <a:rPr lang="en-US" smtClean="0"/>
              <a:t>‹#›</a:t>
            </a:fld>
            <a:endParaRPr lang="en-US"/>
          </a:p>
        </p:txBody>
      </p:sp>
    </p:spTree>
    <p:extLst>
      <p:ext uri="{BB962C8B-B14F-4D97-AF65-F5344CB8AC3E}">
        <p14:creationId xmlns:p14="http://schemas.microsoft.com/office/powerpoint/2010/main" val="2760264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6F2F9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6F2F9F"/>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6F2F9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075419" y="0"/>
            <a:ext cx="68580" cy="6858000"/>
          </a:xfrm>
          <a:custGeom>
            <a:avLst/>
            <a:gdLst/>
            <a:ahLst/>
            <a:cxnLst/>
            <a:rect l="l" t="t" r="r" b="b"/>
            <a:pathLst>
              <a:path w="68579" h="6858000">
                <a:moveTo>
                  <a:pt x="0" y="6858000"/>
                </a:moveTo>
                <a:lnTo>
                  <a:pt x="68579" y="6858000"/>
                </a:lnTo>
                <a:lnTo>
                  <a:pt x="68579" y="0"/>
                </a:lnTo>
                <a:lnTo>
                  <a:pt x="0" y="0"/>
                </a:lnTo>
                <a:lnTo>
                  <a:pt x="0" y="6858000"/>
                </a:lnTo>
                <a:close/>
              </a:path>
            </a:pathLst>
          </a:custGeom>
          <a:solidFill>
            <a:srgbClr val="EAEAEA"/>
          </a:solidFill>
        </p:spPr>
        <p:txBody>
          <a:bodyPr wrap="square" lIns="0" tIns="0" rIns="0" bIns="0" rtlCol="0"/>
          <a:lstStyle/>
          <a:p>
            <a:endParaRPr/>
          </a:p>
        </p:txBody>
      </p:sp>
      <p:sp>
        <p:nvSpPr>
          <p:cNvPr id="17" name="bg object 17"/>
          <p:cNvSpPr/>
          <p:nvPr/>
        </p:nvSpPr>
        <p:spPr>
          <a:xfrm>
            <a:off x="0" y="0"/>
            <a:ext cx="1351915" cy="6858000"/>
          </a:xfrm>
          <a:custGeom>
            <a:avLst/>
            <a:gdLst/>
            <a:ahLst/>
            <a:cxnLst/>
            <a:rect l="l" t="t" r="r" b="b"/>
            <a:pathLst>
              <a:path w="1351915" h="6858000">
                <a:moveTo>
                  <a:pt x="1219200" y="0"/>
                </a:moveTo>
                <a:lnTo>
                  <a:pt x="0" y="0"/>
                </a:lnTo>
                <a:lnTo>
                  <a:pt x="0" y="6858000"/>
                </a:lnTo>
                <a:lnTo>
                  <a:pt x="1219200" y="6858000"/>
                </a:lnTo>
                <a:lnTo>
                  <a:pt x="1219200" y="0"/>
                </a:lnTo>
                <a:close/>
              </a:path>
              <a:path w="1351915" h="6858000">
                <a:moveTo>
                  <a:pt x="1351788" y="0"/>
                </a:moveTo>
                <a:lnTo>
                  <a:pt x="1284732" y="0"/>
                </a:lnTo>
                <a:lnTo>
                  <a:pt x="1284732" y="6858000"/>
                </a:lnTo>
                <a:lnTo>
                  <a:pt x="1351788" y="6858000"/>
                </a:lnTo>
                <a:lnTo>
                  <a:pt x="1351788" y="0"/>
                </a:lnTo>
                <a:close/>
              </a:path>
            </a:pathLst>
          </a:custGeom>
          <a:solidFill>
            <a:srgbClr val="EAEAEA"/>
          </a:solidFill>
        </p:spPr>
        <p:txBody>
          <a:bodyPr wrap="square" lIns="0" tIns="0" rIns="0" bIns="0" rtlCol="0"/>
          <a:lstStyle/>
          <a:p>
            <a:endParaRPr/>
          </a:p>
        </p:txBody>
      </p:sp>
      <p:sp>
        <p:nvSpPr>
          <p:cNvPr id="18" name="bg object 18"/>
          <p:cNvSpPr/>
          <p:nvPr/>
        </p:nvSpPr>
        <p:spPr>
          <a:xfrm>
            <a:off x="1219200" y="0"/>
            <a:ext cx="66040" cy="6849109"/>
          </a:xfrm>
          <a:custGeom>
            <a:avLst/>
            <a:gdLst/>
            <a:ahLst/>
            <a:cxnLst/>
            <a:rect l="l" t="t" r="r" b="b"/>
            <a:pathLst>
              <a:path w="66040" h="6849109">
                <a:moveTo>
                  <a:pt x="0" y="6848855"/>
                </a:moveTo>
                <a:lnTo>
                  <a:pt x="65531" y="6848855"/>
                </a:lnTo>
                <a:lnTo>
                  <a:pt x="65531" y="0"/>
                </a:lnTo>
                <a:lnTo>
                  <a:pt x="0" y="0"/>
                </a:lnTo>
                <a:lnTo>
                  <a:pt x="0" y="6848855"/>
                </a:lnTo>
                <a:close/>
              </a:path>
            </a:pathLst>
          </a:custGeom>
          <a:solidFill>
            <a:srgbClr val="DDDDDD"/>
          </a:solidFill>
        </p:spPr>
        <p:txBody>
          <a:bodyPr wrap="square" lIns="0" tIns="0" rIns="0" bIns="0" rtlCol="0"/>
          <a:lstStyle/>
          <a:p>
            <a:endParaRPr/>
          </a:p>
        </p:txBody>
      </p:sp>
      <p:sp>
        <p:nvSpPr>
          <p:cNvPr id="19" name="bg object 19"/>
          <p:cNvSpPr/>
          <p:nvPr/>
        </p:nvSpPr>
        <p:spPr>
          <a:xfrm>
            <a:off x="1417319" y="0"/>
            <a:ext cx="66040" cy="6858000"/>
          </a:xfrm>
          <a:custGeom>
            <a:avLst/>
            <a:gdLst/>
            <a:ahLst/>
            <a:cxnLst/>
            <a:rect l="l" t="t" r="r" b="b"/>
            <a:pathLst>
              <a:path w="66040" h="6858000">
                <a:moveTo>
                  <a:pt x="0" y="6858000"/>
                </a:moveTo>
                <a:lnTo>
                  <a:pt x="65532" y="6858000"/>
                </a:lnTo>
                <a:lnTo>
                  <a:pt x="65532" y="0"/>
                </a:lnTo>
                <a:lnTo>
                  <a:pt x="0" y="0"/>
                </a:lnTo>
                <a:lnTo>
                  <a:pt x="0" y="6858000"/>
                </a:lnTo>
                <a:close/>
              </a:path>
            </a:pathLst>
          </a:custGeom>
          <a:solidFill>
            <a:srgbClr val="EAEAEA"/>
          </a:solidFill>
        </p:spPr>
        <p:txBody>
          <a:bodyPr wrap="square" lIns="0" tIns="0" rIns="0" bIns="0" rtlCol="0"/>
          <a:lstStyle/>
          <a:p>
            <a:endParaRPr/>
          </a:p>
        </p:txBody>
      </p:sp>
      <p:sp>
        <p:nvSpPr>
          <p:cNvPr id="20" name="bg object 20"/>
          <p:cNvSpPr/>
          <p:nvPr/>
        </p:nvSpPr>
        <p:spPr>
          <a:xfrm>
            <a:off x="1351788"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21" name="bg object 21"/>
          <p:cNvSpPr/>
          <p:nvPr/>
        </p:nvSpPr>
        <p:spPr>
          <a:xfrm>
            <a:off x="1549908" y="0"/>
            <a:ext cx="67310" cy="6858000"/>
          </a:xfrm>
          <a:custGeom>
            <a:avLst/>
            <a:gdLst/>
            <a:ahLst/>
            <a:cxnLst/>
            <a:rect l="l" t="t" r="r" b="b"/>
            <a:pathLst>
              <a:path w="67309"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22" name="bg object 22"/>
          <p:cNvSpPr/>
          <p:nvPr/>
        </p:nvSpPr>
        <p:spPr>
          <a:xfrm>
            <a:off x="1482852" y="0"/>
            <a:ext cx="67310" cy="6858000"/>
          </a:xfrm>
          <a:custGeom>
            <a:avLst/>
            <a:gdLst/>
            <a:ahLst/>
            <a:cxnLst/>
            <a:rect l="l" t="t" r="r" b="b"/>
            <a:pathLst>
              <a:path w="67309" h="6858000">
                <a:moveTo>
                  <a:pt x="67056" y="0"/>
                </a:moveTo>
                <a:lnTo>
                  <a:pt x="0" y="0"/>
                </a:lnTo>
                <a:lnTo>
                  <a:pt x="0" y="6858000"/>
                </a:lnTo>
                <a:lnTo>
                  <a:pt x="67056" y="6858000"/>
                </a:lnTo>
                <a:lnTo>
                  <a:pt x="67056" y="0"/>
                </a:lnTo>
                <a:close/>
              </a:path>
            </a:pathLst>
          </a:custGeom>
          <a:solidFill>
            <a:srgbClr val="DDDDDD"/>
          </a:solidFill>
        </p:spPr>
        <p:txBody>
          <a:bodyPr wrap="square" lIns="0" tIns="0" rIns="0" bIns="0" rtlCol="0"/>
          <a:lstStyle/>
          <a:p>
            <a:endParaRPr/>
          </a:p>
        </p:txBody>
      </p:sp>
      <p:sp>
        <p:nvSpPr>
          <p:cNvPr id="23" name="bg object 23"/>
          <p:cNvSpPr/>
          <p:nvPr/>
        </p:nvSpPr>
        <p:spPr>
          <a:xfrm>
            <a:off x="1680972" y="0"/>
            <a:ext cx="67310" cy="6858000"/>
          </a:xfrm>
          <a:custGeom>
            <a:avLst/>
            <a:gdLst/>
            <a:ahLst/>
            <a:cxnLst/>
            <a:rect l="l" t="t" r="r" b="b"/>
            <a:pathLst>
              <a:path w="67310"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24" name="bg object 24"/>
          <p:cNvSpPr/>
          <p:nvPr/>
        </p:nvSpPr>
        <p:spPr>
          <a:xfrm>
            <a:off x="1616963" y="0"/>
            <a:ext cx="64135" cy="6858000"/>
          </a:xfrm>
          <a:custGeom>
            <a:avLst/>
            <a:gdLst/>
            <a:ahLst/>
            <a:cxnLst/>
            <a:rect l="l" t="t" r="r" b="b"/>
            <a:pathLst>
              <a:path w="64135" h="6858000">
                <a:moveTo>
                  <a:pt x="64007" y="0"/>
                </a:moveTo>
                <a:lnTo>
                  <a:pt x="0" y="0"/>
                </a:lnTo>
                <a:lnTo>
                  <a:pt x="0" y="6858000"/>
                </a:lnTo>
                <a:lnTo>
                  <a:pt x="64007" y="6858000"/>
                </a:lnTo>
                <a:lnTo>
                  <a:pt x="64007" y="0"/>
                </a:lnTo>
                <a:close/>
              </a:path>
            </a:pathLst>
          </a:custGeom>
          <a:solidFill>
            <a:srgbClr val="DDDDDD"/>
          </a:solidFill>
        </p:spPr>
        <p:txBody>
          <a:bodyPr wrap="square" lIns="0" tIns="0" rIns="0" bIns="0" rtlCol="0"/>
          <a:lstStyle/>
          <a:p>
            <a:endParaRPr/>
          </a:p>
        </p:txBody>
      </p:sp>
      <p:sp>
        <p:nvSpPr>
          <p:cNvPr id="25" name="bg object 25"/>
          <p:cNvSpPr/>
          <p:nvPr/>
        </p:nvSpPr>
        <p:spPr>
          <a:xfrm>
            <a:off x="1810511" y="0"/>
            <a:ext cx="68580" cy="6858000"/>
          </a:xfrm>
          <a:custGeom>
            <a:avLst/>
            <a:gdLst/>
            <a:ahLst/>
            <a:cxnLst/>
            <a:rect l="l" t="t" r="r" b="b"/>
            <a:pathLst>
              <a:path w="68580" h="6858000">
                <a:moveTo>
                  <a:pt x="0" y="6858000"/>
                </a:moveTo>
                <a:lnTo>
                  <a:pt x="68580" y="6858000"/>
                </a:lnTo>
                <a:lnTo>
                  <a:pt x="68580" y="0"/>
                </a:lnTo>
                <a:lnTo>
                  <a:pt x="0" y="0"/>
                </a:lnTo>
                <a:lnTo>
                  <a:pt x="0" y="6858000"/>
                </a:lnTo>
                <a:close/>
              </a:path>
            </a:pathLst>
          </a:custGeom>
          <a:solidFill>
            <a:srgbClr val="EAEAEA"/>
          </a:solidFill>
        </p:spPr>
        <p:txBody>
          <a:bodyPr wrap="square" lIns="0" tIns="0" rIns="0" bIns="0" rtlCol="0"/>
          <a:lstStyle/>
          <a:p>
            <a:endParaRPr/>
          </a:p>
        </p:txBody>
      </p:sp>
      <p:sp>
        <p:nvSpPr>
          <p:cNvPr id="26" name="bg object 26"/>
          <p:cNvSpPr/>
          <p:nvPr/>
        </p:nvSpPr>
        <p:spPr>
          <a:xfrm>
            <a:off x="1748027" y="0"/>
            <a:ext cx="62865" cy="6858000"/>
          </a:xfrm>
          <a:custGeom>
            <a:avLst/>
            <a:gdLst/>
            <a:ahLst/>
            <a:cxnLst/>
            <a:rect l="l" t="t" r="r" b="b"/>
            <a:pathLst>
              <a:path w="62864" h="6858000">
                <a:moveTo>
                  <a:pt x="62483" y="0"/>
                </a:moveTo>
                <a:lnTo>
                  <a:pt x="0" y="0"/>
                </a:lnTo>
                <a:lnTo>
                  <a:pt x="0" y="6858000"/>
                </a:lnTo>
                <a:lnTo>
                  <a:pt x="62483" y="6858000"/>
                </a:lnTo>
                <a:lnTo>
                  <a:pt x="62483" y="0"/>
                </a:lnTo>
                <a:close/>
              </a:path>
            </a:pathLst>
          </a:custGeom>
          <a:solidFill>
            <a:srgbClr val="DDDDDD"/>
          </a:solidFill>
        </p:spPr>
        <p:txBody>
          <a:bodyPr wrap="square" lIns="0" tIns="0" rIns="0" bIns="0" rtlCol="0"/>
          <a:lstStyle/>
          <a:p>
            <a:endParaRPr/>
          </a:p>
        </p:txBody>
      </p:sp>
      <p:sp>
        <p:nvSpPr>
          <p:cNvPr id="27" name="bg object 27"/>
          <p:cNvSpPr/>
          <p:nvPr/>
        </p:nvSpPr>
        <p:spPr>
          <a:xfrm>
            <a:off x="1944623" y="0"/>
            <a:ext cx="67310" cy="6858000"/>
          </a:xfrm>
          <a:custGeom>
            <a:avLst/>
            <a:gdLst/>
            <a:ahLst/>
            <a:cxnLst/>
            <a:rect l="l" t="t" r="r" b="b"/>
            <a:pathLst>
              <a:path w="67310"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28" name="bg object 28"/>
          <p:cNvSpPr/>
          <p:nvPr/>
        </p:nvSpPr>
        <p:spPr>
          <a:xfrm>
            <a:off x="1879092" y="0"/>
            <a:ext cx="66040" cy="6858000"/>
          </a:xfrm>
          <a:custGeom>
            <a:avLst/>
            <a:gdLst/>
            <a:ahLst/>
            <a:cxnLst/>
            <a:rect l="l" t="t" r="r" b="b"/>
            <a:pathLst>
              <a:path w="66039"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29" name="bg object 29"/>
          <p:cNvSpPr/>
          <p:nvPr/>
        </p:nvSpPr>
        <p:spPr>
          <a:xfrm>
            <a:off x="2077211"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30" name="bg object 30"/>
          <p:cNvSpPr/>
          <p:nvPr/>
        </p:nvSpPr>
        <p:spPr>
          <a:xfrm>
            <a:off x="2011679" y="0"/>
            <a:ext cx="66040" cy="6858000"/>
          </a:xfrm>
          <a:custGeom>
            <a:avLst/>
            <a:gdLst/>
            <a:ahLst/>
            <a:cxnLst/>
            <a:rect l="l" t="t" r="r" b="b"/>
            <a:pathLst>
              <a:path w="66039"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31" name="bg object 31"/>
          <p:cNvSpPr/>
          <p:nvPr/>
        </p:nvSpPr>
        <p:spPr>
          <a:xfrm>
            <a:off x="2209800"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32" name="bg object 32"/>
          <p:cNvSpPr/>
          <p:nvPr/>
        </p:nvSpPr>
        <p:spPr>
          <a:xfrm>
            <a:off x="2142744" y="0"/>
            <a:ext cx="67310" cy="6858000"/>
          </a:xfrm>
          <a:custGeom>
            <a:avLst/>
            <a:gdLst/>
            <a:ahLst/>
            <a:cxnLst/>
            <a:rect l="l" t="t" r="r" b="b"/>
            <a:pathLst>
              <a:path w="67310" h="6858000">
                <a:moveTo>
                  <a:pt x="67056" y="0"/>
                </a:moveTo>
                <a:lnTo>
                  <a:pt x="0" y="0"/>
                </a:lnTo>
                <a:lnTo>
                  <a:pt x="0" y="6858000"/>
                </a:lnTo>
                <a:lnTo>
                  <a:pt x="67056" y="6858000"/>
                </a:lnTo>
                <a:lnTo>
                  <a:pt x="67056" y="0"/>
                </a:lnTo>
                <a:close/>
              </a:path>
            </a:pathLst>
          </a:custGeom>
          <a:solidFill>
            <a:srgbClr val="DDDDDD"/>
          </a:solidFill>
        </p:spPr>
        <p:txBody>
          <a:bodyPr wrap="square" lIns="0" tIns="0" rIns="0" bIns="0" rtlCol="0"/>
          <a:lstStyle/>
          <a:p>
            <a:endParaRPr/>
          </a:p>
        </p:txBody>
      </p:sp>
      <p:sp>
        <p:nvSpPr>
          <p:cNvPr id="33" name="bg object 33"/>
          <p:cNvSpPr/>
          <p:nvPr/>
        </p:nvSpPr>
        <p:spPr>
          <a:xfrm>
            <a:off x="2340864" y="0"/>
            <a:ext cx="68580" cy="6858000"/>
          </a:xfrm>
          <a:custGeom>
            <a:avLst/>
            <a:gdLst/>
            <a:ahLst/>
            <a:cxnLst/>
            <a:rect l="l" t="t" r="r" b="b"/>
            <a:pathLst>
              <a:path w="68580" h="6858000">
                <a:moveTo>
                  <a:pt x="0" y="6858000"/>
                </a:moveTo>
                <a:lnTo>
                  <a:pt x="68580" y="6858000"/>
                </a:lnTo>
                <a:lnTo>
                  <a:pt x="68580" y="0"/>
                </a:lnTo>
                <a:lnTo>
                  <a:pt x="0" y="0"/>
                </a:lnTo>
                <a:lnTo>
                  <a:pt x="0" y="6858000"/>
                </a:lnTo>
                <a:close/>
              </a:path>
            </a:pathLst>
          </a:custGeom>
          <a:solidFill>
            <a:srgbClr val="EAEAEA"/>
          </a:solidFill>
        </p:spPr>
        <p:txBody>
          <a:bodyPr wrap="square" lIns="0" tIns="0" rIns="0" bIns="0" rtlCol="0"/>
          <a:lstStyle/>
          <a:p>
            <a:endParaRPr/>
          </a:p>
        </p:txBody>
      </p:sp>
      <p:sp>
        <p:nvSpPr>
          <p:cNvPr id="34" name="bg object 34"/>
          <p:cNvSpPr/>
          <p:nvPr/>
        </p:nvSpPr>
        <p:spPr>
          <a:xfrm>
            <a:off x="2275332" y="0"/>
            <a:ext cx="66040" cy="6858000"/>
          </a:xfrm>
          <a:custGeom>
            <a:avLst/>
            <a:gdLst/>
            <a:ahLst/>
            <a:cxnLst/>
            <a:rect l="l" t="t" r="r" b="b"/>
            <a:pathLst>
              <a:path w="66039"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35" name="bg object 35"/>
          <p:cNvSpPr/>
          <p:nvPr/>
        </p:nvSpPr>
        <p:spPr>
          <a:xfrm>
            <a:off x="2473451"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36" name="bg object 36"/>
          <p:cNvSpPr/>
          <p:nvPr/>
        </p:nvSpPr>
        <p:spPr>
          <a:xfrm>
            <a:off x="2409444" y="0"/>
            <a:ext cx="64135" cy="6858000"/>
          </a:xfrm>
          <a:custGeom>
            <a:avLst/>
            <a:gdLst/>
            <a:ahLst/>
            <a:cxnLst/>
            <a:rect l="l" t="t" r="r" b="b"/>
            <a:pathLst>
              <a:path w="64135" h="6858000">
                <a:moveTo>
                  <a:pt x="64007" y="0"/>
                </a:moveTo>
                <a:lnTo>
                  <a:pt x="0" y="0"/>
                </a:lnTo>
                <a:lnTo>
                  <a:pt x="0" y="6858000"/>
                </a:lnTo>
                <a:lnTo>
                  <a:pt x="64007" y="6858000"/>
                </a:lnTo>
                <a:lnTo>
                  <a:pt x="64007" y="0"/>
                </a:lnTo>
                <a:close/>
              </a:path>
            </a:pathLst>
          </a:custGeom>
          <a:solidFill>
            <a:srgbClr val="DDDDDD"/>
          </a:solidFill>
        </p:spPr>
        <p:txBody>
          <a:bodyPr wrap="square" lIns="0" tIns="0" rIns="0" bIns="0" rtlCol="0"/>
          <a:lstStyle/>
          <a:p>
            <a:endParaRPr/>
          </a:p>
        </p:txBody>
      </p:sp>
      <p:sp>
        <p:nvSpPr>
          <p:cNvPr id="37" name="bg object 37"/>
          <p:cNvSpPr/>
          <p:nvPr/>
        </p:nvSpPr>
        <p:spPr>
          <a:xfrm>
            <a:off x="2602992" y="0"/>
            <a:ext cx="68580" cy="6858000"/>
          </a:xfrm>
          <a:custGeom>
            <a:avLst/>
            <a:gdLst/>
            <a:ahLst/>
            <a:cxnLst/>
            <a:rect l="l" t="t" r="r" b="b"/>
            <a:pathLst>
              <a:path w="68580" h="6858000">
                <a:moveTo>
                  <a:pt x="0" y="6858000"/>
                </a:moveTo>
                <a:lnTo>
                  <a:pt x="68580" y="6858000"/>
                </a:lnTo>
                <a:lnTo>
                  <a:pt x="68580" y="0"/>
                </a:lnTo>
                <a:lnTo>
                  <a:pt x="0" y="0"/>
                </a:lnTo>
                <a:lnTo>
                  <a:pt x="0" y="6858000"/>
                </a:lnTo>
                <a:close/>
              </a:path>
            </a:pathLst>
          </a:custGeom>
          <a:solidFill>
            <a:srgbClr val="EAEAEA"/>
          </a:solidFill>
        </p:spPr>
        <p:txBody>
          <a:bodyPr wrap="square" lIns="0" tIns="0" rIns="0" bIns="0" rtlCol="0"/>
          <a:lstStyle/>
          <a:p>
            <a:endParaRPr/>
          </a:p>
        </p:txBody>
      </p:sp>
      <p:sp>
        <p:nvSpPr>
          <p:cNvPr id="38" name="bg object 38"/>
          <p:cNvSpPr/>
          <p:nvPr/>
        </p:nvSpPr>
        <p:spPr>
          <a:xfrm>
            <a:off x="2538983" y="0"/>
            <a:ext cx="64135" cy="6858000"/>
          </a:xfrm>
          <a:custGeom>
            <a:avLst/>
            <a:gdLst/>
            <a:ahLst/>
            <a:cxnLst/>
            <a:rect l="l" t="t" r="r" b="b"/>
            <a:pathLst>
              <a:path w="64135" h="6858000">
                <a:moveTo>
                  <a:pt x="64007" y="0"/>
                </a:moveTo>
                <a:lnTo>
                  <a:pt x="0" y="0"/>
                </a:lnTo>
                <a:lnTo>
                  <a:pt x="0" y="6858000"/>
                </a:lnTo>
                <a:lnTo>
                  <a:pt x="64007" y="6858000"/>
                </a:lnTo>
                <a:lnTo>
                  <a:pt x="64007" y="0"/>
                </a:lnTo>
                <a:close/>
              </a:path>
            </a:pathLst>
          </a:custGeom>
          <a:solidFill>
            <a:srgbClr val="DDDDDD"/>
          </a:solidFill>
        </p:spPr>
        <p:txBody>
          <a:bodyPr wrap="square" lIns="0" tIns="0" rIns="0" bIns="0" rtlCol="0"/>
          <a:lstStyle/>
          <a:p>
            <a:endParaRPr/>
          </a:p>
        </p:txBody>
      </p:sp>
      <p:sp>
        <p:nvSpPr>
          <p:cNvPr id="39" name="bg object 39"/>
          <p:cNvSpPr/>
          <p:nvPr/>
        </p:nvSpPr>
        <p:spPr>
          <a:xfrm>
            <a:off x="2735579" y="0"/>
            <a:ext cx="68580" cy="6858000"/>
          </a:xfrm>
          <a:custGeom>
            <a:avLst/>
            <a:gdLst/>
            <a:ahLst/>
            <a:cxnLst/>
            <a:rect l="l" t="t" r="r" b="b"/>
            <a:pathLst>
              <a:path w="68580" h="6858000">
                <a:moveTo>
                  <a:pt x="0" y="6858000"/>
                </a:moveTo>
                <a:lnTo>
                  <a:pt x="68580" y="6858000"/>
                </a:lnTo>
                <a:lnTo>
                  <a:pt x="68580" y="0"/>
                </a:lnTo>
                <a:lnTo>
                  <a:pt x="0" y="0"/>
                </a:lnTo>
                <a:lnTo>
                  <a:pt x="0" y="6858000"/>
                </a:lnTo>
                <a:close/>
              </a:path>
            </a:pathLst>
          </a:custGeom>
          <a:solidFill>
            <a:srgbClr val="EAEAEA"/>
          </a:solidFill>
        </p:spPr>
        <p:txBody>
          <a:bodyPr wrap="square" lIns="0" tIns="0" rIns="0" bIns="0" rtlCol="0"/>
          <a:lstStyle/>
          <a:p>
            <a:endParaRPr/>
          </a:p>
        </p:txBody>
      </p:sp>
      <p:sp>
        <p:nvSpPr>
          <p:cNvPr id="40" name="bg object 40"/>
          <p:cNvSpPr/>
          <p:nvPr/>
        </p:nvSpPr>
        <p:spPr>
          <a:xfrm>
            <a:off x="2671572" y="0"/>
            <a:ext cx="64135" cy="6858000"/>
          </a:xfrm>
          <a:custGeom>
            <a:avLst/>
            <a:gdLst/>
            <a:ahLst/>
            <a:cxnLst/>
            <a:rect l="l" t="t" r="r" b="b"/>
            <a:pathLst>
              <a:path w="64135" h="6858000">
                <a:moveTo>
                  <a:pt x="64007" y="0"/>
                </a:moveTo>
                <a:lnTo>
                  <a:pt x="0" y="0"/>
                </a:lnTo>
                <a:lnTo>
                  <a:pt x="0" y="6858000"/>
                </a:lnTo>
                <a:lnTo>
                  <a:pt x="64007" y="6858000"/>
                </a:lnTo>
                <a:lnTo>
                  <a:pt x="64007" y="0"/>
                </a:lnTo>
                <a:close/>
              </a:path>
            </a:pathLst>
          </a:custGeom>
          <a:solidFill>
            <a:srgbClr val="DDDDDD"/>
          </a:solidFill>
        </p:spPr>
        <p:txBody>
          <a:bodyPr wrap="square" lIns="0" tIns="0" rIns="0" bIns="0" rtlCol="0"/>
          <a:lstStyle/>
          <a:p>
            <a:endParaRPr/>
          </a:p>
        </p:txBody>
      </p:sp>
      <p:sp>
        <p:nvSpPr>
          <p:cNvPr id="41" name="bg object 41"/>
          <p:cNvSpPr/>
          <p:nvPr/>
        </p:nvSpPr>
        <p:spPr>
          <a:xfrm>
            <a:off x="2869692"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42" name="bg object 42"/>
          <p:cNvSpPr/>
          <p:nvPr/>
        </p:nvSpPr>
        <p:spPr>
          <a:xfrm>
            <a:off x="2804160" y="0"/>
            <a:ext cx="66040" cy="6858000"/>
          </a:xfrm>
          <a:custGeom>
            <a:avLst/>
            <a:gdLst/>
            <a:ahLst/>
            <a:cxnLst/>
            <a:rect l="l" t="t" r="r" b="b"/>
            <a:pathLst>
              <a:path w="66039"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43" name="bg object 43"/>
          <p:cNvSpPr/>
          <p:nvPr/>
        </p:nvSpPr>
        <p:spPr>
          <a:xfrm>
            <a:off x="3002279"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44" name="bg object 44"/>
          <p:cNvSpPr/>
          <p:nvPr/>
        </p:nvSpPr>
        <p:spPr>
          <a:xfrm>
            <a:off x="2935223" y="0"/>
            <a:ext cx="67310" cy="6858000"/>
          </a:xfrm>
          <a:custGeom>
            <a:avLst/>
            <a:gdLst/>
            <a:ahLst/>
            <a:cxnLst/>
            <a:rect l="l" t="t" r="r" b="b"/>
            <a:pathLst>
              <a:path w="67310" h="6858000">
                <a:moveTo>
                  <a:pt x="67056" y="0"/>
                </a:moveTo>
                <a:lnTo>
                  <a:pt x="0" y="0"/>
                </a:lnTo>
                <a:lnTo>
                  <a:pt x="0" y="6858000"/>
                </a:lnTo>
                <a:lnTo>
                  <a:pt x="67056" y="6858000"/>
                </a:lnTo>
                <a:lnTo>
                  <a:pt x="67056" y="0"/>
                </a:lnTo>
                <a:close/>
              </a:path>
            </a:pathLst>
          </a:custGeom>
          <a:solidFill>
            <a:srgbClr val="DDDDDD"/>
          </a:solidFill>
        </p:spPr>
        <p:txBody>
          <a:bodyPr wrap="square" lIns="0" tIns="0" rIns="0" bIns="0" rtlCol="0"/>
          <a:lstStyle/>
          <a:p>
            <a:endParaRPr/>
          </a:p>
        </p:txBody>
      </p:sp>
      <p:sp>
        <p:nvSpPr>
          <p:cNvPr id="45" name="bg object 45"/>
          <p:cNvSpPr/>
          <p:nvPr/>
        </p:nvSpPr>
        <p:spPr>
          <a:xfrm>
            <a:off x="3133344" y="0"/>
            <a:ext cx="67310" cy="6858000"/>
          </a:xfrm>
          <a:custGeom>
            <a:avLst/>
            <a:gdLst/>
            <a:ahLst/>
            <a:cxnLst/>
            <a:rect l="l" t="t" r="r" b="b"/>
            <a:pathLst>
              <a:path w="67310"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46" name="bg object 46"/>
          <p:cNvSpPr/>
          <p:nvPr/>
        </p:nvSpPr>
        <p:spPr>
          <a:xfrm>
            <a:off x="3067811" y="0"/>
            <a:ext cx="66040" cy="6858000"/>
          </a:xfrm>
          <a:custGeom>
            <a:avLst/>
            <a:gdLst/>
            <a:ahLst/>
            <a:cxnLst/>
            <a:rect l="l" t="t" r="r" b="b"/>
            <a:pathLst>
              <a:path w="66039"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47" name="bg object 47"/>
          <p:cNvSpPr/>
          <p:nvPr/>
        </p:nvSpPr>
        <p:spPr>
          <a:xfrm>
            <a:off x="3265932"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48" name="bg object 48"/>
          <p:cNvSpPr/>
          <p:nvPr/>
        </p:nvSpPr>
        <p:spPr>
          <a:xfrm>
            <a:off x="3200400"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49" name="bg object 49"/>
          <p:cNvSpPr/>
          <p:nvPr/>
        </p:nvSpPr>
        <p:spPr>
          <a:xfrm>
            <a:off x="3395471" y="0"/>
            <a:ext cx="68580" cy="6858000"/>
          </a:xfrm>
          <a:custGeom>
            <a:avLst/>
            <a:gdLst/>
            <a:ahLst/>
            <a:cxnLst/>
            <a:rect l="l" t="t" r="r" b="b"/>
            <a:pathLst>
              <a:path w="68579" h="6858000">
                <a:moveTo>
                  <a:pt x="0" y="6858000"/>
                </a:moveTo>
                <a:lnTo>
                  <a:pt x="68579" y="6858000"/>
                </a:lnTo>
                <a:lnTo>
                  <a:pt x="68579" y="0"/>
                </a:lnTo>
                <a:lnTo>
                  <a:pt x="0" y="0"/>
                </a:lnTo>
                <a:lnTo>
                  <a:pt x="0" y="6858000"/>
                </a:lnTo>
                <a:close/>
              </a:path>
            </a:pathLst>
          </a:custGeom>
          <a:solidFill>
            <a:srgbClr val="EAEAEA"/>
          </a:solidFill>
        </p:spPr>
        <p:txBody>
          <a:bodyPr wrap="square" lIns="0" tIns="0" rIns="0" bIns="0" rtlCol="0"/>
          <a:lstStyle/>
          <a:p>
            <a:endParaRPr/>
          </a:p>
        </p:txBody>
      </p:sp>
      <p:sp>
        <p:nvSpPr>
          <p:cNvPr id="50" name="bg object 50"/>
          <p:cNvSpPr/>
          <p:nvPr/>
        </p:nvSpPr>
        <p:spPr>
          <a:xfrm>
            <a:off x="3331464" y="0"/>
            <a:ext cx="64135" cy="6858000"/>
          </a:xfrm>
          <a:custGeom>
            <a:avLst/>
            <a:gdLst/>
            <a:ahLst/>
            <a:cxnLst/>
            <a:rect l="l" t="t" r="r" b="b"/>
            <a:pathLst>
              <a:path w="64135" h="6858000">
                <a:moveTo>
                  <a:pt x="64008" y="0"/>
                </a:moveTo>
                <a:lnTo>
                  <a:pt x="0" y="0"/>
                </a:lnTo>
                <a:lnTo>
                  <a:pt x="0" y="6858000"/>
                </a:lnTo>
                <a:lnTo>
                  <a:pt x="64008" y="6858000"/>
                </a:lnTo>
                <a:lnTo>
                  <a:pt x="64008" y="0"/>
                </a:lnTo>
                <a:close/>
              </a:path>
            </a:pathLst>
          </a:custGeom>
          <a:solidFill>
            <a:srgbClr val="DDDDDD"/>
          </a:solidFill>
        </p:spPr>
        <p:txBody>
          <a:bodyPr wrap="square" lIns="0" tIns="0" rIns="0" bIns="0" rtlCol="0"/>
          <a:lstStyle/>
          <a:p>
            <a:endParaRPr/>
          </a:p>
        </p:txBody>
      </p:sp>
      <p:sp>
        <p:nvSpPr>
          <p:cNvPr id="51" name="bg object 51"/>
          <p:cNvSpPr/>
          <p:nvPr/>
        </p:nvSpPr>
        <p:spPr>
          <a:xfrm>
            <a:off x="3528059" y="0"/>
            <a:ext cx="67310" cy="6858000"/>
          </a:xfrm>
          <a:custGeom>
            <a:avLst/>
            <a:gdLst/>
            <a:ahLst/>
            <a:cxnLst/>
            <a:rect l="l" t="t" r="r" b="b"/>
            <a:pathLst>
              <a:path w="67310"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52" name="bg object 52"/>
          <p:cNvSpPr/>
          <p:nvPr/>
        </p:nvSpPr>
        <p:spPr>
          <a:xfrm>
            <a:off x="3464052" y="0"/>
            <a:ext cx="64135" cy="6858000"/>
          </a:xfrm>
          <a:custGeom>
            <a:avLst/>
            <a:gdLst/>
            <a:ahLst/>
            <a:cxnLst/>
            <a:rect l="l" t="t" r="r" b="b"/>
            <a:pathLst>
              <a:path w="64135" h="6858000">
                <a:moveTo>
                  <a:pt x="64008" y="0"/>
                </a:moveTo>
                <a:lnTo>
                  <a:pt x="0" y="0"/>
                </a:lnTo>
                <a:lnTo>
                  <a:pt x="0" y="6858000"/>
                </a:lnTo>
                <a:lnTo>
                  <a:pt x="64008" y="6858000"/>
                </a:lnTo>
                <a:lnTo>
                  <a:pt x="64008" y="0"/>
                </a:lnTo>
                <a:close/>
              </a:path>
            </a:pathLst>
          </a:custGeom>
          <a:solidFill>
            <a:srgbClr val="DDDDDD"/>
          </a:solidFill>
        </p:spPr>
        <p:txBody>
          <a:bodyPr wrap="square" lIns="0" tIns="0" rIns="0" bIns="0" rtlCol="0"/>
          <a:lstStyle/>
          <a:p>
            <a:endParaRPr/>
          </a:p>
        </p:txBody>
      </p:sp>
      <p:sp>
        <p:nvSpPr>
          <p:cNvPr id="53" name="bg object 53"/>
          <p:cNvSpPr/>
          <p:nvPr/>
        </p:nvSpPr>
        <p:spPr>
          <a:xfrm>
            <a:off x="3662171" y="0"/>
            <a:ext cx="66040" cy="6858000"/>
          </a:xfrm>
          <a:custGeom>
            <a:avLst/>
            <a:gdLst/>
            <a:ahLst/>
            <a:cxnLst/>
            <a:rect l="l" t="t" r="r" b="b"/>
            <a:pathLst>
              <a:path w="66039" h="6858000">
                <a:moveTo>
                  <a:pt x="0" y="6858000"/>
                </a:moveTo>
                <a:lnTo>
                  <a:pt x="65532" y="6858000"/>
                </a:lnTo>
                <a:lnTo>
                  <a:pt x="65532" y="0"/>
                </a:lnTo>
                <a:lnTo>
                  <a:pt x="0" y="0"/>
                </a:lnTo>
                <a:lnTo>
                  <a:pt x="0" y="6858000"/>
                </a:lnTo>
                <a:close/>
              </a:path>
            </a:pathLst>
          </a:custGeom>
          <a:solidFill>
            <a:srgbClr val="EAEAEA"/>
          </a:solidFill>
        </p:spPr>
        <p:txBody>
          <a:bodyPr wrap="square" lIns="0" tIns="0" rIns="0" bIns="0" rtlCol="0"/>
          <a:lstStyle/>
          <a:p>
            <a:endParaRPr/>
          </a:p>
        </p:txBody>
      </p:sp>
      <p:sp>
        <p:nvSpPr>
          <p:cNvPr id="54" name="bg object 54"/>
          <p:cNvSpPr/>
          <p:nvPr/>
        </p:nvSpPr>
        <p:spPr>
          <a:xfrm>
            <a:off x="3595115" y="0"/>
            <a:ext cx="67310" cy="6858000"/>
          </a:xfrm>
          <a:custGeom>
            <a:avLst/>
            <a:gdLst/>
            <a:ahLst/>
            <a:cxnLst/>
            <a:rect l="l" t="t" r="r" b="b"/>
            <a:pathLst>
              <a:path w="67310" h="6858000">
                <a:moveTo>
                  <a:pt x="67055" y="0"/>
                </a:moveTo>
                <a:lnTo>
                  <a:pt x="0" y="0"/>
                </a:lnTo>
                <a:lnTo>
                  <a:pt x="0" y="6858000"/>
                </a:lnTo>
                <a:lnTo>
                  <a:pt x="67055" y="6858000"/>
                </a:lnTo>
                <a:lnTo>
                  <a:pt x="67055" y="0"/>
                </a:lnTo>
                <a:close/>
              </a:path>
            </a:pathLst>
          </a:custGeom>
          <a:solidFill>
            <a:srgbClr val="DDDDDD"/>
          </a:solidFill>
        </p:spPr>
        <p:txBody>
          <a:bodyPr wrap="square" lIns="0" tIns="0" rIns="0" bIns="0" rtlCol="0"/>
          <a:lstStyle/>
          <a:p>
            <a:endParaRPr/>
          </a:p>
        </p:txBody>
      </p:sp>
      <p:sp>
        <p:nvSpPr>
          <p:cNvPr id="55" name="bg object 55"/>
          <p:cNvSpPr/>
          <p:nvPr/>
        </p:nvSpPr>
        <p:spPr>
          <a:xfrm>
            <a:off x="3793235" y="0"/>
            <a:ext cx="67310" cy="6858000"/>
          </a:xfrm>
          <a:custGeom>
            <a:avLst/>
            <a:gdLst/>
            <a:ahLst/>
            <a:cxnLst/>
            <a:rect l="l" t="t" r="r" b="b"/>
            <a:pathLst>
              <a:path w="67310"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56" name="bg object 56"/>
          <p:cNvSpPr/>
          <p:nvPr/>
        </p:nvSpPr>
        <p:spPr>
          <a:xfrm>
            <a:off x="3727703"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57" name="bg object 57"/>
          <p:cNvSpPr/>
          <p:nvPr/>
        </p:nvSpPr>
        <p:spPr>
          <a:xfrm>
            <a:off x="3925823"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58" name="bg object 58"/>
          <p:cNvSpPr/>
          <p:nvPr/>
        </p:nvSpPr>
        <p:spPr>
          <a:xfrm>
            <a:off x="3860291"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59" name="bg object 59"/>
          <p:cNvSpPr/>
          <p:nvPr/>
        </p:nvSpPr>
        <p:spPr>
          <a:xfrm>
            <a:off x="4053840" y="0"/>
            <a:ext cx="70485" cy="6858000"/>
          </a:xfrm>
          <a:custGeom>
            <a:avLst/>
            <a:gdLst/>
            <a:ahLst/>
            <a:cxnLst/>
            <a:rect l="l" t="t" r="r" b="b"/>
            <a:pathLst>
              <a:path w="70485" h="6858000">
                <a:moveTo>
                  <a:pt x="0" y="6858000"/>
                </a:moveTo>
                <a:lnTo>
                  <a:pt x="70104" y="6858000"/>
                </a:lnTo>
                <a:lnTo>
                  <a:pt x="70104" y="0"/>
                </a:lnTo>
                <a:lnTo>
                  <a:pt x="0" y="0"/>
                </a:lnTo>
                <a:lnTo>
                  <a:pt x="0" y="6858000"/>
                </a:lnTo>
                <a:close/>
              </a:path>
            </a:pathLst>
          </a:custGeom>
          <a:solidFill>
            <a:srgbClr val="EAEAEA"/>
          </a:solidFill>
        </p:spPr>
        <p:txBody>
          <a:bodyPr wrap="square" lIns="0" tIns="0" rIns="0" bIns="0" rtlCol="0"/>
          <a:lstStyle/>
          <a:p>
            <a:endParaRPr/>
          </a:p>
        </p:txBody>
      </p:sp>
      <p:sp>
        <p:nvSpPr>
          <p:cNvPr id="60" name="bg object 60"/>
          <p:cNvSpPr/>
          <p:nvPr/>
        </p:nvSpPr>
        <p:spPr>
          <a:xfrm>
            <a:off x="3991355" y="0"/>
            <a:ext cx="62865" cy="6858000"/>
          </a:xfrm>
          <a:custGeom>
            <a:avLst/>
            <a:gdLst/>
            <a:ahLst/>
            <a:cxnLst/>
            <a:rect l="l" t="t" r="r" b="b"/>
            <a:pathLst>
              <a:path w="62864" h="6858000">
                <a:moveTo>
                  <a:pt x="62484" y="0"/>
                </a:moveTo>
                <a:lnTo>
                  <a:pt x="0" y="0"/>
                </a:lnTo>
                <a:lnTo>
                  <a:pt x="0" y="6858000"/>
                </a:lnTo>
                <a:lnTo>
                  <a:pt x="62484" y="6858000"/>
                </a:lnTo>
                <a:lnTo>
                  <a:pt x="62484" y="0"/>
                </a:lnTo>
                <a:close/>
              </a:path>
            </a:pathLst>
          </a:custGeom>
          <a:solidFill>
            <a:srgbClr val="DDDDDD"/>
          </a:solidFill>
        </p:spPr>
        <p:txBody>
          <a:bodyPr wrap="square" lIns="0" tIns="0" rIns="0" bIns="0" rtlCol="0"/>
          <a:lstStyle/>
          <a:p>
            <a:endParaRPr/>
          </a:p>
        </p:txBody>
      </p:sp>
      <p:sp>
        <p:nvSpPr>
          <p:cNvPr id="61" name="bg object 61"/>
          <p:cNvSpPr/>
          <p:nvPr/>
        </p:nvSpPr>
        <p:spPr>
          <a:xfrm>
            <a:off x="4187952" y="0"/>
            <a:ext cx="68580" cy="6858000"/>
          </a:xfrm>
          <a:custGeom>
            <a:avLst/>
            <a:gdLst/>
            <a:ahLst/>
            <a:cxnLst/>
            <a:rect l="l" t="t" r="r" b="b"/>
            <a:pathLst>
              <a:path w="68579" h="6858000">
                <a:moveTo>
                  <a:pt x="0" y="6858000"/>
                </a:moveTo>
                <a:lnTo>
                  <a:pt x="68579" y="6858000"/>
                </a:lnTo>
                <a:lnTo>
                  <a:pt x="68579" y="0"/>
                </a:lnTo>
                <a:lnTo>
                  <a:pt x="0" y="0"/>
                </a:lnTo>
                <a:lnTo>
                  <a:pt x="0" y="6858000"/>
                </a:lnTo>
                <a:close/>
              </a:path>
            </a:pathLst>
          </a:custGeom>
          <a:solidFill>
            <a:srgbClr val="EAEAEA"/>
          </a:solidFill>
        </p:spPr>
        <p:txBody>
          <a:bodyPr wrap="square" lIns="0" tIns="0" rIns="0" bIns="0" rtlCol="0"/>
          <a:lstStyle/>
          <a:p>
            <a:endParaRPr/>
          </a:p>
        </p:txBody>
      </p:sp>
      <p:sp>
        <p:nvSpPr>
          <p:cNvPr id="62" name="bg object 62"/>
          <p:cNvSpPr/>
          <p:nvPr/>
        </p:nvSpPr>
        <p:spPr>
          <a:xfrm>
            <a:off x="4123944" y="0"/>
            <a:ext cx="64135" cy="6858000"/>
          </a:xfrm>
          <a:custGeom>
            <a:avLst/>
            <a:gdLst/>
            <a:ahLst/>
            <a:cxnLst/>
            <a:rect l="l" t="t" r="r" b="b"/>
            <a:pathLst>
              <a:path w="64135" h="6858000">
                <a:moveTo>
                  <a:pt x="64008" y="0"/>
                </a:moveTo>
                <a:lnTo>
                  <a:pt x="0" y="0"/>
                </a:lnTo>
                <a:lnTo>
                  <a:pt x="0" y="6858000"/>
                </a:lnTo>
                <a:lnTo>
                  <a:pt x="64008" y="6858000"/>
                </a:lnTo>
                <a:lnTo>
                  <a:pt x="64008" y="0"/>
                </a:lnTo>
                <a:close/>
              </a:path>
            </a:pathLst>
          </a:custGeom>
          <a:solidFill>
            <a:srgbClr val="DDDDDD"/>
          </a:solidFill>
        </p:spPr>
        <p:txBody>
          <a:bodyPr wrap="square" lIns="0" tIns="0" rIns="0" bIns="0" rtlCol="0"/>
          <a:lstStyle/>
          <a:p>
            <a:endParaRPr/>
          </a:p>
        </p:txBody>
      </p:sp>
      <p:sp>
        <p:nvSpPr>
          <p:cNvPr id="63" name="bg object 63"/>
          <p:cNvSpPr/>
          <p:nvPr/>
        </p:nvSpPr>
        <p:spPr>
          <a:xfrm>
            <a:off x="4322064"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64" name="bg object 64"/>
          <p:cNvSpPr/>
          <p:nvPr/>
        </p:nvSpPr>
        <p:spPr>
          <a:xfrm>
            <a:off x="4256532"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65" name="bg object 65"/>
          <p:cNvSpPr/>
          <p:nvPr/>
        </p:nvSpPr>
        <p:spPr>
          <a:xfrm>
            <a:off x="4454652" y="0"/>
            <a:ext cx="66040" cy="6858000"/>
          </a:xfrm>
          <a:custGeom>
            <a:avLst/>
            <a:gdLst/>
            <a:ahLst/>
            <a:cxnLst/>
            <a:rect l="l" t="t" r="r" b="b"/>
            <a:pathLst>
              <a:path w="66039" h="6858000">
                <a:moveTo>
                  <a:pt x="0" y="6858000"/>
                </a:moveTo>
                <a:lnTo>
                  <a:pt x="65532" y="6858000"/>
                </a:lnTo>
                <a:lnTo>
                  <a:pt x="65532" y="0"/>
                </a:lnTo>
                <a:lnTo>
                  <a:pt x="0" y="0"/>
                </a:lnTo>
                <a:lnTo>
                  <a:pt x="0" y="6858000"/>
                </a:lnTo>
                <a:close/>
              </a:path>
            </a:pathLst>
          </a:custGeom>
          <a:solidFill>
            <a:srgbClr val="EAEAEA"/>
          </a:solidFill>
        </p:spPr>
        <p:txBody>
          <a:bodyPr wrap="square" lIns="0" tIns="0" rIns="0" bIns="0" rtlCol="0"/>
          <a:lstStyle/>
          <a:p>
            <a:endParaRPr/>
          </a:p>
        </p:txBody>
      </p:sp>
      <p:sp>
        <p:nvSpPr>
          <p:cNvPr id="66" name="bg object 66"/>
          <p:cNvSpPr/>
          <p:nvPr/>
        </p:nvSpPr>
        <p:spPr>
          <a:xfrm>
            <a:off x="4387596" y="0"/>
            <a:ext cx="67310" cy="6858000"/>
          </a:xfrm>
          <a:custGeom>
            <a:avLst/>
            <a:gdLst/>
            <a:ahLst/>
            <a:cxnLst/>
            <a:rect l="l" t="t" r="r" b="b"/>
            <a:pathLst>
              <a:path w="67310" h="6858000">
                <a:moveTo>
                  <a:pt x="67055" y="0"/>
                </a:moveTo>
                <a:lnTo>
                  <a:pt x="0" y="0"/>
                </a:lnTo>
                <a:lnTo>
                  <a:pt x="0" y="6858000"/>
                </a:lnTo>
                <a:lnTo>
                  <a:pt x="67055" y="6858000"/>
                </a:lnTo>
                <a:lnTo>
                  <a:pt x="67055" y="0"/>
                </a:lnTo>
                <a:close/>
              </a:path>
            </a:pathLst>
          </a:custGeom>
          <a:solidFill>
            <a:srgbClr val="DDDDDD"/>
          </a:solidFill>
        </p:spPr>
        <p:txBody>
          <a:bodyPr wrap="square" lIns="0" tIns="0" rIns="0" bIns="0" rtlCol="0"/>
          <a:lstStyle/>
          <a:p>
            <a:endParaRPr/>
          </a:p>
        </p:txBody>
      </p:sp>
      <p:sp>
        <p:nvSpPr>
          <p:cNvPr id="67" name="bg object 67"/>
          <p:cNvSpPr/>
          <p:nvPr/>
        </p:nvSpPr>
        <p:spPr>
          <a:xfrm>
            <a:off x="4585715"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68" name="bg object 68"/>
          <p:cNvSpPr/>
          <p:nvPr/>
        </p:nvSpPr>
        <p:spPr>
          <a:xfrm>
            <a:off x="4520184"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69" name="bg object 69"/>
          <p:cNvSpPr/>
          <p:nvPr/>
        </p:nvSpPr>
        <p:spPr>
          <a:xfrm>
            <a:off x="4712208" y="0"/>
            <a:ext cx="71755" cy="6858000"/>
          </a:xfrm>
          <a:custGeom>
            <a:avLst/>
            <a:gdLst/>
            <a:ahLst/>
            <a:cxnLst/>
            <a:rect l="l" t="t" r="r" b="b"/>
            <a:pathLst>
              <a:path w="71754" h="6858000">
                <a:moveTo>
                  <a:pt x="0" y="6858000"/>
                </a:moveTo>
                <a:lnTo>
                  <a:pt x="71627" y="6858000"/>
                </a:lnTo>
                <a:lnTo>
                  <a:pt x="71627" y="0"/>
                </a:lnTo>
                <a:lnTo>
                  <a:pt x="0" y="0"/>
                </a:lnTo>
                <a:lnTo>
                  <a:pt x="0" y="6858000"/>
                </a:lnTo>
                <a:close/>
              </a:path>
            </a:pathLst>
          </a:custGeom>
          <a:solidFill>
            <a:srgbClr val="EAEAEA"/>
          </a:solidFill>
        </p:spPr>
        <p:txBody>
          <a:bodyPr wrap="square" lIns="0" tIns="0" rIns="0" bIns="0" rtlCol="0"/>
          <a:lstStyle/>
          <a:p>
            <a:endParaRPr/>
          </a:p>
        </p:txBody>
      </p:sp>
      <p:sp>
        <p:nvSpPr>
          <p:cNvPr id="70" name="bg object 70"/>
          <p:cNvSpPr/>
          <p:nvPr/>
        </p:nvSpPr>
        <p:spPr>
          <a:xfrm>
            <a:off x="4651247" y="0"/>
            <a:ext cx="60960" cy="6858000"/>
          </a:xfrm>
          <a:custGeom>
            <a:avLst/>
            <a:gdLst/>
            <a:ahLst/>
            <a:cxnLst/>
            <a:rect l="l" t="t" r="r" b="b"/>
            <a:pathLst>
              <a:path w="60960" h="6858000">
                <a:moveTo>
                  <a:pt x="60960" y="0"/>
                </a:moveTo>
                <a:lnTo>
                  <a:pt x="0" y="0"/>
                </a:lnTo>
                <a:lnTo>
                  <a:pt x="0" y="6858000"/>
                </a:lnTo>
                <a:lnTo>
                  <a:pt x="60960" y="6858000"/>
                </a:lnTo>
                <a:lnTo>
                  <a:pt x="60960" y="0"/>
                </a:lnTo>
                <a:close/>
              </a:path>
            </a:pathLst>
          </a:custGeom>
          <a:solidFill>
            <a:srgbClr val="DDDDDD"/>
          </a:solidFill>
        </p:spPr>
        <p:txBody>
          <a:bodyPr wrap="square" lIns="0" tIns="0" rIns="0" bIns="0" rtlCol="0"/>
          <a:lstStyle/>
          <a:p>
            <a:endParaRPr/>
          </a:p>
        </p:txBody>
      </p:sp>
      <p:sp>
        <p:nvSpPr>
          <p:cNvPr id="71" name="bg object 71"/>
          <p:cNvSpPr/>
          <p:nvPr/>
        </p:nvSpPr>
        <p:spPr>
          <a:xfrm>
            <a:off x="4846320" y="0"/>
            <a:ext cx="70485" cy="6858000"/>
          </a:xfrm>
          <a:custGeom>
            <a:avLst/>
            <a:gdLst/>
            <a:ahLst/>
            <a:cxnLst/>
            <a:rect l="l" t="t" r="r" b="b"/>
            <a:pathLst>
              <a:path w="70485" h="6858000">
                <a:moveTo>
                  <a:pt x="0" y="6858000"/>
                </a:moveTo>
                <a:lnTo>
                  <a:pt x="70103" y="6858000"/>
                </a:lnTo>
                <a:lnTo>
                  <a:pt x="70103" y="0"/>
                </a:lnTo>
                <a:lnTo>
                  <a:pt x="0" y="0"/>
                </a:lnTo>
                <a:lnTo>
                  <a:pt x="0" y="6858000"/>
                </a:lnTo>
                <a:close/>
              </a:path>
            </a:pathLst>
          </a:custGeom>
          <a:solidFill>
            <a:srgbClr val="EAEAEA"/>
          </a:solidFill>
        </p:spPr>
        <p:txBody>
          <a:bodyPr wrap="square" lIns="0" tIns="0" rIns="0" bIns="0" rtlCol="0"/>
          <a:lstStyle/>
          <a:p>
            <a:endParaRPr/>
          </a:p>
        </p:txBody>
      </p:sp>
      <p:sp>
        <p:nvSpPr>
          <p:cNvPr id="72" name="bg object 72"/>
          <p:cNvSpPr/>
          <p:nvPr/>
        </p:nvSpPr>
        <p:spPr>
          <a:xfrm>
            <a:off x="4783835" y="0"/>
            <a:ext cx="62865" cy="6858000"/>
          </a:xfrm>
          <a:custGeom>
            <a:avLst/>
            <a:gdLst/>
            <a:ahLst/>
            <a:cxnLst/>
            <a:rect l="l" t="t" r="r" b="b"/>
            <a:pathLst>
              <a:path w="62864" h="6858000">
                <a:moveTo>
                  <a:pt x="62484" y="0"/>
                </a:moveTo>
                <a:lnTo>
                  <a:pt x="0" y="0"/>
                </a:lnTo>
                <a:lnTo>
                  <a:pt x="0" y="6858000"/>
                </a:lnTo>
                <a:lnTo>
                  <a:pt x="62484" y="6858000"/>
                </a:lnTo>
                <a:lnTo>
                  <a:pt x="62484" y="0"/>
                </a:lnTo>
                <a:close/>
              </a:path>
            </a:pathLst>
          </a:custGeom>
          <a:solidFill>
            <a:srgbClr val="DDDDDD"/>
          </a:solidFill>
        </p:spPr>
        <p:txBody>
          <a:bodyPr wrap="square" lIns="0" tIns="0" rIns="0" bIns="0" rtlCol="0"/>
          <a:lstStyle/>
          <a:p>
            <a:endParaRPr/>
          </a:p>
        </p:txBody>
      </p:sp>
      <p:sp>
        <p:nvSpPr>
          <p:cNvPr id="73" name="bg object 73"/>
          <p:cNvSpPr/>
          <p:nvPr/>
        </p:nvSpPr>
        <p:spPr>
          <a:xfrm>
            <a:off x="4980432" y="0"/>
            <a:ext cx="67310" cy="6858000"/>
          </a:xfrm>
          <a:custGeom>
            <a:avLst/>
            <a:gdLst/>
            <a:ahLst/>
            <a:cxnLst/>
            <a:rect l="l" t="t" r="r" b="b"/>
            <a:pathLst>
              <a:path w="67310"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74" name="bg object 74"/>
          <p:cNvSpPr/>
          <p:nvPr/>
        </p:nvSpPr>
        <p:spPr>
          <a:xfrm>
            <a:off x="4916423" y="0"/>
            <a:ext cx="64135" cy="6858000"/>
          </a:xfrm>
          <a:custGeom>
            <a:avLst/>
            <a:gdLst/>
            <a:ahLst/>
            <a:cxnLst/>
            <a:rect l="l" t="t" r="r" b="b"/>
            <a:pathLst>
              <a:path w="64135" h="6858000">
                <a:moveTo>
                  <a:pt x="64008" y="0"/>
                </a:moveTo>
                <a:lnTo>
                  <a:pt x="0" y="0"/>
                </a:lnTo>
                <a:lnTo>
                  <a:pt x="0" y="6858000"/>
                </a:lnTo>
                <a:lnTo>
                  <a:pt x="64008" y="6858000"/>
                </a:lnTo>
                <a:lnTo>
                  <a:pt x="64008" y="0"/>
                </a:lnTo>
                <a:close/>
              </a:path>
            </a:pathLst>
          </a:custGeom>
          <a:solidFill>
            <a:srgbClr val="DDDDDD"/>
          </a:solidFill>
        </p:spPr>
        <p:txBody>
          <a:bodyPr wrap="square" lIns="0" tIns="0" rIns="0" bIns="0" rtlCol="0"/>
          <a:lstStyle/>
          <a:p>
            <a:endParaRPr/>
          </a:p>
        </p:txBody>
      </p:sp>
      <p:sp>
        <p:nvSpPr>
          <p:cNvPr id="75" name="bg object 75"/>
          <p:cNvSpPr/>
          <p:nvPr/>
        </p:nvSpPr>
        <p:spPr>
          <a:xfrm>
            <a:off x="5114544" y="0"/>
            <a:ext cx="66040" cy="6858000"/>
          </a:xfrm>
          <a:custGeom>
            <a:avLst/>
            <a:gdLst/>
            <a:ahLst/>
            <a:cxnLst/>
            <a:rect l="l" t="t" r="r" b="b"/>
            <a:pathLst>
              <a:path w="66039" h="6858000">
                <a:moveTo>
                  <a:pt x="0" y="6858000"/>
                </a:moveTo>
                <a:lnTo>
                  <a:pt x="65532" y="6858000"/>
                </a:lnTo>
                <a:lnTo>
                  <a:pt x="65532" y="0"/>
                </a:lnTo>
                <a:lnTo>
                  <a:pt x="0" y="0"/>
                </a:lnTo>
                <a:lnTo>
                  <a:pt x="0" y="6858000"/>
                </a:lnTo>
                <a:close/>
              </a:path>
            </a:pathLst>
          </a:custGeom>
          <a:solidFill>
            <a:srgbClr val="EAEAEA"/>
          </a:solidFill>
        </p:spPr>
        <p:txBody>
          <a:bodyPr wrap="square" lIns="0" tIns="0" rIns="0" bIns="0" rtlCol="0"/>
          <a:lstStyle/>
          <a:p>
            <a:endParaRPr/>
          </a:p>
        </p:txBody>
      </p:sp>
      <p:sp>
        <p:nvSpPr>
          <p:cNvPr id="76" name="bg object 76"/>
          <p:cNvSpPr/>
          <p:nvPr/>
        </p:nvSpPr>
        <p:spPr>
          <a:xfrm>
            <a:off x="5047488" y="0"/>
            <a:ext cx="67310" cy="6858000"/>
          </a:xfrm>
          <a:custGeom>
            <a:avLst/>
            <a:gdLst/>
            <a:ahLst/>
            <a:cxnLst/>
            <a:rect l="l" t="t" r="r" b="b"/>
            <a:pathLst>
              <a:path w="67310" h="6858000">
                <a:moveTo>
                  <a:pt x="67055" y="0"/>
                </a:moveTo>
                <a:lnTo>
                  <a:pt x="0" y="0"/>
                </a:lnTo>
                <a:lnTo>
                  <a:pt x="0" y="6858000"/>
                </a:lnTo>
                <a:lnTo>
                  <a:pt x="67055" y="6858000"/>
                </a:lnTo>
                <a:lnTo>
                  <a:pt x="67055" y="0"/>
                </a:lnTo>
                <a:close/>
              </a:path>
            </a:pathLst>
          </a:custGeom>
          <a:solidFill>
            <a:srgbClr val="DDDDDD"/>
          </a:solidFill>
        </p:spPr>
        <p:txBody>
          <a:bodyPr wrap="square" lIns="0" tIns="0" rIns="0" bIns="0" rtlCol="0"/>
          <a:lstStyle/>
          <a:p>
            <a:endParaRPr/>
          </a:p>
        </p:txBody>
      </p:sp>
      <p:sp>
        <p:nvSpPr>
          <p:cNvPr id="77" name="bg object 77"/>
          <p:cNvSpPr/>
          <p:nvPr/>
        </p:nvSpPr>
        <p:spPr>
          <a:xfrm>
            <a:off x="5245608" y="0"/>
            <a:ext cx="67310" cy="6858000"/>
          </a:xfrm>
          <a:custGeom>
            <a:avLst/>
            <a:gdLst/>
            <a:ahLst/>
            <a:cxnLst/>
            <a:rect l="l" t="t" r="r" b="b"/>
            <a:pathLst>
              <a:path w="67310"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78" name="bg object 78"/>
          <p:cNvSpPr/>
          <p:nvPr/>
        </p:nvSpPr>
        <p:spPr>
          <a:xfrm>
            <a:off x="5180076"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79" name="bg object 79"/>
          <p:cNvSpPr/>
          <p:nvPr/>
        </p:nvSpPr>
        <p:spPr>
          <a:xfrm>
            <a:off x="5378196" y="0"/>
            <a:ext cx="64135" cy="6858000"/>
          </a:xfrm>
          <a:custGeom>
            <a:avLst/>
            <a:gdLst/>
            <a:ahLst/>
            <a:cxnLst/>
            <a:rect l="l" t="t" r="r" b="b"/>
            <a:pathLst>
              <a:path w="64135" h="6858000">
                <a:moveTo>
                  <a:pt x="0" y="6858000"/>
                </a:moveTo>
                <a:lnTo>
                  <a:pt x="64007" y="6858000"/>
                </a:lnTo>
                <a:lnTo>
                  <a:pt x="64007" y="0"/>
                </a:lnTo>
                <a:lnTo>
                  <a:pt x="0" y="0"/>
                </a:lnTo>
                <a:lnTo>
                  <a:pt x="0" y="6858000"/>
                </a:lnTo>
                <a:close/>
              </a:path>
            </a:pathLst>
          </a:custGeom>
          <a:solidFill>
            <a:srgbClr val="EAEAEA"/>
          </a:solidFill>
        </p:spPr>
        <p:txBody>
          <a:bodyPr wrap="square" lIns="0" tIns="0" rIns="0" bIns="0" rtlCol="0"/>
          <a:lstStyle/>
          <a:p>
            <a:endParaRPr/>
          </a:p>
        </p:txBody>
      </p:sp>
      <p:sp>
        <p:nvSpPr>
          <p:cNvPr id="80" name="bg object 80"/>
          <p:cNvSpPr/>
          <p:nvPr/>
        </p:nvSpPr>
        <p:spPr>
          <a:xfrm>
            <a:off x="5312664"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81" name="bg object 81"/>
          <p:cNvSpPr/>
          <p:nvPr/>
        </p:nvSpPr>
        <p:spPr>
          <a:xfrm>
            <a:off x="5504688" y="0"/>
            <a:ext cx="71755" cy="6858000"/>
          </a:xfrm>
          <a:custGeom>
            <a:avLst/>
            <a:gdLst/>
            <a:ahLst/>
            <a:cxnLst/>
            <a:rect l="l" t="t" r="r" b="b"/>
            <a:pathLst>
              <a:path w="71754" h="6858000">
                <a:moveTo>
                  <a:pt x="0" y="6858000"/>
                </a:moveTo>
                <a:lnTo>
                  <a:pt x="71627" y="6858000"/>
                </a:lnTo>
                <a:lnTo>
                  <a:pt x="71627" y="0"/>
                </a:lnTo>
                <a:lnTo>
                  <a:pt x="0" y="0"/>
                </a:lnTo>
                <a:lnTo>
                  <a:pt x="0" y="6858000"/>
                </a:lnTo>
                <a:close/>
              </a:path>
            </a:pathLst>
          </a:custGeom>
          <a:solidFill>
            <a:srgbClr val="EAEAEA"/>
          </a:solidFill>
        </p:spPr>
        <p:txBody>
          <a:bodyPr wrap="square" lIns="0" tIns="0" rIns="0" bIns="0" rtlCol="0"/>
          <a:lstStyle/>
          <a:p>
            <a:endParaRPr/>
          </a:p>
        </p:txBody>
      </p:sp>
      <p:sp>
        <p:nvSpPr>
          <p:cNvPr id="82" name="bg object 82"/>
          <p:cNvSpPr/>
          <p:nvPr/>
        </p:nvSpPr>
        <p:spPr>
          <a:xfrm>
            <a:off x="5442203" y="0"/>
            <a:ext cx="62865" cy="6858000"/>
          </a:xfrm>
          <a:custGeom>
            <a:avLst/>
            <a:gdLst/>
            <a:ahLst/>
            <a:cxnLst/>
            <a:rect l="l" t="t" r="r" b="b"/>
            <a:pathLst>
              <a:path w="62864" h="6858000">
                <a:moveTo>
                  <a:pt x="62484" y="0"/>
                </a:moveTo>
                <a:lnTo>
                  <a:pt x="0" y="0"/>
                </a:lnTo>
                <a:lnTo>
                  <a:pt x="0" y="6858000"/>
                </a:lnTo>
                <a:lnTo>
                  <a:pt x="62484" y="6858000"/>
                </a:lnTo>
                <a:lnTo>
                  <a:pt x="62484" y="0"/>
                </a:lnTo>
                <a:close/>
              </a:path>
            </a:pathLst>
          </a:custGeom>
          <a:solidFill>
            <a:srgbClr val="DDDDDD"/>
          </a:solidFill>
        </p:spPr>
        <p:txBody>
          <a:bodyPr wrap="square" lIns="0" tIns="0" rIns="0" bIns="0" rtlCol="0"/>
          <a:lstStyle/>
          <a:p>
            <a:endParaRPr/>
          </a:p>
        </p:txBody>
      </p:sp>
      <p:sp>
        <p:nvSpPr>
          <p:cNvPr id="83" name="bg object 83"/>
          <p:cNvSpPr/>
          <p:nvPr/>
        </p:nvSpPr>
        <p:spPr>
          <a:xfrm>
            <a:off x="5638800" y="0"/>
            <a:ext cx="70485" cy="6858000"/>
          </a:xfrm>
          <a:custGeom>
            <a:avLst/>
            <a:gdLst/>
            <a:ahLst/>
            <a:cxnLst/>
            <a:rect l="l" t="t" r="r" b="b"/>
            <a:pathLst>
              <a:path w="70485" h="6858000">
                <a:moveTo>
                  <a:pt x="0" y="6858000"/>
                </a:moveTo>
                <a:lnTo>
                  <a:pt x="70103" y="6858000"/>
                </a:lnTo>
                <a:lnTo>
                  <a:pt x="70103" y="0"/>
                </a:lnTo>
                <a:lnTo>
                  <a:pt x="0" y="0"/>
                </a:lnTo>
                <a:lnTo>
                  <a:pt x="0" y="6858000"/>
                </a:lnTo>
                <a:close/>
              </a:path>
            </a:pathLst>
          </a:custGeom>
          <a:solidFill>
            <a:srgbClr val="EAEAEA"/>
          </a:solidFill>
        </p:spPr>
        <p:txBody>
          <a:bodyPr wrap="square" lIns="0" tIns="0" rIns="0" bIns="0" rtlCol="0"/>
          <a:lstStyle/>
          <a:p>
            <a:endParaRPr/>
          </a:p>
        </p:txBody>
      </p:sp>
      <p:sp>
        <p:nvSpPr>
          <p:cNvPr id="84" name="bg object 84"/>
          <p:cNvSpPr/>
          <p:nvPr/>
        </p:nvSpPr>
        <p:spPr>
          <a:xfrm>
            <a:off x="5576315" y="0"/>
            <a:ext cx="62865" cy="6858000"/>
          </a:xfrm>
          <a:custGeom>
            <a:avLst/>
            <a:gdLst/>
            <a:ahLst/>
            <a:cxnLst/>
            <a:rect l="l" t="t" r="r" b="b"/>
            <a:pathLst>
              <a:path w="62864" h="6858000">
                <a:moveTo>
                  <a:pt x="62484" y="0"/>
                </a:moveTo>
                <a:lnTo>
                  <a:pt x="0" y="0"/>
                </a:lnTo>
                <a:lnTo>
                  <a:pt x="0" y="6858000"/>
                </a:lnTo>
                <a:lnTo>
                  <a:pt x="62484" y="6858000"/>
                </a:lnTo>
                <a:lnTo>
                  <a:pt x="62484" y="0"/>
                </a:lnTo>
                <a:close/>
              </a:path>
            </a:pathLst>
          </a:custGeom>
          <a:solidFill>
            <a:srgbClr val="DDDDDD"/>
          </a:solidFill>
        </p:spPr>
        <p:txBody>
          <a:bodyPr wrap="square" lIns="0" tIns="0" rIns="0" bIns="0" rtlCol="0"/>
          <a:lstStyle/>
          <a:p>
            <a:endParaRPr/>
          </a:p>
        </p:txBody>
      </p:sp>
      <p:sp>
        <p:nvSpPr>
          <p:cNvPr id="85" name="bg object 85"/>
          <p:cNvSpPr/>
          <p:nvPr/>
        </p:nvSpPr>
        <p:spPr>
          <a:xfrm>
            <a:off x="5772911" y="0"/>
            <a:ext cx="67310" cy="6858000"/>
          </a:xfrm>
          <a:custGeom>
            <a:avLst/>
            <a:gdLst/>
            <a:ahLst/>
            <a:cxnLst/>
            <a:rect l="l" t="t" r="r" b="b"/>
            <a:pathLst>
              <a:path w="67310"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86" name="bg object 86"/>
          <p:cNvSpPr/>
          <p:nvPr/>
        </p:nvSpPr>
        <p:spPr>
          <a:xfrm>
            <a:off x="5708903" y="0"/>
            <a:ext cx="64135" cy="6858000"/>
          </a:xfrm>
          <a:custGeom>
            <a:avLst/>
            <a:gdLst/>
            <a:ahLst/>
            <a:cxnLst/>
            <a:rect l="l" t="t" r="r" b="b"/>
            <a:pathLst>
              <a:path w="64135" h="6858000">
                <a:moveTo>
                  <a:pt x="64008" y="0"/>
                </a:moveTo>
                <a:lnTo>
                  <a:pt x="0" y="0"/>
                </a:lnTo>
                <a:lnTo>
                  <a:pt x="0" y="6858000"/>
                </a:lnTo>
                <a:lnTo>
                  <a:pt x="64008" y="6858000"/>
                </a:lnTo>
                <a:lnTo>
                  <a:pt x="64008" y="0"/>
                </a:lnTo>
                <a:close/>
              </a:path>
            </a:pathLst>
          </a:custGeom>
          <a:solidFill>
            <a:srgbClr val="DDDDDD"/>
          </a:solidFill>
        </p:spPr>
        <p:txBody>
          <a:bodyPr wrap="square" lIns="0" tIns="0" rIns="0" bIns="0" rtlCol="0"/>
          <a:lstStyle/>
          <a:p>
            <a:endParaRPr/>
          </a:p>
        </p:txBody>
      </p:sp>
      <p:sp>
        <p:nvSpPr>
          <p:cNvPr id="87" name="bg object 87"/>
          <p:cNvSpPr/>
          <p:nvPr/>
        </p:nvSpPr>
        <p:spPr>
          <a:xfrm>
            <a:off x="5907023" y="0"/>
            <a:ext cx="66040" cy="6858000"/>
          </a:xfrm>
          <a:custGeom>
            <a:avLst/>
            <a:gdLst/>
            <a:ahLst/>
            <a:cxnLst/>
            <a:rect l="l" t="t" r="r" b="b"/>
            <a:pathLst>
              <a:path w="66039" h="6858000">
                <a:moveTo>
                  <a:pt x="0" y="6858000"/>
                </a:moveTo>
                <a:lnTo>
                  <a:pt x="65532" y="6858000"/>
                </a:lnTo>
                <a:lnTo>
                  <a:pt x="65532" y="0"/>
                </a:lnTo>
                <a:lnTo>
                  <a:pt x="0" y="0"/>
                </a:lnTo>
                <a:lnTo>
                  <a:pt x="0" y="6858000"/>
                </a:lnTo>
                <a:close/>
              </a:path>
            </a:pathLst>
          </a:custGeom>
          <a:solidFill>
            <a:srgbClr val="EAEAEA"/>
          </a:solidFill>
        </p:spPr>
        <p:txBody>
          <a:bodyPr wrap="square" lIns="0" tIns="0" rIns="0" bIns="0" rtlCol="0"/>
          <a:lstStyle/>
          <a:p>
            <a:endParaRPr/>
          </a:p>
        </p:txBody>
      </p:sp>
      <p:sp>
        <p:nvSpPr>
          <p:cNvPr id="88" name="bg object 88"/>
          <p:cNvSpPr/>
          <p:nvPr/>
        </p:nvSpPr>
        <p:spPr>
          <a:xfrm>
            <a:off x="5839967" y="0"/>
            <a:ext cx="67310" cy="6858000"/>
          </a:xfrm>
          <a:custGeom>
            <a:avLst/>
            <a:gdLst/>
            <a:ahLst/>
            <a:cxnLst/>
            <a:rect l="l" t="t" r="r" b="b"/>
            <a:pathLst>
              <a:path w="67310" h="6858000">
                <a:moveTo>
                  <a:pt x="67055" y="0"/>
                </a:moveTo>
                <a:lnTo>
                  <a:pt x="0" y="0"/>
                </a:lnTo>
                <a:lnTo>
                  <a:pt x="0" y="6858000"/>
                </a:lnTo>
                <a:lnTo>
                  <a:pt x="67055" y="6858000"/>
                </a:lnTo>
                <a:lnTo>
                  <a:pt x="67055" y="0"/>
                </a:lnTo>
                <a:close/>
              </a:path>
            </a:pathLst>
          </a:custGeom>
          <a:solidFill>
            <a:srgbClr val="DDDDDD"/>
          </a:solidFill>
        </p:spPr>
        <p:txBody>
          <a:bodyPr wrap="square" lIns="0" tIns="0" rIns="0" bIns="0" rtlCol="0"/>
          <a:lstStyle/>
          <a:p>
            <a:endParaRPr/>
          </a:p>
        </p:txBody>
      </p:sp>
      <p:sp>
        <p:nvSpPr>
          <p:cNvPr id="89" name="bg object 89"/>
          <p:cNvSpPr/>
          <p:nvPr/>
        </p:nvSpPr>
        <p:spPr>
          <a:xfrm>
            <a:off x="6038088" y="0"/>
            <a:ext cx="67310" cy="6858000"/>
          </a:xfrm>
          <a:custGeom>
            <a:avLst/>
            <a:gdLst/>
            <a:ahLst/>
            <a:cxnLst/>
            <a:rect l="l" t="t" r="r" b="b"/>
            <a:pathLst>
              <a:path w="67310"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90" name="bg object 90"/>
          <p:cNvSpPr/>
          <p:nvPr/>
        </p:nvSpPr>
        <p:spPr>
          <a:xfrm>
            <a:off x="5972555"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91" name="bg object 91"/>
          <p:cNvSpPr/>
          <p:nvPr/>
        </p:nvSpPr>
        <p:spPr>
          <a:xfrm>
            <a:off x="6170676" y="0"/>
            <a:ext cx="67310" cy="6858000"/>
          </a:xfrm>
          <a:custGeom>
            <a:avLst/>
            <a:gdLst/>
            <a:ahLst/>
            <a:cxnLst/>
            <a:rect l="l" t="t" r="r" b="b"/>
            <a:pathLst>
              <a:path w="67310"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92" name="bg object 92"/>
          <p:cNvSpPr/>
          <p:nvPr/>
        </p:nvSpPr>
        <p:spPr>
          <a:xfrm>
            <a:off x="6105144"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93" name="bg object 93"/>
          <p:cNvSpPr/>
          <p:nvPr/>
        </p:nvSpPr>
        <p:spPr>
          <a:xfrm>
            <a:off x="6303264" y="0"/>
            <a:ext cx="66040" cy="6858000"/>
          </a:xfrm>
          <a:custGeom>
            <a:avLst/>
            <a:gdLst/>
            <a:ahLst/>
            <a:cxnLst/>
            <a:rect l="l" t="t" r="r" b="b"/>
            <a:pathLst>
              <a:path w="66039"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94" name="bg object 94"/>
          <p:cNvSpPr/>
          <p:nvPr/>
        </p:nvSpPr>
        <p:spPr>
          <a:xfrm>
            <a:off x="6237732" y="0"/>
            <a:ext cx="66040" cy="6858000"/>
          </a:xfrm>
          <a:custGeom>
            <a:avLst/>
            <a:gdLst/>
            <a:ahLst/>
            <a:cxnLst/>
            <a:rect l="l" t="t" r="r" b="b"/>
            <a:pathLst>
              <a:path w="66039"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95" name="bg object 95"/>
          <p:cNvSpPr/>
          <p:nvPr/>
        </p:nvSpPr>
        <p:spPr>
          <a:xfrm>
            <a:off x="6431279" y="0"/>
            <a:ext cx="68580" cy="6858000"/>
          </a:xfrm>
          <a:custGeom>
            <a:avLst/>
            <a:gdLst/>
            <a:ahLst/>
            <a:cxnLst/>
            <a:rect l="l" t="t" r="r" b="b"/>
            <a:pathLst>
              <a:path w="68579" h="6858000">
                <a:moveTo>
                  <a:pt x="0" y="6858000"/>
                </a:moveTo>
                <a:lnTo>
                  <a:pt x="68579" y="6858000"/>
                </a:lnTo>
                <a:lnTo>
                  <a:pt x="68579" y="0"/>
                </a:lnTo>
                <a:lnTo>
                  <a:pt x="0" y="0"/>
                </a:lnTo>
                <a:lnTo>
                  <a:pt x="0" y="6858000"/>
                </a:lnTo>
                <a:close/>
              </a:path>
            </a:pathLst>
          </a:custGeom>
          <a:solidFill>
            <a:srgbClr val="EAEAEA"/>
          </a:solidFill>
        </p:spPr>
        <p:txBody>
          <a:bodyPr wrap="square" lIns="0" tIns="0" rIns="0" bIns="0" rtlCol="0"/>
          <a:lstStyle/>
          <a:p>
            <a:endParaRPr/>
          </a:p>
        </p:txBody>
      </p:sp>
      <p:sp>
        <p:nvSpPr>
          <p:cNvPr id="96" name="bg object 96"/>
          <p:cNvSpPr/>
          <p:nvPr/>
        </p:nvSpPr>
        <p:spPr>
          <a:xfrm>
            <a:off x="6368796" y="0"/>
            <a:ext cx="62865" cy="6858000"/>
          </a:xfrm>
          <a:custGeom>
            <a:avLst/>
            <a:gdLst/>
            <a:ahLst/>
            <a:cxnLst/>
            <a:rect l="l" t="t" r="r" b="b"/>
            <a:pathLst>
              <a:path w="62864" h="6858000">
                <a:moveTo>
                  <a:pt x="62484" y="0"/>
                </a:moveTo>
                <a:lnTo>
                  <a:pt x="0" y="0"/>
                </a:lnTo>
                <a:lnTo>
                  <a:pt x="0" y="6858000"/>
                </a:lnTo>
                <a:lnTo>
                  <a:pt x="62484" y="6858000"/>
                </a:lnTo>
                <a:lnTo>
                  <a:pt x="62484" y="0"/>
                </a:lnTo>
                <a:close/>
              </a:path>
            </a:pathLst>
          </a:custGeom>
          <a:solidFill>
            <a:srgbClr val="DDDDDD"/>
          </a:solidFill>
        </p:spPr>
        <p:txBody>
          <a:bodyPr wrap="square" lIns="0" tIns="0" rIns="0" bIns="0" rtlCol="0"/>
          <a:lstStyle/>
          <a:p>
            <a:endParaRPr/>
          </a:p>
        </p:txBody>
      </p:sp>
      <p:sp>
        <p:nvSpPr>
          <p:cNvPr id="97" name="bg object 97"/>
          <p:cNvSpPr/>
          <p:nvPr/>
        </p:nvSpPr>
        <p:spPr>
          <a:xfrm>
            <a:off x="6565392" y="0"/>
            <a:ext cx="67310" cy="6858000"/>
          </a:xfrm>
          <a:custGeom>
            <a:avLst/>
            <a:gdLst/>
            <a:ahLst/>
            <a:cxnLst/>
            <a:rect l="l" t="t" r="r" b="b"/>
            <a:pathLst>
              <a:path w="67309"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98" name="bg object 98"/>
          <p:cNvSpPr/>
          <p:nvPr/>
        </p:nvSpPr>
        <p:spPr>
          <a:xfrm>
            <a:off x="6499859" y="0"/>
            <a:ext cx="66040" cy="6858000"/>
          </a:xfrm>
          <a:custGeom>
            <a:avLst/>
            <a:gdLst/>
            <a:ahLst/>
            <a:cxnLst/>
            <a:rect l="l" t="t" r="r" b="b"/>
            <a:pathLst>
              <a:path w="66040" h="6858000">
                <a:moveTo>
                  <a:pt x="65532" y="0"/>
                </a:moveTo>
                <a:lnTo>
                  <a:pt x="0" y="0"/>
                </a:lnTo>
                <a:lnTo>
                  <a:pt x="0" y="6858000"/>
                </a:lnTo>
                <a:lnTo>
                  <a:pt x="65532" y="6858000"/>
                </a:lnTo>
                <a:lnTo>
                  <a:pt x="65532" y="0"/>
                </a:lnTo>
                <a:close/>
              </a:path>
            </a:pathLst>
          </a:custGeom>
          <a:solidFill>
            <a:srgbClr val="DDDDDD"/>
          </a:solidFill>
        </p:spPr>
        <p:txBody>
          <a:bodyPr wrap="square" lIns="0" tIns="0" rIns="0" bIns="0" rtlCol="0"/>
          <a:lstStyle/>
          <a:p>
            <a:endParaRPr/>
          </a:p>
        </p:txBody>
      </p:sp>
      <p:sp>
        <p:nvSpPr>
          <p:cNvPr id="99" name="bg object 99"/>
          <p:cNvSpPr/>
          <p:nvPr/>
        </p:nvSpPr>
        <p:spPr>
          <a:xfrm>
            <a:off x="6697980" y="0"/>
            <a:ext cx="67310" cy="6858000"/>
          </a:xfrm>
          <a:custGeom>
            <a:avLst/>
            <a:gdLst/>
            <a:ahLst/>
            <a:cxnLst/>
            <a:rect l="l" t="t" r="r" b="b"/>
            <a:pathLst>
              <a:path w="67309"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100" name="bg object 100"/>
          <p:cNvSpPr/>
          <p:nvPr/>
        </p:nvSpPr>
        <p:spPr>
          <a:xfrm>
            <a:off x="6632447"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101" name="bg object 101"/>
          <p:cNvSpPr/>
          <p:nvPr/>
        </p:nvSpPr>
        <p:spPr>
          <a:xfrm>
            <a:off x="6830568" y="0"/>
            <a:ext cx="66040" cy="6858000"/>
          </a:xfrm>
          <a:custGeom>
            <a:avLst/>
            <a:gdLst/>
            <a:ahLst/>
            <a:cxnLst/>
            <a:rect l="l" t="t" r="r" b="b"/>
            <a:pathLst>
              <a:path w="66040" h="6858000">
                <a:moveTo>
                  <a:pt x="0" y="6858000"/>
                </a:moveTo>
                <a:lnTo>
                  <a:pt x="65532" y="6858000"/>
                </a:lnTo>
                <a:lnTo>
                  <a:pt x="65532" y="0"/>
                </a:lnTo>
                <a:lnTo>
                  <a:pt x="0" y="0"/>
                </a:lnTo>
                <a:lnTo>
                  <a:pt x="0" y="6858000"/>
                </a:lnTo>
                <a:close/>
              </a:path>
            </a:pathLst>
          </a:custGeom>
          <a:solidFill>
            <a:srgbClr val="EAEAEA"/>
          </a:solidFill>
        </p:spPr>
        <p:txBody>
          <a:bodyPr wrap="square" lIns="0" tIns="0" rIns="0" bIns="0" rtlCol="0"/>
          <a:lstStyle/>
          <a:p>
            <a:endParaRPr/>
          </a:p>
        </p:txBody>
      </p:sp>
      <p:sp>
        <p:nvSpPr>
          <p:cNvPr id="102" name="bg object 102"/>
          <p:cNvSpPr/>
          <p:nvPr/>
        </p:nvSpPr>
        <p:spPr>
          <a:xfrm>
            <a:off x="6765035"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103" name="bg object 103"/>
          <p:cNvSpPr/>
          <p:nvPr/>
        </p:nvSpPr>
        <p:spPr>
          <a:xfrm>
            <a:off x="6963156" y="0"/>
            <a:ext cx="67310" cy="6858000"/>
          </a:xfrm>
          <a:custGeom>
            <a:avLst/>
            <a:gdLst/>
            <a:ahLst/>
            <a:cxnLst/>
            <a:rect l="l" t="t" r="r" b="b"/>
            <a:pathLst>
              <a:path w="67309"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104" name="bg object 104"/>
          <p:cNvSpPr/>
          <p:nvPr/>
        </p:nvSpPr>
        <p:spPr>
          <a:xfrm>
            <a:off x="6896100" y="0"/>
            <a:ext cx="67310" cy="6858000"/>
          </a:xfrm>
          <a:custGeom>
            <a:avLst/>
            <a:gdLst/>
            <a:ahLst/>
            <a:cxnLst/>
            <a:rect l="l" t="t" r="r" b="b"/>
            <a:pathLst>
              <a:path w="67309" h="6858000">
                <a:moveTo>
                  <a:pt x="67055" y="0"/>
                </a:moveTo>
                <a:lnTo>
                  <a:pt x="0" y="0"/>
                </a:lnTo>
                <a:lnTo>
                  <a:pt x="0" y="6858000"/>
                </a:lnTo>
                <a:lnTo>
                  <a:pt x="67055" y="6858000"/>
                </a:lnTo>
                <a:lnTo>
                  <a:pt x="67055" y="0"/>
                </a:lnTo>
                <a:close/>
              </a:path>
            </a:pathLst>
          </a:custGeom>
          <a:solidFill>
            <a:srgbClr val="DDDDDD"/>
          </a:solidFill>
        </p:spPr>
        <p:txBody>
          <a:bodyPr wrap="square" lIns="0" tIns="0" rIns="0" bIns="0" rtlCol="0"/>
          <a:lstStyle/>
          <a:p>
            <a:endParaRPr/>
          </a:p>
        </p:txBody>
      </p:sp>
      <p:sp>
        <p:nvSpPr>
          <p:cNvPr id="105" name="bg object 105"/>
          <p:cNvSpPr/>
          <p:nvPr/>
        </p:nvSpPr>
        <p:spPr>
          <a:xfrm>
            <a:off x="7094219" y="0"/>
            <a:ext cx="67310" cy="6858000"/>
          </a:xfrm>
          <a:custGeom>
            <a:avLst/>
            <a:gdLst/>
            <a:ahLst/>
            <a:cxnLst/>
            <a:rect l="l" t="t" r="r" b="b"/>
            <a:pathLst>
              <a:path w="67309"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106" name="bg object 106"/>
          <p:cNvSpPr/>
          <p:nvPr/>
        </p:nvSpPr>
        <p:spPr>
          <a:xfrm>
            <a:off x="7030211" y="0"/>
            <a:ext cx="64135" cy="6858000"/>
          </a:xfrm>
          <a:custGeom>
            <a:avLst/>
            <a:gdLst/>
            <a:ahLst/>
            <a:cxnLst/>
            <a:rect l="l" t="t" r="r" b="b"/>
            <a:pathLst>
              <a:path w="64134" h="6858000">
                <a:moveTo>
                  <a:pt x="64007" y="0"/>
                </a:moveTo>
                <a:lnTo>
                  <a:pt x="0" y="0"/>
                </a:lnTo>
                <a:lnTo>
                  <a:pt x="0" y="6858000"/>
                </a:lnTo>
                <a:lnTo>
                  <a:pt x="64007" y="6858000"/>
                </a:lnTo>
                <a:lnTo>
                  <a:pt x="64007" y="0"/>
                </a:lnTo>
                <a:close/>
              </a:path>
            </a:pathLst>
          </a:custGeom>
          <a:solidFill>
            <a:srgbClr val="DDDDDD"/>
          </a:solidFill>
        </p:spPr>
        <p:txBody>
          <a:bodyPr wrap="square" lIns="0" tIns="0" rIns="0" bIns="0" rtlCol="0"/>
          <a:lstStyle/>
          <a:p>
            <a:endParaRPr/>
          </a:p>
        </p:txBody>
      </p:sp>
      <p:sp>
        <p:nvSpPr>
          <p:cNvPr id="107" name="bg object 107"/>
          <p:cNvSpPr/>
          <p:nvPr/>
        </p:nvSpPr>
        <p:spPr>
          <a:xfrm>
            <a:off x="7223759" y="0"/>
            <a:ext cx="68580" cy="6858000"/>
          </a:xfrm>
          <a:custGeom>
            <a:avLst/>
            <a:gdLst/>
            <a:ahLst/>
            <a:cxnLst/>
            <a:rect l="l" t="t" r="r" b="b"/>
            <a:pathLst>
              <a:path w="68579" h="6858000">
                <a:moveTo>
                  <a:pt x="0" y="6858000"/>
                </a:moveTo>
                <a:lnTo>
                  <a:pt x="68580" y="6858000"/>
                </a:lnTo>
                <a:lnTo>
                  <a:pt x="68580" y="0"/>
                </a:lnTo>
                <a:lnTo>
                  <a:pt x="0" y="0"/>
                </a:lnTo>
                <a:lnTo>
                  <a:pt x="0" y="6858000"/>
                </a:lnTo>
                <a:close/>
              </a:path>
            </a:pathLst>
          </a:custGeom>
          <a:solidFill>
            <a:srgbClr val="EAEAEA"/>
          </a:solidFill>
        </p:spPr>
        <p:txBody>
          <a:bodyPr wrap="square" lIns="0" tIns="0" rIns="0" bIns="0" rtlCol="0"/>
          <a:lstStyle/>
          <a:p>
            <a:endParaRPr/>
          </a:p>
        </p:txBody>
      </p:sp>
      <p:sp>
        <p:nvSpPr>
          <p:cNvPr id="108" name="bg object 108"/>
          <p:cNvSpPr/>
          <p:nvPr/>
        </p:nvSpPr>
        <p:spPr>
          <a:xfrm>
            <a:off x="7161276" y="0"/>
            <a:ext cx="62865" cy="6858000"/>
          </a:xfrm>
          <a:custGeom>
            <a:avLst/>
            <a:gdLst/>
            <a:ahLst/>
            <a:cxnLst/>
            <a:rect l="l" t="t" r="r" b="b"/>
            <a:pathLst>
              <a:path w="62865" h="6858000">
                <a:moveTo>
                  <a:pt x="62483" y="0"/>
                </a:moveTo>
                <a:lnTo>
                  <a:pt x="0" y="0"/>
                </a:lnTo>
                <a:lnTo>
                  <a:pt x="0" y="6858000"/>
                </a:lnTo>
                <a:lnTo>
                  <a:pt x="62483" y="6858000"/>
                </a:lnTo>
                <a:lnTo>
                  <a:pt x="62483" y="0"/>
                </a:lnTo>
                <a:close/>
              </a:path>
            </a:pathLst>
          </a:custGeom>
          <a:solidFill>
            <a:srgbClr val="DDDDDD"/>
          </a:solidFill>
        </p:spPr>
        <p:txBody>
          <a:bodyPr wrap="square" lIns="0" tIns="0" rIns="0" bIns="0" rtlCol="0"/>
          <a:lstStyle/>
          <a:p>
            <a:endParaRPr/>
          </a:p>
        </p:txBody>
      </p:sp>
      <p:sp>
        <p:nvSpPr>
          <p:cNvPr id="109" name="bg object 109"/>
          <p:cNvSpPr/>
          <p:nvPr/>
        </p:nvSpPr>
        <p:spPr>
          <a:xfrm>
            <a:off x="7357871" y="0"/>
            <a:ext cx="67310" cy="6858000"/>
          </a:xfrm>
          <a:custGeom>
            <a:avLst/>
            <a:gdLst/>
            <a:ahLst/>
            <a:cxnLst/>
            <a:rect l="l" t="t" r="r" b="b"/>
            <a:pathLst>
              <a:path w="67309"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110" name="bg object 110"/>
          <p:cNvSpPr/>
          <p:nvPr/>
        </p:nvSpPr>
        <p:spPr>
          <a:xfrm>
            <a:off x="7292340"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111" name="bg object 111"/>
          <p:cNvSpPr/>
          <p:nvPr/>
        </p:nvSpPr>
        <p:spPr>
          <a:xfrm>
            <a:off x="7490459" y="0"/>
            <a:ext cx="67310" cy="6858000"/>
          </a:xfrm>
          <a:custGeom>
            <a:avLst/>
            <a:gdLst/>
            <a:ahLst/>
            <a:cxnLst/>
            <a:rect l="l" t="t" r="r" b="b"/>
            <a:pathLst>
              <a:path w="67309"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112" name="bg object 112"/>
          <p:cNvSpPr/>
          <p:nvPr/>
        </p:nvSpPr>
        <p:spPr>
          <a:xfrm>
            <a:off x="7424928"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113" name="bg object 113"/>
          <p:cNvSpPr/>
          <p:nvPr/>
        </p:nvSpPr>
        <p:spPr>
          <a:xfrm>
            <a:off x="7623047" y="0"/>
            <a:ext cx="66040" cy="6858000"/>
          </a:xfrm>
          <a:custGeom>
            <a:avLst/>
            <a:gdLst/>
            <a:ahLst/>
            <a:cxnLst/>
            <a:rect l="l" t="t" r="r" b="b"/>
            <a:pathLst>
              <a:path w="66040"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114" name="bg object 114"/>
          <p:cNvSpPr/>
          <p:nvPr/>
        </p:nvSpPr>
        <p:spPr>
          <a:xfrm>
            <a:off x="7557516"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115" name="bg object 115"/>
          <p:cNvSpPr/>
          <p:nvPr/>
        </p:nvSpPr>
        <p:spPr>
          <a:xfrm>
            <a:off x="7755635" y="0"/>
            <a:ext cx="67310" cy="6858000"/>
          </a:xfrm>
          <a:custGeom>
            <a:avLst/>
            <a:gdLst/>
            <a:ahLst/>
            <a:cxnLst/>
            <a:rect l="l" t="t" r="r" b="b"/>
            <a:pathLst>
              <a:path w="67309"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116" name="bg object 116"/>
          <p:cNvSpPr/>
          <p:nvPr/>
        </p:nvSpPr>
        <p:spPr>
          <a:xfrm>
            <a:off x="7688580" y="0"/>
            <a:ext cx="67310" cy="6858000"/>
          </a:xfrm>
          <a:custGeom>
            <a:avLst/>
            <a:gdLst/>
            <a:ahLst/>
            <a:cxnLst/>
            <a:rect l="l" t="t" r="r" b="b"/>
            <a:pathLst>
              <a:path w="67309" h="6858000">
                <a:moveTo>
                  <a:pt x="67055" y="0"/>
                </a:moveTo>
                <a:lnTo>
                  <a:pt x="0" y="0"/>
                </a:lnTo>
                <a:lnTo>
                  <a:pt x="0" y="6858000"/>
                </a:lnTo>
                <a:lnTo>
                  <a:pt x="67055" y="6858000"/>
                </a:lnTo>
                <a:lnTo>
                  <a:pt x="67055" y="0"/>
                </a:lnTo>
                <a:close/>
              </a:path>
            </a:pathLst>
          </a:custGeom>
          <a:solidFill>
            <a:srgbClr val="DDDDDD"/>
          </a:solidFill>
        </p:spPr>
        <p:txBody>
          <a:bodyPr wrap="square" lIns="0" tIns="0" rIns="0" bIns="0" rtlCol="0"/>
          <a:lstStyle/>
          <a:p>
            <a:endParaRPr/>
          </a:p>
        </p:txBody>
      </p:sp>
      <p:sp>
        <p:nvSpPr>
          <p:cNvPr id="117" name="bg object 117"/>
          <p:cNvSpPr/>
          <p:nvPr/>
        </p:nvSpPr>
        <p:spPr>
          <a:xfrm>
            <a:off x="7886700" y="0"/>
            <a:ext cx="66040" cy="6858000"/>
          </a:xfrm>
          <a:custGeom>
            <a:avLst/>
            <a:gdLst/>
            <a:ahLst/>
            <a:cxnLst/>
            <a:rect l="l" t="t" r="r" b="b"/>
            <a:pathLst>
              <a:path w="66040"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118" name="bg object 118"/>
          <p:cNvSpPr/>
          <p:nvPr/>
        </p:nvSpPr>
        <p:spPr>
          <a:xfrm>
            <a:off x="7822692" y="0"/>
            <a:ext cx="64135" cy="6858000"/>
          </a:xfrm>
          <a:custGeom>
            <a:avLst/>
            <a:gdLst/>
            <a:ahLst/>
            <a:cxnLst/>
            <a:rect l="l" t="t" r="r" b="b"/>
            <a:pathLst>
              <a:path w="64134" h="6858000">
                <a:moveTo>
                  <a:pt x="64007" y="0"/>
                </a:moveTo>
                <a:lnTo>
                  <a:pt x="0" y="0"/>
                </a:lnTo>
                <a:lnTo>
                  <a:pt x="0" y="6858000"/>
                </a:lnTo>
                <a:lnTo>
                  <a:pt x="64007" y="6858000"/>
                </a:lnTo>
                <a:lnTo>
                  <a:pt x="64007" y="0"/>
                </a:lnTo>
                <a:close/>
              </a:path>
            </a:pathLst>
          </a:custGeom>
          <a:solidFill>
            <a:srgbClr val="DDDDDD"/>
          </a:solidFill>
        </p:spPr>
        <p:txBody>
          <a:bodyPr wrap="square" lIns="0" tIns="0" rIns="0" bIns="0" rtlCol="0"/>
          <a:lstStyle/>
          <a:p>
            <a:endParaRPr/>
          </a:p>
        </p:txBody>
      </p:sp>
      <p:sp>
        <p:nvSpPr>
          <p:cNvPr id="119" name="bg object 119"/>
          <p:cNvSpPr/>
          <p:nvPr/>
        </p:nvSpPr>
        <p:spPr>
          <a:xfrm>
            <a:off x="8016240" y="0"/>
            <a:ext cx="68580" cy="6858000"/>
          </a:xfrm>
          <a:custGeom>
            <a:avLst/>
            <a:gdLst/>
            <a:ahLst/>
            <a:cxnLst/>
            <a:rect l="l" t="t" r="r" b="b"/>
            <a:pathLst>
              <a:path w="68579" h="6858000">
                <a:moveTo>
                  <a:pt x="0" y="6858000"/>
                </a:moveTo>
                <a:lnTo>
                  <a:pt x="68580" y="6858000"/>
                </a:lnTo>
                <a:lnTo>
                  <a:pt x="68580" y="0"/>
                </a:lnTo>
                <a:lnTo>
                  <a:pt x="0" y="0"/>
                </a:lnTo>
                <a:lnTo>
                  <a:pt x="0" y="6858000"/>
                </a:lnTo>
                <a:close/>
              </a:path>
            </a:pathLst>
          </a:custGeom>
          <a:solidFill>
            <a:srgbClr val="EAEAEA"/>
          </a:solidFill>
        </p:spPr>
        <p:txBody>
          <a:bodyPr wrap="square" lIns="0" tIns="0" rIns="0" bIns="0" rtlCol="0"/>
          <a:lstStyle/>
          <a:p>
            <a:endParaRPr/>
          </a:p>
        </p:txBody>
      </p:sp>
      <p:sp>
        <p:nvSpPr>
          <p:cNvPr id="120" name="bg object 120"/>
          <p:cNvSpPr/>
          <p:nvPr/>
        </p:nvSpPr>
        <p:spPr>
          <a:xfrm>
            <a:off x="7952231" y="0"/>
            <a:ext cx="64135" cy="6858000"/>
          </a:xfrm>
          <a:custGeom>
            <a:avLst/>
            <a:gdLst/>
            <a:ahLst/>
            <a:cxnLst/>
            <a:rect l="l" t="t" r="r" b="b"/>
            <a:pathLst>
              <a:path w="64134" h="6858000">
                <a:moveTo>
                  <a:pt x="64007" y="0"/>
                </a:moveTo>
                <a:lnTo>
                  <a:pt x="0" y="0"/>
                </a:lnTo>
                <a:lnTo>
                  <a:pt x="0" y="6858000"/>
                </a:lnTo>
                <a:lnTo>
                  <a:pt x="64007" y="6858000"/>
                </a:lnTo>
                <a:lnTo>
                  <a:pt x="64007" y="0"/>
                </a:lnTo>
                <a:close/>
              </a:path>
            </a:pathLst>
          </a:custGeom>
          <a:solidFill>
            <a:srgbClr val="DDDDDD"/>
          </a:solidFill>
        </p:spPr>
        <p:txBody>
          <a:bodyPr wrap="square" lIns="0" tIns="0" rIns="0" bIns="0" rtlCol="0"/>
          <a:lstStyle/>
          <a:p>
            <a:endParaRPr/>
          </a:p>
        </p:txBody>
      </p:sp>
      <p:sp>
        <p:nvSpPr>
          <p:cNvPr id="121" name="bg object 121"/>
          <p:cNvSpPr/>
          <p:nvPr/>
        </p:nvSpPr>
        <p:spPr>
          <a:xfrm>
            <a:off x="8150352" y="0"/>
            <a:ext cx="67310" cy="6858000"/>
          </a:xfrm>
          <a:custGeom>
            <a:avLst/>
            <a:gdLst/>
            <a:ahLst/>
            <a:cxnLst/>
            <a:rect l="l" t="t" r="r" b="b"/>
            <a:pathLst>
              <a:path w="67309" h="6858000">
                <a:moveTo>
                  <a:pt x="0" y="6858000"/>
                </a:moveTo>
                <a:lnTo>
                  <a:pt x="67055" y="6858000"/>
                </a:lnTo>
                <a:lnTo>
                  <a:pt x="67055" y="0"/>
                </a:lnTo>
                <a:lnTo>
                  <a:pt x="0" y="0"/>
                </a:lnTo>
                <a:lnTo>
                  <a:pt x="0" y="6858000"/>
                </a:lnTo>
                <a:close/>
              </a:path>
            </a:pathLst>
          </a:custGeom>
          <a:solidFill>
            <a:srgbClr val="EAEAEA"/>
          </a:solidFill>
        </p:spPr>
        <p:txBody>
          <a:bodyPr wrap="square" lIns="0" tIns="0" rIns="0" bIns="0" rtlCol="0"/>
          <a:lstStyle/>
          <a:p>
            <a:endParaRPr/>
          </a:p>
        </p:txBody>
      </p:sp>
      <p:sp>
        <p:nvSpPr>
          <p:cNvPr id="122" name="bg object 122"/>
          <p:cNvSpPr/>
          <p:nvPr/>
        </p:nvSpPr>
        <p:spPr>
          <a:xfrm>
            <a:off x="8084819"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123" name="bg object 123"/>
          <p:cNvSpPr/>
          <p:nvPr/>
        </p:nvSpPr>
        <p:spPr>
          <a:xfrm>
            <a:off x="8282940" y="0"/>
            <a:ext cx="66040" cy="6858000"/>
          </a:xfrm>
          <a:custGeom>
            <a:avLst/>
            <a:gdLst/>
            <a:ahLst/>
            <a:cxnLst/>
            <a:rect l="l" t="t" r="r" b="b"/>
            <a:pathLst>
              <a:path w="66040" h="6858000">
                <a:moveTo>
                  <a:pt x="0" y="6858000"/>
                </a:moveTo>
                <a:lnTo>
                  <a:pt x="65532" y="6858000"/>
                </a:lnTo>
                <a:lnTo>
                  <a:pt x="65532" y="0"/>
                </a:lnTo>
                <a:lnTo>
                  <a:pt x="0" y="0"/>
                </a:lnTo>
                <a:lnTo>
                  <a:pt x="0" y="6858000"/>
                </a:lnTo>
                <a:close/>
              </a:path>
            </a:pathLst>
          </a:custGeom>
          <a:solidFill>
            <a:srgbClr val="EAEAEA"/>
          </a:solidFill>
        </p:spPr>
        <p:txBody>
          <a:bodyPr wrap="square" lIns="0" tIns="0" rIns="0" bIns="0" rtlCol="0"/>
          <a:lstStyle/>
          <a:p>
            <a:endParaRPr/>
          </a:p>
        </p:txBody>
      </p:sp>
      <p:sp>
        <p:nvSpPr>
          <p:cNvPr id="124" name="bg object 124"/>
          <p:cNvSpPr/>
          <p:nvPr/>
        </p:nvSpPr>
        <p:spPr>
          <a:xfrm>
            <a:off x="8217407"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125" name="bg object 125"/>
          <p:cNvSpPr/>
          <p:nvPr/>
        </p:nvSpPr>
        <p:spPr>
          <a:xfrm>
            <a:off x="8415528" y="0"/>
            <a:ext cx="66040" cy="6858000"/>
          </a:xfrm>
          <a:custGeom>
            <a:avLst/>
            <a:gdLst/>
            <a:ahLst/>
            <a:cxnLst/>
            <a:rect l="l" t="t" r="r" b="b"/>
            <a:pathLst>
              <a:path w="66040" h="6858000">
                <a:moveTo>
                  <a:pt x="0" y="6858000"/>
                </a:moveTo>
                <a:lnTo>
                  <a:pt x="65531" y="6858000"/>
                </a:lnTo>
                <a:lnTo>
                  <a:pt x="65531" y="0"/>
                </a:lnTo>
                <a:lnTo>
                  <a:pt x="0" y="0"/>
                </a:lnTo>
                <a:lnTo>
                  <a:pt x="0" y="6858000"/>
                </a:lnTo>
                <a:close/>
              </a:path>
            </a:pathLst>
          </a:custGeom>
          <a:solidFill>
            <a:srgbClr val="EAEAEA"/>
          </a:solidFill>
        </p:spPr>
        <p:txBody>
          <a:bodyPr wrap="square" lIns="0" tIns="0" rIns="0" bIns="0" rtlCol="0"/>
          <a:lstStyle/>
          <a:p>
            <a:endParaRPr/>
          </a:p>
        </p:txBody>
      </p:sp>
      <p:sp>
        <p:nvSpPr>
          <p:cNvPr id="126" name="bg object 126"/>
          <p:cNvSpPr/>
          <p:nvPr/>
        </p:nvSpPr>
        <p:spPr>
          <a:xfrm>
            <a:off x="8348471" y="0"/>
            <a:ext cx="67310" cy="6858000"/>
          </a:xfrm>
          <a:custGeom>
            <a:avLst/>
            <a:gdLst/>
            <a:ahLst/>
            <a:cxnLst/>
            <a:rect l="l" t="t" r="r" b="b"/>
            <a:pathLst>
              <a:path w="67309" h="6858000">
                <a:moveTo>
                  <a:pt x="67055" y="0"/>
                </a:moveTo>
                <a:lnTo>
                  <a:pt x="0" y="0"/>
                </a:lnTo>
                <a:lnTo>
                  <a:pt x="0" y="6858000"/>
                </a:lnTo>
                <a:lnTo>
                  <a:pt x="67055" y="6858000"/>
                </a:lnTo>
                <a:lnTo>
                  <a:pt x="67055" y="0"/>
                </a:lnTo>
                <a:close/>
              </a:path>
            </a:pathLst>
          </a:custGeom>
          <a:solidFill>
            <a:srgbClr val="DDDDDD"/>
          </a:solidFill>
        </p:spPr>
        <p:txBody>
          <a:bodyPr wrap="square" lIns="0" tIns="0" rIns="0" bIns="0" rtlCol="0"/>
          <a:lstStyle/>
          <a:p>
            <a:endParaRPr/>
          </a:p>
        </p:txBody>
      </p:sp>
      <p:sp>
        <p:nvSpPr>
          <p:cNvPr id="127" name="bg object 127"/>
          <p:cNvSpPr/>
          <p:nvPr/>
        </p:nvSpPr>
        <p:spPr>
          <a:xfrm>
            <a:off x="8546592" y="0"/>
            <a:ext cx="67310" cy="6858000"/>
          </a:xfrm>
          <a:custGeom>
            <a:avLst/>
            <a:gdLst/>
            <a:ahLst/>
            <a:cxnLst/>
            <a:rect l="l" t="t" r="r" b="b"/>
            <a:pathLst>
              <a:path w="67309"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128" name="bg object 128"/>
          <p:cNvSpPr/>
          <p:nvPr/>
        </p:nvSpPr>
        <p:spPr>
          <a:xfrm>
            <a:off x="8481059" y="0"/>
            <a:ext cx="66040" cy="6858000"/>
          </a:xfrm>
          <a:custGeom>
            <a:avLst/>
            <a:gdLst/>
            <a:ahLst/>
            <a:cxnLst/>
            <a:rect l="l" t="t" r="r" b="b"/>
            <a:pathLst>
              <a:path w="66040" h="6858000">
                <a:moveTo>
                  <a:pt x="65531" y="0"/>
                </a:moveTo>
                <a:lnTo>
                  <a:pt x="0" y="0"/>
                </a:lnTo>
                <a:lnTo>
                  <a:pt x="0" y="6858000"/>
                </a:lnTo>
                <a:lnTo>
                  <a:pt x="65531" y="6858000"/>
                </a:lnTo>
                <a:lnTo>
                  <a:pt x="65531" y="0"/>
                </a:lnTo>
                <a:close/>
              </a:path>
            </a:pathLst>
          </a:custGeom>
          <a:solidFill>
            <a:srgbClr val="DDDDDD"/>
          </a:solidFill>
        </p:spPr>
        <p:txBody>
          <a:bodyPr wrap="square" lIns="0" tIns="0" rIns="0" bIns="0" rtlCol="0"/>
          <a:lstStyle/>
          <a:p>
            <a:endParaRPr/>
          </a:p>
        </p:txBody>
      </p:sp>
      <p:sp>
        <p:nvSpPr>
          <p:cNvPr id="129" name="bg object 129"/>
          <p:cNvSpPr/>
          <p:nvPr/>
        </p:nvSpPr>
        <p:spPr>
          <a:xfrm>
            <a:off x="8674607" y="0"/>
            <a:ext cx="70485" cy="6858000"/>
          </a:xfrm>
          <a:custGeom>
            <a:avLst/>
            <a:gdLst/>
            <a:ahLst/>
            <a:cxnLst/>
            <a:rect l="l" t="t" r="r" b="b"/>
            <a:pathLst>
              <a:path w="70484" h="6858000">
                <a:moveTo>
                  <a:pt x="0" y="6858000"/>
                </a:moveTo>
                <a:lnTo>
                  <a:pt x="70103" y="6858000"/>
                </a:lnTo>
                <a:lnTo>
                  <a:pt x="70103" y="0"/>
                </a:lnTo>
                <a:lnTo>
                  <a:pt x="0" y="0"/>
                </a:lnTo>
                <a:lnTo>
                  <a:pt x="0" y="6858000"/>
                </a:lnTo>
                <a:close/>
              </a:path>
            </a:pathLst>
          </a:custGeom>
          <a:solidFill>
            <a:srgbClr val="EAEAEA"/>
          </a:solidFill>
        </p:spPr>
        <p:txBody>
          <a:bodyPr wrap="square" lIns="0" tIns="0" rIns="0" bIns="0" rtlCol="0"/>
          <a:lstStyle/>
          <a:p>
            <a:endParaRPr/>
          </a:p>
        </p:txBody>
      </p:sp>
      <p:sp>
        <p:nvSpPr>
          <p:cNvPr id="130" name="bg object 130"/>
          <p:cNvSpPr/>
          <p:nvPr/>
        </p:nvSpPr>
        <p:spPr>
          <a:xfrm>
            <a:off x="8613647" y="0"/>
            <a:ext cx="60960" cy="6858000"/>
          </a:xfrm>
          <a:custGeom>
            <a:avLst/>
            <a:gdLst/>
            <a:ahLst/>
            <a:cxnLst/>
            <a:rect l="l" t="t" r="r" b="b"/>
            <a:pathLst>
              <a:path w="60959" h="6858000">
                <a:moveTo>
                  <a:pt x="60959" y="0"/>
                </a:moveTo>
                <a:lnTo>
                  <a:pt x="0" y="0"/>
                </a:lnTo>
                <a:lnTo>
                  <a:pt x="0" y="6858000"/>
                </a:lnTo>
                <a:lnTo>
                  <a:pt x="60959" y="6858000"/>
                </a:lnTo>
                <a:lnTo>
                  <a:pt x="60959" y="0"/>
                </a:lnTo>
                <a:close/>
              </a:path>
            </a:pathLst>
          </a:custGeom>
          <a:solidFill>
            <a:srgbClr val="DDDDDD"/>
          </a:solidFill>
        </p:spPr>
        <p:txBody>
          <a:bodyPr wrap="square" lIns="0" tIns="0" rIns="0" bIns="0" rtlCol="0"/>
          <a:lstStyle/>
          <a:p>
            <a:endParaRPr/>
          </a:p>
        </p:txBody>
      </p:sp>
      <p:sp>
        <p:nvSpPr>
          <p:cNvPr id="131" name="bg object 131"/>
          <p:cNvSpPr/>
          <p:nvPr/>
        </p:nvSpPr>
        <p:spPr>
          <a:xfrm>
            <a:off x="8808719" y="0"/>
            <a:ext cx="68580" cy="6858000"/>
          </a:xfrm>
          <a:custGeom>
            <a:avLst/>
            <a:gdLst/>
            <a:ahLst/>
            <a:cxnLst/>
            <a:rect l="l" t="t" r="r" b="b"/>
            <a:pathLst>
              <a:path w="68579" h="6858000">
                <a:moveTo>
                  <a:pt x="0" y="6858000"/>
                </a:moveTo>
                <a:lnTo>
                  <a:pt x="68580" y="6858000"/>
                </a:lnTo>
                <a:lnTo>
                  <a:pt x="68580" y="0"/>
                </a:lnTo>
                <a:lnTo>
                  <a:pt x="0" y="0"/>
                </a:lnTo>
                <a:lnTo>
                  <a:pt x="0" y="6858000"/>
                </a:lnTo>
                <a:close/>
              </a:path>
            </a:pathLst>
          </a:custGeom>
          <a:solidFill>
            <a:srgbClr val="EAEAEA"/>
          </a:solidFill>
        </p:spPr>
        <p:txBody>
          <a:bodyPr wrap="square" lIns="0" tIns="0" rIns="0" bIns="0" rtlCol="0"/>
          <a:lstStyle/>
          <a:p>
            <a:endParaRPr/>
          </a:p>
        </p:txBody>
      </p:sp>
      <p:sp>
        <p:nvSpPr>
          <p:cNvPr id="132" name="bg object 132"/>
          <p:cNvSpPr/>
          <p:nvPr/>
        </p:nvSpPr>
        <p:spPr>
          <a:xfrm>
            <a:off x="8744711" y="0"/>
            <a:ext cx="64135" cy="6858000"/>
          </a:xfrm>
          <a:custGeom>
            <a:avLst/>
            <a:gdLst/>
            <a:ahLst/>
            <a:cxnLst/>
            <a:rect l="l" t="t" r="r" b="b"/>
            <a:pathLst>
              <a:path w="64134" h="6858000">
                <a:moveTo>
                  <a:pt x="64007" y="0"/>
                </a:moveTo>
                <a:lnTo>
                  <a:pt x="0" y="0"/>
                </a:lnTo>
                <a:lnTo>
                  <a:pt x="0" y="6858000"/>
                </a:lnTo>
                <a:lnTo>
                  <a:pt x="64007" y="6858000"/>
                </a:lnTo>
                <a:lnTo>
                  <a:pt x="64007" y="0"/>
                </a:lnTo>
                <a:close/>
              </a:path>
            </a:pathLst>
          </a:custGeom>
          <a:solidFill>
            <a:srgbClr val="DDDDDD"/>
          </a:solidFill>
        </p:spPr>
        <p:txBody>
          <a:bodyPr wrap="square" lIns="0" tIns="0" rIns="0" bIns="0" rtlCol="0"/>
          <a:lstStyle/>
          <a:p>
            <a:endParaRPr/>
          </a:p>
        </p:txBody>
      </p:sp>
      <p:sp>
        <p:nvSpPr>
          <p:cNvPr id="133" name="bg object 133"/>
          <p:cNvSpPr/>
          <p:nvPr/>
        </p:nvSpPr>
        <p:spPr>
          <a:xfrm>
            <a:off x="8942831" y="0"/>
            <a:ext cx="67310" cy="6858000"/>
          </a:xfrm>
          <a:custGeom>
            <a:avLst/>
            <a:gdLst/>
            <a:ahLst/>
            <a:cxnLst/>
            <a:rect l="l" t="t" r="r" b="b"/>
            <a:pathLst>
              <a:path w="67309" h="6858000">
                <a:moveTo>
                  <a:pt x="0" y="6858000"/>
                </a:moveTo>
                <a:lnTo>
                  <a:pt x="67056" y="6858000"/>
                </a:lnTo>
                <a:lnTo>
                  <a:pt x="67056" y="0"/>
                </a:lnTo>
                <a:lnTo>
                  <a:pt x="0" y="0"/>
                </a:lnTo>
                <a:lnTo>
                  <a:pt x="0" y="6858000"/>
                </a:lnTo>
                <a:close/>
              </a:path>
            </a:pathLst>
          </a:custGeom>
          <a:solidFill>
            <a:srgbClr val="EAEAEA"/>
          </a:solidFill>
        </p:spPr>
        <p:txBody>
          <a:bodyPr wrap="square" lIns="0" tIns="0" rIns="0" bIns="0" rtlCol="0"/>
          <a:lstStyle/>
          <a:p>
            <a:endParaRPr/>
          </a:p>
        </p:txBody>
      </p:sp>
      <p:sp>
        <p:nvSpPr>
          <p:cNvPr id="134" name="bg object 134"/>
          <p:cNvSpPr/>
          <p:nvPr/>
        </p:nvSpPr>
        <p:spPr>
          <a:xfrm>
            <a:off x="8877300" y="0"/>
            <a:ext cx="198120" cy="6858000"/>
          </a:xfrm>
          <a:custGeom>
            <a:avLst/>
            <a:gdLst/>
            <a:ahLst/>
            <a:cxnLst/>
            <a:rect l="l" t="t" r="r" b="b"/>
            <a:pathLst>
              <a:path w="198120" h="6858000">
                <a:moveTo>
                  <a:pt x="65532" y="0"/>
                </a:moveTo>
                <a:lnTo>
                  <a:pt x="0" y="0"/>
                </a:lnTo>
                <a:lnTo>
                  <a:pt x="0" y="6858000"/>
                </a:lnTo>
                <a:lnTo>
                  <a:pt x="65532" y="6858000"/>
                </a:lnTo>
                <a:lnTo>
                  <a:pt x="65532" y="0"/>
                </a:lnTo>
                <a:close/>
              </a:path>
              <a:path w="198120" h="6858000">
                <a:moveTo>
                  <a:pt x="198120" y="0"/>
                </a:moveTo>
                <a:lnTo>
                  <a:pt x="132588" y="0"/>
                </a:lnTo>
                <a:lnTo>
                  <a:pt x="132588" y="6858000"/>
                </a:lnTo>
                <a:lnTo>
                  <a:pt x="198120" y="6858000"/>
                </a:lnTo>
                <a:lnTo>
                  <a:pt x="198120" y="0"/>
                </a:lnTo>
                <a:close/>
              </a:path>
            </a:pathLst>
          </a:custGeom>
          <a:solidFill>
            <a:srgbClr val="DDDDDD"/>
          </a:solidFill>
        </p:spPr>
        <p:txBody>
          <a:bodyPr wrap="square" lIns="0" tIns="0" rIns="0" bIns="0" rtlCol="0"/>
          <a:lstStyle/>
          <a:p>
            <a:endParaRPr/>
          </a:p>
        </p:txBody>
      </p:sp>
      <p:sp>
        <p:nvSpPr>
          <p:cNvPr id="135" name="bg object 135"/>
          <p:cNvSpPr/>
          <p:nvPr/>
        </p:nvSpPr>
        <p:spPr>
          <a:xfrm>
            <a:off x="1812035" y="0"/>
            <a:ext cx="7332345" cy="6849109"/>
          </a:xfrm>
          <a:custGeom>
            <a:avLst/>
            <a:gdLst/>
            <a:ahLst/>
            <a:cxnLst/>
            <a:rect l="l" t="t" r="r" b="b"/>
            <a:pathLst>
              <a:path w="7332345" h="6849109">
                <a:moveTo>
                  <a:pt x="0" y="6848855"/>
                </a:moveTo>
                <a:lnTo>
                  <a:pt x="7331963" y="6848855"/>
                </a:lnTo>
                <a:lnTo>
                  <a:pt x="7331963" y="0"/>
                </a:lnTo>
                <a:lnTo>
                  <a:pt x="0" y="0"/>
                </a:lnTo>
                <a:lnTo>
                  <a:pt x="0" y="6848855"/>
                </a:lnTo>
                <a:close/>
              </a:path>
            </a:pathLst>
          </a:custGeom>
          <a:solidFill>
            <a:srgbClr val="FFFFFF">
              <a:alpha val="50195"/>
            </a:srgbClr>
          </a:solidFill>
        </p:spPr>
        <p:txBody>
          <a:bodyPr wrap="square" lIns="0" tIns="0" rIns="0" bIns="0" rtlCol="0"/>
          <a:lstStyle/>
          <a:p>
            <a:endParaRPr/>
          </a:p>
        </p:txBody>
      </p:sp>
      <p:sp>
        <p:nvSpPr>
          <p:cNvPr id="136" name="bg object 136"/>
          <p:cNvSpPr/>
          <p:nvPr/>
        </p:nvSpPr>
        <p:spPr>
          <a:xfrm>
            <a:off x="1219200" y="1706879"/>
            <a:ext cx="6021705" cy="74930"/>
          </a:xfrm>
          <a:custGeom>
            <a:avLst/>
            <a:gdLst/>
            <a:ahLst/>
            <a:cxnLst/>
            <a:rect l="l" t="t" r="r" b="b"/>
            <a:pathLst>
              <a:path w="6021705" h="74930">
                <a:moveTo>
                  <a:pt x="6021324" y="0"/>
                </a:moveTo>
                <a:lnTo>
                  <a:pt x="0" y="0"/>
                </a:lnTo>
                <a:lnTo>
                  <a:pt x="0" y="74675"/>
                </a:lnTo>
                <a:lnTo>
                  <a:pt x="6021324" y="74675"/>
                </a:lnTo>
                <a:lnTo>
                  <a:pt x="6021324" y="0"/>
                </a:lnTo>
                <a:close/>
              </a:path>
            </a:pathLst>
          </a:custGeom>
          <a:solidFill>
            <a:srgbClr val="336699">
              <a:alpha val="50195"/>
            </a:srgbClr>
          </a:solidFill>
        </p:spPr>
        <p:txBody>
          <a:bodyPr wrap="square" lIns="0" tIns="0" rIns="0" bIns="0" rtlCol="0"/>
          <a:lstStyle/>
          <a:p>
            <a:endParaRPr/>
          </a:p>
        </p:txBody>
      </p:sp>
      <p:sp>
        <p:nvSpPr>
          <p:cNvPr id="2" name="Holder 2"/>
          <p:cNvSpPr>
            <a:spLocks noGrp="1"/>
          </p:cNvSpPr>
          <p:nvPr>
            <p:ph type="title"/>
          </p:nvPr>
        </p:nvSpPr>
        <p:spPr>
          <a:xfrm>
            <a:off x="1591563" y="1066038"/>
            <a:ext cx="5960872" cy="513715"/>
          </a:xfrm>
          <a:prstGeom prst="rect">
            <a:avLst/>
          </a:prstGeom>
        </p:spPr>
        <p:txBody>
          <a:bodyPr wrap="square" lIns="0" tIns="0" rIns="0" bIns="0">
            <a:spAutoFit/>
          </a:bodyPr>
          <a:lstStyle>
            <a:lvl1pPr>
              <a:defRPr sz="3200" b="1" i="0">
                <a:solidFill>
                  <a:srgbClr val="6F2F9F"/>
                </a:solidFill>
                <a:latin typeface="Arial"/>
                <a:cs typeface="Arial"/>
              </a:defRPr>
            </a:lvl1pPr>
          </a:lstStyle>
          <a:p>
            <a:endParaRPr/>
          </a:p>
        </p:txBody>
      </p:sp>
      <p:sp>
        <p:nvSpPr>
          <p:cNvPr id="3" name="Holder 3"/>
          <p:cNvSpPr>
            <a:spLocks noGrp="1"/>
          </p:cNvSpPr>
          <p:nvPr>
            <p:ph type="body" idx="1"/>
          </p:nvPr>
        </p:nvSpPr>
        <p:spPr>
          <a:xfrm>
            <a:off x="1907794" y="1930349"/>
            <a:ext cx="6776720" cy="2660015"/>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p:cNvSpPr txBox="1">
            <a:spLocks noGrp="1"/>
          </p:cNvSpPr>
          <p:nvPr>
            <p:ph type="title"/>
          </p:nvPr>
        </p:nvSpPr>
        <p:spPr>
          <a:xfrm>
            <a:off x="1066800" y="381000"/>
            <a:ext cx="7277734" cy="1243289"/>
          </a:xfrm>
          <a:prstGeom prst="rect">
            <a:avLst/>
          </a:prstGeom>
        </p:spPr>
        <p:txBody>
          <a:bodyPr vert="horz" wrap="square" lIns="0" tIns="12065" rIns="0" bIns="0" rtlCol="0">
            <a:spAutoFit/>
          </a:bodyPr>
          <a:lstStyle/>
          <a:p>
            <a:pPr marL="12700">
              <a:lnSpc>
                <a:spcPct val="100000"/>
              </a:lnSpc>
              <a:spcBef>
                <a:spcPts val="95"/>
              </a:spcBef>
            </a:pPr>
            <a:br>
              <a:rPr lang="en-US" sz="4000" spc="-5" dirty="0"/>
            </a:br>
            <a:r>
              <a:rPr lang="en-US" sz="4000" spc="-5" dirty="0"/>
              <a:t>Project Scheduling</a:t>
            </a:r>
            <a:endParaRPr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p:cNvSpPr txBox="1">
            <a:spLocks noGrp="1"/>
          </p:cNvSpPr>
          <p:nvPr>
            <p:ph type="title"/>
          </p:nvPr>
        </p:nvSpPr>
        <p:spPr>
          <a:xfrm>
            <a:off x="762000" y="933958"/>
            <a:ext cx="7535696" cy="627736"/>
          </a:xfrm>
          <a:prstGeom prst="rect">
            <a:avLst/>
          </a:prstGeom>
        </p:spPr>
        <p:txBody>
          <a:bodyPr vert="horz" wrap="square" lIns="0" tIns="12065" rIns="0" bIns="0" rtlCol="0">
            <a:spAutoFit/>
          </a:bodyPr>
          <a:lstStyle/>
          <a:p>
            <a:pPr marL="12700">
              <a:lnSpc>
                <a:spcPct val="100000"/>
              </a:lnSpc>
              <a:spcBef>
                <a:spcPts val="95"/>
              </a:spcBef>
            </a:pPr>
            <a:r>
              <a:rPr lang="en-US" sz="4000" dirty="0"/>
              <a:t>About Project Scheduling </a:t>
            </a:r>
            <a:endParaRPr sz="4000" dirty="0"/>
          </a:p>
        </p:txBody>
      </p:sp>
      <p:sp>
        <p:nvSpPr>
          <p:cNvPr id="7" name="TextBox 6">
            <a:extLst>
              <a:ext uri="{FF2B5EF4-FFF2-40B4-BE49-F238E27FC236}">
                <a16:creationId xmlns:a16="http://schemas.microsoft.com/office/drawing/2014/main" id="{C1CD1538-8F62-AF3E-F602-7AA7565F0C28}"/>
              </a:ext>
            </a:extLst>
          </p:cNvPr>
          <p:cNvSpPr txBox="1"/>
          <p:nvPr/>
        </p:nvSpPr>
        <p:spPr>
          <a:xfrm>
            <a:off x="1143000" y="2048824"/>
            <a:ext cx="7315200" cy="3885936"/>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Project scheduling is a responsible activity of the project manager.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project schedule is a mechanism that is used to communicate and know which tasks are needed and must be performed in a project.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project manager estimates the time and resources required to complete activities and organizes them into a coherent sequence.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Effective project scheduling leads to the success of the project, reduced cost, and increased customer satisfaction. </a:t>
            </a:r>
          </a:p>
        </p:txBody>
      </p:sp>
    </p:spTree>
    <p:extLst>
      <p:ext uri="{BB962C8B-B14F-4D97-AF65-F5344CB8AC3E}">
        <p14:creationId xmlns:p14="http://schemas.microsoft.com/office/powerpoint/2010/main" val="155340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BB95C-4B6E-F3C3-A0E7-094419D17C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EB18ECB-0563-0DF9-7679-F76656F87D80}"/>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D725F26C-1D25-00E6-8D4E-4EBEEFBB3E7E}"/>
              </a:ext>
            </a:extLst>
          </p:cNvPr>
          <p:cNvSpPr txBox="1">
            <a:spLocks noGrp="1"/>
          </p:cNvSpPr>
          <p:nvPr>
            <p:ph type="title"/>
          </p:nvPr>
        </p:nvSpPr>
        <p:spPr>
          <a:xfrm>
            <a:off x="762000" y="933958"/>
            <a:ext cx="7535696" cy="627736"/>
          </a:xfrm>
          <a:prstGeom prst="rect">
            <a:avLst/>
          </a:prstGeom>
        </p:spPr>
        <p:txBody>
          <a:bodyPr vert="horz" wrap="square" lIns="0" tIns="12065" rIns="0" bIns="0" rtlCol="0">
            <a:spAutoFit/>
          </a:bodyPr>
          <a:lstStyle/>
          <a:p>
            <a:r>
              <a:rPr lang="en-US" sz="4000" dirty="0"/>
              <a:t>Project Scheduling Process </a:t>
            </a:r>
          </a:p>
        </p:txBody>
      </p:sp>
      <p:sp>
        <p:nvSpPr>
          <p:cNvPr id="7" name="TextBox 6">
            <a:extLst>
              <a:ext uri="{FF2B5EF4-FFF2-40B4-BE49-F238E27FC236}">
                <a16:creationId xmlns:a16="http://schemas.microsoft.com/office/drawing/2014/main" id="{983C32EC-3CA3-ADE2-320C-8CE0C949522A}"/>
              </a:ext>
            </a:extLst>
          </p:cNvPr>
          <p:cNvSpPr txBox="1"/>
          <p:nvPr/>
        </p:nvSpPr>
        <p:spPr>
          <a:xfrm>
            <a:off x="1143000" y="1828800"/>
            <a:ext cx="7971020" cy="3885936"/>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Identify all the functions/modules required to complete the project.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Break down large functions into small activities, i.e., develop a WBS structure.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Determine the dependency among various activities.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Allocate resources to activities.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Assign people to conduct different activities.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Plan the beginning and ending dates for different activities. </a:t>
            </a:r>
          </a:p>
          <a:p>
            <a:pPr marL="285750" indent="-285750">
              <a:lnSpc>
                <a:spcPct val="20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Create an activity network and bar or Gantt charts. </a:t>
            </a:r>
          </a:p>
        </p:txBody>
      </p:sp>
    </p:spTree>
    <p:extLst>
      <p:ext uri="{BB962C8B-B14F-4D97-AF65-F5344CB8AC3E}">
        <p14:creationId xmlns:p14="http://schemas.microsoft.com/office/powerpoint/2010/main" val="3860622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9FF36-28F3-40B7-BB88-E0B6D352AB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522E1F0-4558-D1AB-C59F-8CFCD8D228EF}"/>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835FE705-BE96-A029-AA2F-2DE135FE80F7}"/>
              </a:ext>
            </a:extLst>
          </p:cNvPr>
          <p:cNvSpPr txBox="1">
            <a:spLocks noGrp="1"/>
          </p:cNvSpPr>
          <p:nvPr>
            <p:ph type="title"/>
          </p:nvPr>
        </p:nvSpPr>
        <p:spPr>
          <a:xfrm>
            <a:off x="762000" y="933958"/>
            <a:ext cx="7535696" cy="627736"/>
          </a:xfrm>
          <a:prstGeom prst="rect">
            <a:avLst/>
          </a:prstGeom>
        </p:spPr>
        <p:txBody>
          <a:bodyPr vert="horz" wrap="square" lIns="0" tIns="12065" rIns="0" bIns="0" rtlCol="0">
            <a:spAutoFit/>
          </a:bodyPr>
          <a:lstStyle/>
          <a:p>
            <a:r>
              <a:rPr lang="en-US" sz="4000" dirty="0"/>
              <a:t>Project Scheduling Process </a:t>
            </a:r>
          </a:p>
        </p:txBody>
      </p:sp>
      <p:pic>
        <p:nvPicPr>
          <p:cNvPr id="4" name="Picture 3">
            <a:extLst>
              <a:ext uri="{FF2B5EF4-FFF2-40B4-BE49-F238E27FC236}">
                <a16:creationId xmlns:a16="http://schemas.microsoft.com/office/drawing/2014/main" id="{D27A3608-30A4-FF97-FDC3-5E5BCC9ED3E0}"/>
              </a:ext>
            </a:extLst>
          </p:cNvPr>
          <p:cNvPicPr>
            <a:picLocks noChangeAspect="1"/>
          </p:cNvPicPr>
          <p:nvPr/>
        </p:nvPicPr>
        <p:blipFill>
          <a:blip r:embed="rId2"/>
          <a:stretch>
            <a:fillRect/>
          </a:stretch>
        </p:blipFill>
        <p:spPr>
          <a:xfrm>
            <a:off x="1524000" y="3048000"/>
            <a:ext cx="6951525" cy="1450901"/>
          </a:xfrm>
          <a:prstGeom prst="rect">
            <a:avLst/>
          </a:prstGeom>
        </p:spPr>
      </p:pic>
    </p:spTree>
    <p:extLst>
      <p:ext uri="{BB962C8B-B14F-4D97-AF65-F5344CB8AC3E}">
        <p14:creationId xmlns:p14="http://schemas.microsoft.com/office/powerpoint/2010/main" val="83102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2AE71-C034-21E7-8947-A998E0BC721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3E3810-A173-D864-EED2-F9496E727558}"/>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62DDD7AF-6596-DDA4-15F2-06F62DE3019E}"/>
              </a:ext>
            </a:extLst>
          </p:cNvPr>
          <p:cNvSpPr txBox="1">
            <a:spLocks noGrp="1"/>
          </p:cNvSpPr>
          <p:nvPr>
            <p:ph type="title"/>
          </p:nvPr>
        </p:nvSpPr>
        <p:spPr>
          <a:xfrm>
            <a:off x="762000" y="933958"/>
            <a:ext cx="7535696" cy="504625"/>
          </a:xfrm>
          <a:prstGeom prst="rect">
            <a:avLst/>
          </a:prstGeom>
        </p:spPr>
        <p:txBody>
          <a:bodyPr vert="horz" wrap="square" lIns="0" tIns="12065" rIns="0" bIns="0" rtlCol="0">
            <a:spAutoFit/>
          </a:bodyPr>
          <a:lstStyle/>
          <a:p>
            <a:r>
              <a:rPr lang="en-US" dirty="0"/>
              <a:t>Basic Principles of Project Scheduling </a:t>
            </a:r>
          </a:p>
        </p:txBody>
      </p:sp>
      <p:sp>
        <p:nvSpPr>
          <p:cNvPr id="7" name="TextBox 6">
            <a:extLst>
              <a:ext uri="{FF2B5EF4-FFF2-40B4-BE49-F238E27FC236}">
                <a16:creationId xmlns:a16="http://schemas.microsoft.com/office/drawing/2014/main" id="{E6AE11B4-0F6A-3D60-DCF1-6493B60A991F}"/>
              </a:ext>
            </a:extLst>
          </p:cNvPr>
          <p:cNvSpPr txBox="1"/>
          <p:nvPr/>
        </p:nvSpPr>
        <p:spPr>
          <a:xfrm>
            <a:off x="1143000" y="1828800"/>
            <a:ext cx="7971020" cy="5117042"/>
          </a:xfrm>
          <a:prstGeom prst="rect">
            <a:avLst/>
          </a:prstGeom>
          <a:noFill/>
        </p:spPr>
        <p:txBody>
          <a:bodyPr wrap="square" rtlCol="0">
            <a:spAutoFit/>
          </a:bodyPr>
          <a:lstStyle/>
          <a:p>
            <a:pPr marL="285750" indent="-285750">
              <a:buFont typeface="Wingdings" panose="05000000000000000000" pitchFamily="2" charset="2"/>
              <a:buChar char="q"/>
            </a:pPr>
            <a:r>
              <a:rPr lang="en-US" b="1" dirty="0"/>
              <a:t>Compartmentalization:</a:t>
            </a:r>
            <a:r>
              <a:rPr lang="en-US" dirty="0"/>
              <a:t> The project is divided into a number of manageable activities and tasks. </a:t>
            </a:r>
          </a:p>
          <a:p>
            <a:pPr marL="285750" indent="-285750">
              <a:buFont typeface="Wingdings" panose="05000000000000000000" pitchFamily="2" charset="2"/>
              <a:buChar char="q"/>
            </a:pPr>
            <a:endParaRPr lang="en-US" sz="700" dirty="0"/>
          </a:p>
          <a:p>
            <a:pPr marL="285750" indent="-285750">
              <a:buFont typeface="Wingdings" panose="05000000000000000000" pitchFamily="2" charset="2"/>
              <a:buChar char="q"/>
            </a:pPr>
            <a:r>
              <a:rPr lang="en-US" b="1" dirty="0"/>
              <a:t>Interdependency:</a:t>
            </a:r>
            <a:r>
              <a:rPr lang="en-US" dirty="0"/>
              <a:t> Certain tasks occur in sequence, whereas other tasks occur in parallel. </a:t>
            </a:r>
          </a:p>
          <a:p>
            <a:pPr marL="285750" indent="-285750">
              <a:buFont typeface="Wingdings" panose="05000000000000000000" pitchFamily="2" charset="2"/>
              <a:buChar char="q"/>
            </a:pPr>
            <a:endParaRPr lang="en-US" sz="800" dirty="0"/>
          </a:p>
          <a:p>
            <a:pPr marL="285750" indent="-285750">
              <a:buFont typeface="Wingdings" panose="05000000000000000000" pitchFamily="2" charset="2"/>
              <a:buChar char="q"/>
            </a:pPr>
            <a:r>
              <a:rPr lang="en-US" b="1" dirty="0"/>
              <a:t>Time Allocation:</a:t>
            </a:r>
            <a:r>
              <a:rPr lang="en-US" dirty="0"/>
              <a:t> Each task has to be assigned a specific time period, i.e., a start date and a completion date. </a:t>
            </a:r>
          </a:p>
          <a:p>
            <a:pPr marL="285750" indent="-285750">
              <a:buFont typeface="Wingdings" panose="05000000000000000000" pitchFamily="2" charset="2"/>
              <a:buChar char="q"/>
            </a:pPr>
            <a:endParaRPr lang="en-US" sz="400" dirty="0"/>
          </a:p>
          <a:p>
            <a:pPr marL="285750" indent="-285750">
              <a:buFont typeface="Wingdings" panose="05000000000000000000" pitchFamily="2" charset="2"/>
              <a:buChar char="q"/>
            </a:pPr>
            <a:r>
              <a:rPr lang="en-US" b="1" dirty="0"/>
              <a:t>Effort Validation:</a:t>
            </a:r>
            <a:r>
              <a:rPr lang="en-US" dirty="0"/>
              <a:t> The project manager ensures that the allocated number of people work on a given task. </a:t>
            </a:r>
          </a:p>
          <a:p>
            <a:pPr marL="285750" indent="-285750">
              <a:buFont typeface="Wingdings" panose="05000000000000000000" pitchFamily="2" charset="2"/>
              <a:buChar char="q"/>
            </a:pPr>
            <a:endParaRPr lang="en-US" sz="900" dirty="0"/>
          </a:p>
          <a:p>
            <a:pPr marL="285750" indent="-285750">
              <a:buFont typeface="Wingdings" panose="05000000000000000000" pitchFamily="2" charset="2"/>
              <a:buChar char="q"/>
            </a:pPr>
            <a:r>
              <a:rPr lang="en-US" b="1" dirty="0"/>
              <a:t>Defined Responsibilities:</a:t>
            </a:r>
            <a:r>
              <a:rPr lang="en-US" dirty="0"/>
              <a:t> Each task is assigned to a specific member of the software team. </a:t>
            </a:r>
          </a:p>
          <a:p>
            <a:pPr marL="285750" indent="-285750">
              <a:buFont typeface="Wingdings" panose="05000000000000000000" pitchFamily="2" charset="2"/>
              <a:buChar char="q"/>
            </a:pPr>
            <a:endParaRPr lang="en-US" sz="400" dirty="0"/>
          </a:p>
          <a:p>
            <a:pPr marL="285750" indent="-285750">
              <a:buFont typeface="Wingdings" panose="05000000000000000000" pitchFamily="2" charset="2"/>
              <a:buChar char="q"/>
            </a:pPr>
            <a:r>
              <a:rPr lang="en-US" b="1" dirty="0"/>
              <a:t>Defined Outcomes:</a:t>
            </a:r>
            <a:r>
              <a:rPr lang="en-US" dirty="0"/>
              <a:t> Each task has a defined outcome, i.e., a work product. </a:t>
            </a:r>
          </a:p>
          <a:p>
            <a:pPr marL="285750" indent="-285750">
              <a:buFont typeface="Wingdings" panose="05000000000000000000" pitchFamily="2" charset="2"/>
              <a:buChar char="q"/>
            </a:pPr>
            <a:endParaRPr lang="en-US" sz="600" dirty="0"/>
          </a:p>
          <a:p>
            <a:pPr marL="285750" indent="-285750">
              <a:buFont typeface="Wingdings" panose="05000000000000000000" pitchFamily="2" charset="2"/>
              <a:buChar char="q"/>
            </a:pPr>
            <a:r>
              <a:rPr lang="en-US" b="1" dirty="0"/>
              <a:t>Defined Milestones:</a:t>
            </a:r>
            <a:r>
              <a:rPr lang="en-US" dirty="0"/>
              <a:t> Every task should be associated with a project milestone. A milestone is accomplished when one or more work products have been reviewed for quality. </a:t>
            </a:r>
          </a:p>
          <a:p>
            <a:pPr>
              <a:lnSpc>
                <a:spcPct val="2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5412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C9002-B2B3-76E7-5717-4530DDAD97A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5F49363-9E78-49C7-A5EC-91EE33B2994C}"/>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5D6302EA-8E91-D9B1-3EF5-4972378B7217}"/>
              </a:ext>
            </a:extLst>
          </p:cNvPr>
          <p:cNvSpPr txBox="1">
            <a:spLocks noGrp="1"/>
          </p:cNvSpPr>
          <p:nvPr>
            <p:ph type="title"/>
          </p:nvPr>
        </p:nvSpPr>
        <p:spPr>
          <a:xfrm>
            <a:off x="762000" y="933958"/>
            <a:ext cx="7535696" cy="504625"/>
          </a:xfrm>
          <a:prstGeom prst="rect">
            <a:avLst/>
          </a:prstGeom>
        </p:spPr>
        <p:txBody>
          <a:bodyPr vert="horz" wrap="square" lIns="0" tIns="12065" rIns="0" bIns="0" rtlCol="0">
            <a:spAutoFit/>
          </a:bodyPr>
          <a:lstStyle/>
          <a:p>
            <a:r>
              <a:rPr lang="en-US" dirty="0"/>
              <a:t>Project Scheduling Techniques </a:t>
            </a:r>
          </a:p>
        </p:txBody>
      </p:sp>
      <p:sp>
        <p:nvSpPr>
          <p:cNvPr id="7" name="TextBox 6">
            <a:extLst>
              <a:ext uri="{FF2B5EF4-FFF2-40B4-BE49-F238E27FC236}">
                <a16:creationId xmlns:a16="http://schemas.microsoft.com/office/drawing/2014/main" id="{56B89825-F10F-6A5F-FD7C-06EBF3CA5855}"/>
              </a:ext>
            </a:extLst>
          </p:cNvPr>
          <p:cNvSpPr txBox="1"/>
          <p:nvPr/>
        </p:nvSpPr>
        <p:spPr>
          <a:xfrm>
            <a:off x="838200" y="1828800"/>
            <a:ext cx="8275820" cy="4401205"/>
          </a:xfrm>
          <a:prstGeom prst="rect">
            <a:avLst/>
          </a:prstGeom>
          <a:noFill/>
        </p:spPr>
        <p:txBody>
          <a:bodyPr wrap="square" rtlCol="0">
            <a:spAutoFit/>
          </a:bodyPr>
          <a:lstStyle/>
          <a:p>
            <a:r>
              <a:rPr lang="en-US" b="1" dirty="0"/>
              <a:t>1. Critical Path Method: </a:t>
            </a:r>
          </a:p>
          <a:p>
            <a:endParaRPr lang="en-US" sz="1000" b="1" dirty="0"/>
          </a:p>
          <a:p>
            <a:pPr marL="285750" lvl="0" indent="-285750">
              <a:buFont typeface="Arial" panose="020B0604020202020204" pitchFamily="34" charset="0"/>
              <a:buChar char="•"/>
            </a:pPr>
            <a:r>
              <a:rPr lang="en-US" dirty="0"/>
              <a:t>It helps you determine both the longest and shortest possible time taken to complete a project. </a:t>
            </a:r>
          </a:p>
          <a:p>
            <a:pPr marL="285750" indent="-285750">
              <a:buFont typeface="Arial" panose="020B0604020202020204" pitchFamily="34" charset="0"/>
              <a:buChar char="•"/>
            </a:pPr>
            <a:r>
              <a:rPr lang="en-US" dirty="0"/>
              <a:t>There are three essential elements: the tasks required to complete the project, which tasks depend on the completion of others, and a time estimate for each activity</a:t>
            </a:r>
          </a:p>
          <a:p>
            <a:r>
              <a:rPr lang="en-US" b="1" dirty="0"/>
              <a:t>Example:</a:t>
            </a:r>
            <a:r>
              <a:rPr lang="en-US" dirty="0"/>
              <a:t> </a:t>
            </a:r>
          </a:p>
          <a:p>
            <a:pPr marL="285750" lvl="0" indent="-285750">
              <a:buFont typeface="Arial" panose="020B0604020202020204" pitchFamily="34" charset="0"/>
              <a:buChar char="•"/>
            </a:pPr>
            <a:r>
              <a:rPr lang="en-US" dirty="0"/>
              <a:t>There are four tasks in the project – A, B, C, and D. </a:t>
            </a:r>
          </a:p>
          <a:p>
            <a:pPr marL="285750" lvl="0" indent="-285750">
              <a:buFont typeface="Arial" panose="020B0604020202020204" pitchFamily="34" charset="0"/>
              <a:buChar char="•"/>
            </a:pPr>
            <a:r>
              <a:rPr lang="en-US" dirty="0"/>
              <a:t>Task B and D can only begin after task A completes, whereas task C has no such restriction. </a:t>
            </a:r>
          </a:p>
          <a:p>
            <a:pPr marL="285750" lvl="0" indent="-285750">
              <a:buFont typeface="Arial" panose="020B0604020202020204" pitchFamily="34" charset="0"/>
              <a:buChar char="•"/>
            </a:pPr>
            <a:r>
              <a:rPr lang="en-US" dirty="0"/>
              <a:t>Task A will be time-sensitive, as any delay in its completion can delay tasks B and D. </a:t>
            </a:r>
          </a:p>
          <a:p>
            <a:pPr marL="285750" lvl="0" indent="-285750">
              <a:buFont typeface="Arial" panose="020B0604020202020204" pitchFamily="34" charset="0"/>
              <a:buChar char="•"/>
            </a:pPr>
            <a:r>
              <a:rPr lang="en-US" dirty="0"/>
              <a:t>Called a </a:t>
            </a:r>
            <a:r>
              <a:rPr lang="en-US" b="1" dirty="0"/>
              <a:t>Critical Task</a:t>
            </a:r>
            <a:r>
              <a:rPr lang="en-US" dirty="0"/>
              <a:t>. </a:t>
            </a:r>
          </a:p>
          <a:p>
            <a:pPr marL="285750" lvl="0" indent="-285750">
              <a:buFont typeface="Arial" panose="020B0604020202020204" pitchFamily="34" charset="0"/>
              <a:buChar char="•"/>
            </a:pPr>
            <a:r>
              <a:rPr lang="en-US" dirty="0"/>
              <a:t>This helps in identifying and separating the independent variables. </a:t>
            </a:r>
          </a:p>
          <a:p>
            <a:pPr marL="285750" lvl="0" indent="-285750">
              <a:buFont typeface="Arial" panose="020B0604020202020204" pitchFamily="34" charset="0"/>
              <a:buChar char="•"/>
            </a:pPr>
            <a:r>
              <a:rPr lang="en-US" dirty="0"/>
              <a:t>Finally, it adds milestones to the project. </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9B65697-DE20-F383-8D22-48AE2B5BC162}"/>
              </a:ext>
            </a:extLst>
          </p:cNvPr>
          <p:cNvPicPr>
            <a:picLocks noChangeAspect="1"/>
          </p:cNvPicPr>
          <p:nvPr/>
        </p:nvPicPr>
        <p:blipFill>
          <a:blip r:embed="rId2"/>
          <a:stretch>
            <a:fillRect/>
          </a:stretch>
        </p:blipFill>
        <p:spPr>
          <a:xfrm>
            <a:off x="5867400" y="5639541"/>
            <a:ext cx="2587555" cy="1019697"/>
          </a:xfrm>
          <a:prstGeom prst="rect">
            <a:avLst/>
          </a:prstGeom>
        </p:spPr>
      </p:pic>
    </p:spTree>
    <p:extLst>
      <p:ext uri="{BB962C8B-B14F-4D97-AF65-F5344CB8AC3E}">
        <p14:creationId xmlns:p14="http://schemas.microsoft.com/office/powerpoint/2010/main" val="1710584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49F20-533F-64D0-A40D-B09D6769273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E06D622-E188-DBED-48A3-83D5B97EBB09}"/>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ABF84217-B3F4-8FBF-5A99-F003CA0383A5}"/>
              </a:ext>
            </a:extLst>
          </p:cNvPr>
          <p:cNvSpPr txBox="1">
            <a:spLocks noGrp="1"/>
          </p:cNvSpPr>
          <p:nvPr>
            <p:ph type="title"/>
          </p:nvPr>
        </p:nvSpPr>
        <p:spPr>
          <a:xfrm>
            <a:off x="762000" y="685800"/>
            <a:ext cx="7535696" cy="997068"/>
          </a:xfrm>
          <a:prstGeom prst="rect">
            <a:avLst/>
          </a:prstGeom>
        </p:spPr>
        <p:txBody>
          <a:bodyPr vert="horz" wrap="square" lIns="0" tIns="12065" rIns="0" bIns="0" rtlCol="0">
            <a:spAutoFit/>
          </a:bodyPr>
          <a:lstStyle/>
          <a:p>
            <a:r>
              <a:rPr lang="en-US" dirty="0"/>
              <a:t>Project Scheduling Techniques (Continued) </a:t>
            </a:r>
          </a:p>
        </p:txBody>
      </p:sp>
      <p:sp>
        <p:nvSpPr>
          <p:cNvPr id="7" name="TextBox 6">
            <a:extLst>
              <a:ext uri="{FF2B5EF4-FFF2-40B4-BE49-F238E27FC236}">
                <a16:creationId xmlns:a16="http://schemas.microsoft.com/office/drawing/2014/main" id="{6DC48B9B-0278-8B34-E33D-64538A019AC5}"/>
              </a:ext>
            </a:extLst>
          </p:cNvPr>
          <p:cNvSpPr txBox="1"/>
          <p:nvPr/>
        </p:nvSpPr>
        <p:spPr>
          <a:xfrm>
            <a:off x="838200" y="1828800"/>
            <a:ext cx="8275820" cy="3693319"/>
          </a:xfrm>
          <a:prstGeom prst="rect">
            <a:avLst/>
          </a:prstGeom>
          <a:noFill/>
        </p:spPr>
        <p:txBody>
          <a:bodyPr wrap="square" rtlCol="0">
            <a:spAutoFit/>
          </a:bodyPr>
          <a:lstStyle/>
          <a:p>
            <a:r>
              <a:rPr lang="en-US" b="1" dirty="0"/>
              <a:t>2. Program Evaluation and Review Technique (PERT): </a:t>
            </a:r>
          </a:p>
          <a:p>
            <a:endParaRPr lang="en-US" sz="900" b="1" dirty="0"/>
          </a:p>
          <a:p>
            <a:pPr marL="285750" lvl="0" indent="-285750">
              <a:buFont typeface="Courier New" panose="02070309020205020404" pitchFamily="49" charset="0"/>
              <a:buChar char="o"/>
            </a:pPr>
            <a:r>
              <a:rPr lang="en-US" dirty="0"/>
              <a:t>It is a way to schedule the flow of tasks in a project and estimate the total time taken to complete it. </a:t>
            </a:r>
          </a:p>
          <a:p>
            <a:pPr marL="285750" lvl="0" indent="-285750">
              <a:buFont typeface="Courier New" panose="02070309020205020404" pitchFamily="49" charset="0"/>
              <a:buChar char="o"/>
            </a:pPr>
            <a:r>
              <a:rPr lang="en-US" dirty="0"/>
              <a:t>PERT charts offer a visual representation of the major activities (and dependencies) in a project. </a:t>
            </a:r>
          </a:p>
          <a:p>
            <a:pPr marL="285750" indent="-285750">
              <a:buFont typeface="Courier New" panose="02070309020205020404" pitchFamily="49" charset="0"/>
              <a:buChar char="o"/>
            </a:pPr>
            <a:r>
              <a:rPr lang="en-US" b="1" dirty="0"/>
              <a:t>It calculates:</a:t>
            </a:r>
            <a:r>
              <a:rPr lang="en-US" dirty="0"/>
              <a:t> </a:t>
            </a:r>
          </a:p>
          <a:p>
            <a:pPr marL="285750" lvl="0" indent="-285750">
              <a:buFont typeface="Courier New" panose="02070309020205020404" pitchFamily="49" charset="0"/>
              <a:buChar char="o"/>
            </a:pPr>
            <a:r>
              <a:rPr lang="en-US" b="1" dirty="0"/>
              <a:t>Optimistic time (O):</a:t>
            </a:r>
            <a:r>
              <a:rPr lang="en-US" dirty="0"/>
              <a:t> Quickest time you can complete a project. </a:t>
            </a:r>
          </a:p>
          <a:p>
            <a:pPr marL="285750" lvl="0" indent="-285750">
              <a:buFont typeface="Courier New" panose="02070309020205020404" pitchFamily="49" charset="0"/>
              <a:buChar char="o"/>
            </a:pPr>
            <a:r>
              <a:rPr lang="en-US" b="1" dirty="0"/>
              <a:t>Pessimistic time (P):</a:t>
            </a:r>
            <a:r>
              <a:rPr lang="en-US" dirty="0"/>
              <a:t> Longest time it will take to complete your project. </a:t>
            </a:r>
          </a:p>
          <a:p>
            <a:pPr marL="285750" lvl="0" indent="-285750">
              <a:buFont typeface="Courier New" panose="02070309020205020404" pitchFamily="49" charset="0"/>
              <a:buChar char="o"/>
            </a:pPr>
            <a:r>
              <a:rPr lang="en-US" b="1" dirty="0"/>
              <a:t>Most likely time (M):</a:t>
            </a:r>
            <a:r>
              <a:rPr lang="en-US" dirty="0"/>
              <a:t> How long it will take to finish your project if there are no problems. </a:t>
            </a:r>
          </a:p>
          <a:p>
            <a:pPr marL="285750" lvl="0" indent="-285750">
              <a:buFont typeface="Courier New" panose="02070309020205020404" pitchFamily="49" charset="0"/>
              <a:buChar char="o"/>
            </a:pPr>
            <a:r>
              <a:rPr lang="en-US" b="1" dirty="0"/>
              <a:t>Formula:</a:t>
            </a:r>
            <a:r>
              <a:rPr lang="en-US" dirty="0"/>
              <a:t> (O + 4M + P) / 6</a:t>
            </a:r>
          </a:p>
          <a:p>
            <a:endParaRPr lang="en-US"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6DB3D23E-3413-1761-578C-230664849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4636311"/>
            <a:ext cx="3143250" cy="192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05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66702-D689-76A3-6692-BE916905706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867E19-A28C-7B9B-7FFA-3A2B40F7839F}"/>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2CCF010C-F8C4-D5EF-AF92-7F1233015B31}"/>
              </a:ext>
            </a:extLst>
          </p:cNvPr>
          <p:cNvSpPr txBox="1">
            <a:spLocks noGrp="1"/>
          </p:cNvSpPr>
          <p:nvPr>
            <p:ph type="title"/>
          </p:nvPr>
        </p:nvSpPr>
        <p:spPr>
          <a:xfrm>
            <a:off x="762000" y="685800"/>
            <a:ext cx="7535696" cy="997068"/>
          </a:xfrm>
          <a:prstGeom prst="rect">
            <a:avLst/>
          </a:prstGeom>
        </p:spPr>
        <p:txBody>
          <a:bodyPr vert="horz" wrap="square" lIns="0" tIns="12065" rIns="0" bIns="0" rtlCol="0">
            <a:spAutoFit/>
          </a:bodyPr>
          <a:lstStyle/>
          <a:p>
            <a:r>
              <a:rPr lang="en-US" dirty="0"/>
              <a:t>Project Scheduling Techniques (Continued) </a:t>
            </a:r>
          </a:p>
        </p:txBody>
      </p:sp>
      <p:sp>
        <p:nvSpPr>
          <p:cNvPr id="7" name="TextBox 6">
            <a:extLst>
              <a:ext uri="{FF2B5EF4-FFF2-40B4-BE49-F238E27FC236}">
                <a16:creationId xmlns:a16="http://schemas.microsoft.com/office/drawing/2014/main" id="{F6B9D4AE-D505-E007-4431-4D39D0E8F56E}"/>
              </a:ext>
            </a:extLst>
          </p:cNvPr>
          <p:cNvSpPr txBox="1"/>
          <p:nvPr/>
        </p:nvSpPr>
        <p:spPr>
          <a:xfrm>
            <a:off x="838200" y="1828800"/>
            <a:ext cx="8275820" cy="2523768"/>
          </a:xfrm>
          <a:prstGeom prst="rect">
            <a:avLst/>
          </a:prstGeom>
          <a:noFill/>
        </p:spPr>
        <p:txBody>
          <a:bodyPr wrap="square" rtlCol="0">
            <a:spAutoFit/>
          </a:bodyPr>
          <a:lstStyle/>
          <a:p>
            <a:r>
              <a:rPr lang="en-US" b="1" dirty="0"/>
              <a:t>3. Gantt Chart: </a:t>
            </a:r>
          </a:p>
          <a:p>
            <a:endParaRPr lang="en-US" sz="1100" b="1" dirty="0"/>
          </a:p>
          <a:p>
            <a:pPr marL="285750" lvl="0" indent="-285750">
              <a:buFont typeface="Arial" panose="020B0604020202020204" pitchFamily="34" charset="0"/>
              <a:buChar char="•"/>
            </a:pPr>
            <a:r>
              <a:rPr lang="en-US" dirty="0"/>
              <a:t>A Gantt chart is a type of bar graph that project managers use for planning and scheduling in complex projects.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It represents each task horizontally on a bar chart, showing the start and end dates; they frequently include deadlines and task dependencies. </a:t>
            </a:r>
          </a:p>
          <a:p>
            <a:pPr marL="285750" lvl="0" indent="-285750">
              <a:buFont typeface="Arial" panose="020B0604020202020204" pitchFamily="34" charset="0"/>
              <a:buChar char="•"/>
            </a:pPr>
            <a:endParaRPr lang="en-US" sz="1100" dirty="0"/>
          </a:p>
          <a:p>
            <a:pPr marL="285750" lvl="0" indent="-285750">
              <a:buFont typeface="Arial" panose="020B0604020202020204" pitchFamily="34" charset="0"/>
              <a:buChar char="•"/>
            </a:pPr>
            <a:r>
              <a:rPr lang="en-US" dirty="0"/>
              <a:t>It makes it easier to visualize the progress of a project and see how different tasks interact with one another. </a:t>
            </a:r>
          </a:p>
        </p:txBody>
      </p:sp>
      <p:pic>
        <p:nvPicPr>
          <p:cNvPr id="5122" name="Picture 2" descr="Gantt Chart Example for Project Proposal - GeeksforGeeks">
            <a:extLst>
              <a:ext uri="{FF2B5EF4-FFF2-40B4-BE49-F238E27FC236}">
                <a16:creationId xmlns:a16="http://schemas.microsoft.com/office/drawing/2014/main" id="{49C8379A-1DD4-BCF4-EC96-80B1AED795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536"/>
          <a:stretch>
            <a:fillRect/>
          </a:stretch>
        </p:blipFill>
        <p:spPr bwMode="auto">
          <a:xfrm>
            <a:off x="2667000" y="4363259"/>
            <a:ext cx="4271252" cy="2225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611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DD801-360B-2C16-136A-1D87541A016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297CE46-5ADD-A172-3721-67C7BD6A82F8}"/>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A9F119F7-6CD3-06F6-4FD0-5023C0F8C820}"/>
              </a:ext>
            </a:extLst>
          </p:cNvPr>
          <p:cNvSpPr txBox="1">
            <a:spLocks noGrp="1"/>
          </p:cNvSpPr>
          <p:nvPr>
            <p:ph type="title"/>
          </p:nvPr>
        </p:nvSpPr>
        <p:spPr>
          <a:xfrm>
            <a:off x="762000" y="685800"/>
            <a:ext cx="7535696" cy="997068"/>
          </a:xfrm>
          <a:prstGeom prst="rect">
            <a:avLst/>
          </a:prstGeom>
        </p:spPr>
        <p:txBody>
          <a:bodyPr vert="horz" wrap="square" lIns="0" tIns="12065" rIns="0" bIns="0" rtlCol="0">
            <a:spAutoFit/>
          </a:bodyPr>
          <a:lstStyle/>
          <a:p>
            <a:r>
              <a:rPr lang="en-US" dirty="0"/>
              <a:t>Project Scheduling Techniques (Continued) </a:t>
            </a:r>
          </a:p>
        </p:txBody>
      </p:sp>
      <p:sp>
        <p:nvSpPr>
          <p:cNvPr id="7" name="TextBox 6">
            <a:extLst>
              <a:ext uri="{FF2B5EF4-FFF2-40B4-BE49-F238E27FC236}">
                <a16:creationId xmlns:a16="http://schemas.microsoft.com/office/drawing/2014/main" id="{3219D3C6-9B1D-E705-A80A-3CC7F1B242CC}"/>
              </a:ext>
            </a:extLst>
          </p:cNvPr>
          <p:cNvSpPr txBox="1"/>
          <p:nvPr/>
        </p:nvSpPr>
        <p:spPr>
          <a:xfrm>
            <a:off x="838200" y="1828800"/>
            <a:ext cx="8275820" cy="2492990"/>
          </a:xfrm>
          <a:prstGeom prst="rect">
            <a:avLst/>
          </a:prstGeom>
          <a:noFill/>
        </p:spPr>
        <p:txBody>
          <a:bodyPr wrap="square" rtlCol="0">
            <a:spAutoFit/>
          </a:bodyPr>
          <a:lstStyle/>
          <a:p>
            <a:r>
              <a:rPr lang="en-US" b="1" dirty="0"/>
              <a:t>4. Task List: </a:t>
            </a:r>
          </a:p>
          <a:p>
            <a:endParaRPr lang="en-US" sz="1200" b="1" dirty="0"/>
          </a:p>
          <a:p>
            <a:pPr marL="285750" lvl="0" indent="-285750">
              <a:buFont typeface="Arial" panose="020B0604020202020204" pitchFamily="34" charset="0"/>
              <a:buChar char="•"/>
            </a:pPr>
            <a:r>
              <a:rPr lang="en-US" dirty="0"/>
              <a:t>One of the simplest project scheduling techniques is the creation of a task list. </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Create a task list using a word processor or spreadsheet software. </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It creates a list of tasks and includes important information like the task manager, start date, deadline, and completion status</a:t>
            </a:r>
          </a:p>
          <a:p>
            <a:r>
              <a:rPr lang="en-US" dirty="0"/>
              <a:t> </a:t>
            </a:r>
          </a:p>
        </p:txBody>
      </p:sp>
    </p:spTree>
    <p:extLst>
      <p:ext uri="{BB962C8B-B14F-4D97-AF65-F5344CB8AC3E}">
        <p14:creationId xmlns:p14="http://schemas.microsoft.com/office/powerpoint/2010/main" val="2116253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5FA26-2E12-9BE5-D117-7D3F187E07A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DBB188-0C14-1F75-A453-06E526C95B87}"/>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A84F0E39-1007-303F-85CB-DB7A91019EA0}"/>
              </a:ext>
            </a:extLst>
          </p:cNvPr>
          <p:cNvSpPr txBox="1">
            <a:spLocks noGrp="1"/>
          </p:cNvSpPr>
          <p:nvPr>
            <p:ph type="title"/>
          </p:nvPr>
        </p:nvSpPr>
        <p:spPr>
          <a:xfrm>
            <a:off x="762000" y="685800"/>
            <a:ext cx="7535696" cy="997068"/>
          </a:xfrm>
          <a:prstGeom prst="rect">
            <a:avLst/>
          </a:prstGeom>
        </p:spPr>
        <p:txBody>
          <a:bodyPr vert="horz" wrap="square" lIns="0" tIns="12065" rIns="0" bIns="0" rtlCol="0">
            <a:spAutoFit/>
          </a:bodyPr>
          <a:lstStyle/>
          <a:p>
            <a:r>
              <a:rPr lang="en-US" dirty="0"/>
              <a:t>Project Scheduling Techniques (Continued) </a:t>
            </a:r>
          </a:p>
        </p:txBody>
      </p:sp>
      <p:pic>
        <p:nvPicPr>
          <p:cNvPr id="6146" name="Picture 2" descr="How to Make a Project Schedule | Smartsheet">
            <a:extLst>
              <a:ext uri="{FF2B5EF4-FFF2-40B4-BE49-F238E27FC236}">
                <a16:creationId xmlns:a16="http://schemas.microsoft.com/office/drawing/2014/main" id="{8CD3E586-C001-A688-956F-C82EBA88DB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25" b="43956"/>
          <a:stretch>
            <a:fillRect/>
          </a:stretch>
        </p:blipFill>
        <p:spPr bwMode="auto">
          <a:xfrm>
            <a:off x="1219200" y="2133600"/>
            <a:ext cx="6958013"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558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E1EBE-B939-66B3-F68A-42A78DD509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AEE934-0CD3-3470-C865-74FB8AF7D96F}"/>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919F971D-3620-A0FA-B612-40CB11FC6A20}"/>
              </a:ext>
            </a:extLst>
          </p:cNvPr>
          <p:cNvSpPr txBox="1">
            <a:spLocks noGrp="1"/>
          </p:cNvSpPr>
          <p:nvPr>
            <p:ph type="title"/>
          </p:nvPr>
        </p:nvSpPr>
        <p:spPr>
          <a:xfrm>
            <a:off x="762000" y="685800"/>
            <a:ext cx="7535696" cy="997068"/>
          </a:xfrm>
          <a:prstGeom prst="rect">
            <a:avLst/>
          </a:prstGeom>
        </p:spPr>
        <p:txBody>
          <a:bodyPr vert="horz" wrap="square" lIns="0" tIns="12065" rIns="0" bIns="0" rtlCol="0">
            <a:spAutoFit/>
          </a:bodyPr>
          <a:lstStyle/>
          <a:p>
            <a:r>
              <a:rPr lang="en-US" dirty="0"/>
              <a:t>Project Scheduling Techniques (Continued) </a:t>
            </a:r>
          </a:p>
        </p:txBody>
      </p:sp>
      <p:sp>
        <p:nvSpPr>
          <p:cNvPr id="7" name="TextBox 6">
            <a:extLst>
              <a:ext uri="{FF2B5EF4-FFF2-40B4-BE49-F238E27FC236}">
                <a16:creationId xmlns:a16="http://schemas.microsoft.com/office/drawing/2014/main" id="{9D0BB3BF-2786-2C03-C849-EC447C3E72DF}"/>
              </a:ext>
            </a:extLst>
          </p:cNvPr>
          <p:cNvSpPr txBox="1"/>
          <p:nvPr/>
        </p:nvSpPr>
        <p:spPr>
          <a:xfrm>
            <a:off x="838200" y="1828800"/>
            <a:ext cx="8275820" cy="4493538"/>
          </a:xfrm>
          <a:prstGeom prst="rect">
            <a:avLst/>
          </a:prstGeom>
          <a:noFill/>
        </p:spPr>
        <p:txBody>
          <a:bodyPr wrap="square" rtlCol="0">
            <a:spAutoFit/>
          </a:bodyPr>
          <a:lstStyle/>
          <a:p>
            <a:r>
              <a:rPr lang="en-US" b="1" dirty="0"/>
              <a:t>5. Fast Tracking: </a:t>
            </a:r>
          </a:p>
          <a:p>
            <a:pPr marL="285750" lvl="0" indent="-285750">
              <a:buFont typeface="Arial" panose="020B0604020202020204" pitchFamily="34" charset="0"/>
              <a:buChar char="•"/>
            </a:pPr>
            <a:r>
              <a:rPr lang="en-US" dirty="0"/>
              <a:t>In fast tracking, a project is implemented by either simultaneously executing many tasks or by overlapping tasks with each other.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b="1" dirty="0"/>
              <a:t>Example:</a:t>
            </a:r>
            <a:r>
              <a:rPr lang="en-US" dirty="0"/>
              <a:t> In a software development project, designing and development can be taken up in parallel. Once the design of essential features is ready and approved, the development team can work on it. Meanwhile, the designing team will work on the remaining elements and functions. </a:t>
            </a:r>
          </a:p>
          <a:p>
            <a:pPr lvl="0"/>
            <a:endParaRPr lang="en-US" dirty="0"/>
          </a:p>
          <a:p>
            <a:r>
              <a:rPr lang="en-US" b="1" dirty="0"/>
              <a:t>6. Crashing: </a:t>
            </a:r>
          </a:p>
          <a:p>
            <a:pPr marL="285750" lvl="0" indent="-285750">
              <a:buFont typeface="Arial" panose="020B0604020202020204" pitchFamily="34" charset="0"/>
              <a:buChar char="•"/>
            </a:pPr>
            <a:r>
              <a:rPr lang="en-US" dirty="0"/>
              <a:t>Crashing deals with involving more resources to finish the project on time. </a:t>
            </a:r>
          </a:p>
          <a:p>
            <a:pPr marL="285750" lvl="0" indent="-285750">
              <a:buFont typeface="Arial" panose="020B0604020202020204" pitchFamily="34" charset="0"/>
              <a:buChar char="•"/>
            </a:pPr>
            <a:endParaRPr lang="en-US" sz="500" dirty="0"/>
          </a:p>
          <a:p>
            <a:pPr marL="285750" lvl="0" indent="-285750">
              <a:buFont typeface="Arial" panose="020B0604020202020204" pitchFamily="34" charset="0"/>
              <a:buChar char="•"/>
            </a:pPr>
            <a:r>
              <a:rPr lang="en-US" b="1" dirty="0"/>
              <a:t>Example:</a:t>
            </a:r>
            <a:r>
              <a:rPr lang="en-US" dirty="0"/>
              <a:t> Adding more developers to a project or paying overtime to employees. </a:t>
            </a:r>
          </a:p>
          <a:p>
            <a:pPr marL="285750" lvl="0" indent="-285750">
              <a:buFont typeface="Arial" panose="020B0604020202020204" pitchFamily="34" charset="0"/>
              <a:buChar char="•"/>
            </a:pPr>
            <a:endParaRPr lang="en-US" sz="800" dirty="0"/>
          </a:p>
          <a:p>
            <a:pPr marL="285750" lvl="0" indent="-285750">
              <a:buFont typeface="Arial" panose="020B0604020202020204" pitchFamily="34" charset="0"/>
              <a:buChar char="•"/>
            </a:pPr>
            <a:r>
              <a:rPr lang="en-US" dirty="0"/>
              <a:t>Crashing can only be applied when it fits your project budget.</a:t>
            </a:r>
          </a:p>
          <a:p>
            <a:r>
              <a:rPr lang="en-US" dirty="0"/>
              <a:t> </a:t>
            </a:r>
          </a:p>
          <a:p>
            <a:endParaRPr lang="en-US" dirty="0"/>
          </a:p>
        </p:txBody>
      </p:sp>
    </p:spTree>
    <p:extLst>
      <p:ext uri="{BB962C8B-B14F-4D97-AF65-F5344CB8AC3E}">
        <p14:creationId xmlns:p14="http://schemas.microsoft.com/office/powerpoint/2010/main" val="4143257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3E77-4A27-3438-EF96-22A4770BAA7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31F2318-F336-5FF7-E386-D2C2201FA8A1}"/>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F14ECF55-D466-57B9-7522-A11A142F9E0F}"/>
              </a:ext>
            </a:extLst>
          </p:cNvPr>
          <p:cNvSpPr txBox="1">
            <a:spLocks noGrp="1"/>
          </p:cNvSpPr>
          <p:nvPr>
            <p:ph type="title"/>
          </p:nvPr>
        </p:nvSpPr>
        <p:spPr>
          <a:xfrm>
            <a:off x="1219200" y="1905000"/>
            <a:ext cx="7277734" cy="1243289"/>
          </a:xfrm>
          <a:prstGeom prst="rect">
            <a:avLst/>
          </a:prstGeom>
        </p:spPr>
        <p:txBody>
          <a:bodyPr vert="horz" wrap="square" lIns="0" tIns="12065" rIns="0" bIns="0" rtlCol="0">
            <a:spAutoFit/>
          </a:bodyPr>
          <a:lstStyle/>
          <a:p>
            <a:pPr marL="12700">
              <a:lnSpc>
                <a:spcPct val="100000"/>
              </a:lnSpc>
              <a:spcBef>
                <a:spcPts val="95"/>
              </a:spcBef>
            </a:pPr>
            <a:r>
              <a:rPr lang="en-US" sz="4000" dirty="0"/>
              <a:t>Project Management Spectrum</a:t>
            </a:r>
            <a:endParaRPr sz="4000" dirty="0"/>
          </a:p>
        </p:txBody>
      </p:sp>
    </p:spTree>
    <p:extLst>
      <p:ext uri="{BB962C8B-B14F-4D97-AF65-F5344CB8AC3E}">
        <p14:creationId xmlns:p14="http://schemas.microsoft.com/office/powerpoint/2010/main" val="1145787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9207F-C596-9AAE-2893-196A9662DCA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379A9BE-39EA-64DE-A105-649ED94C4844}"/>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619C4EAD-0943-544C-7CE3-E368A978EE99}"/>
              </a:ext>
            </a:extLst>
          </p:cNvPr>
          <p:cNvSpPr txBox="1">
            <a:spLocks noGrp="1"/>
          </p:cNvSpPr>
          <p:nvPr>
            <p:ph type="title"/>
          </p:nvPr>
        </p:nvSpPr>
        <p:spPr>
          <a:xfrm>
            <a:off x="804152" y="914400"/>
            <a:ext cx="7535696" cy="504625"/>
          </a:xfrm>
          <a:prstGeom prst="rect">
            <a:avLst/>
          </a:prstGeom>
        </p:spPr>
        <p:txBody>
          <a:bodyPr vert="horz" wrap="square" lIns="0" tIns="12065" rIns="0" bIns="0" rtlCol="0">
            <a:spAutoFit/>
          </a:bodyPr>
          <a:lstStyle/>
          <a:p>
            <a:r>
              <a:rPr lang="en-US" dirty="0"/>
              <a:t>The Management Spectrum</a:t>
            </a:r>
          </a:p>
        </p:txBody>
      </p:sp>
      <p:sp>
        <p:nvSpPr>
          <p:cNvPr id="7" name="TextBox 6">
            <a:extLst>
              <a:ext uri="{FF2B5EF4-FFF2-40B4-BE49-F238E27FC236}">
                <a16:creationId xmlns:a16="http://schemas.microsoft.com/office/drawing/2014/main" id="{0A507B30-B646-7F3D-F047-03C2B5198A6B}"/>
              </a:ext>
            </a:extLst>
          </p:cNvPr>
          <p:cNvSpPr txBox="1"/>
          <p:nvPr/>
        </p:nvSpPr>
        <p:spPr>
          <a:xfrm>
            <a:off x="762000" y="1905000"/>
            <a:ext cx="7986141" cy="4524315"/>
          </a:xfrm>
          <a:prstGeom prst="rect">
            <a:avLst/>
          </a:prstGeom>
          <a:noFill/>
        </p:spPr>
        <p:txBody>
          <a:bodyPr wrap="square" rtlCol="0">
            <a:spAutoFit/>
          </a:bodyPr>
          <a:lstStyle/>
          <a:p>
            <a:pPr marL="285750" lvl="0" indent="-285750">
              <a:buFont typeface="Arial" panose="020B0604020202020204" pitchFamily="34" charset="0"/>
              <a:buChar char="•"/>
            </a:pPr>
            <a:r>
              <a:rPr lang="en-US" dirty="0"/>
              <a:t>In software engineering, the management spectrum describes the management of a software project.</a:t>
            </a:r>
          </a:p>
          <a:p>
            <a:pPr marL="285750" lvl="0" indent="-285750">
              <a:buFont typeface="Arial" panose="020B0604020202020204" pitchFamily="34" charset="0"/>
              <a:buChar char="•"/>
            </a:pPr>
            <a:r>
              <a:rPr lang="en-US" dirty="0"/>
              <a:t>For properly building a product, there’s a very important concept handle by Project Manager.</a:t>
            </a:r>
          </a:p>
          <a:p>
            <a:pPr marL="285750" lvl="0" indent="-285750">
              <a:buFont typeface="Arial" panose="020B0604020202020204" pitchFamily="34" charset="0"/>
              <a:buChar char="•"/>
            </a:pPr>
            <a:r>
              <a:rPr lang="en-US" dirty="0"/>
              <a:t>These components play a very important role in your project that can help your team meet its goals and objective.</a:t>
            </a:r>
          </a:p>
          <a:p>
            <a:pPr lvl="0"/>
            <a:endParaRPr lang="en-US" dirty="0"/>
          </a:p>
          <a:p>
            <a:r>
              <a:rPr lang="en-US" b="1" dirty="0"/>
              <a:t>Effective software project management focuses on the four P’s:</a:t>
            </a:r>
            <a:endParaRPr lang="en-US" dirty="0"/>
          </a:p>
          <a:p>
            <a:pPr marL="285750" lvl="0" indent="-285750">
              <a:lnSpc>
                <a:spcPct val="150000"/>
              </a:lnSpc>
              <a:buFont typeface="Arial" panose="020B0604020202020204" pitchFamily="34" charset="0"/>
              <a:buChar char="•"/>
            </a:pPr>
            <a:r>
              <a:rPr lang="en-US" dirty="0"/>
              <a:t>People </a:t>
            </a:r>
          </a:p>
          <a:p>
            <a:pPr marL="285750" lvl="0" indent="-285750">
              <a:lnSpc>
                <a:spcPct val="150000"/>
              </a:lnSpc>
              <a:buFont typeface="Arial" panose="020B0604020202020204" pitchFamily="34" charset="0"/>
              <a:buChar char="•"/>
            </a:pPr>
            <a:r>
              <a:rPr lang="en-US" dirty="0"/>
              <a:t>Product </a:t>
            </a:r>
          </a:p>
          <a:p>
            <a:pPr marL="285750" lvl="0" indent="-285750">
              <a:lnSpc>
                <a:spcPct val="150000"/>
              </a:lnSpc>
              <a:buFont typeface="Arial" panose="020B0604020202020204" pitchFamily="34" charset="0"/>
              <a:buChar char="•"/>
            </a:pPr>
            <a:r>
              <a:rPr lang="en-US" dirty="0"/>
              <a:t>Process </a:t>
            </a:r>
          </a:p>
          <a:p>
            <a:pPr marL="285750" lvl="0" indent="-285750">
              <a:lnSpc>
                <a:spcPct val="150000"/>
              </a:lnSpc>
              <a:buFont typeface="Arial" panose="020B0604020202020204" pitchFamily="34" charset="0"/>
              <a:buChar char="•"/>
            </a:pPr>
            <a:r>
              <a:rPr lang="en-US" dirty="0"/>
              <a:t>Project</a:t>
            </a:r>
          </a:p>
          <a:p>
            <a:r>
              <a:rPr lang="en-US" dirty="0"/>
              <a:t> </a:t>
            </a:r>
          </a:p>
          <a:p>
            <a:endParaRPr lang="en-US" dirty="0"/>
          </a:p>
        </p:txBody>
      </p:sp>
      <p:pic>
        <p:nvPicPr>
          <p:cNvPr id="7170" name="Picture 2" descr="What is management spectrum? Describe the four P's briefly. «  OnlineClassNotes">
            <a:extLst>
              <a:ext uri="{FF2B5EF4-FFF2-40B4-BE49-F238E27FC236}">
                <a16:creationId xmlns:a16="http://schemas.microsoft.com/office/drawing/2014/main" id="{36EAD37C-3F78-D962-B911-1626B57B9FB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790" r="11842" b="6265"/>
          <a:stretch>
            <a:fillRect/>
          </a:stretch>
        </p:blipFill>
        <p:spPr bwMode="auto">
          <a:xfrm>
            <a:off x="5105400" y="4245386"/>
            <a:ext cx="3276600" cy="2228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597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FDA9-2BAC-3028-D181-8BE7A8702B7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06AE96-A5CC-6F2D-BB1E-CB9669A7600C}"/>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pic>
        <p:nvPicPr>
          <p:cNvPr id="4" name="Picture 3">
            <a:extLst>
              <a:ext uri="{FF2B5EF4-FFF2-40B4-BE49-F238E27FC236}">
                <a16:creationId xmlns:a16="http://schemas.microsoft.com/office/drawing/2014/main" id="{3C80CC7F-007A-15AC-6075-0DD3292BFA11}"/>
              </a:ext>
            </a:extLst>
          </p:cNvPr>
          <p:cNvPicPr>
            <a:picLocks noChangeAspect="1"/>
          </p:cNvPicPr>
          <p:nvPr/>
        </p:nvPicPr>
        <p:blipFill>
          <a:blip r:embed="rId2"/>
          <a:stretch>
            <a:fillRect/>
          </a:stretch>
        </p:blipFill>
        <p:spPr>
          <a:xfrm>
            <a:off x="1752600" y="1995442"/>
            <a:ext cx="6400800" cy="4522191"/>
          </a:xfrm>
          <a:prstGeom prst="rect">
            <a:avLst/>
          </a:prstGeom>
        </p:spPr>
      </p:pic>
      <p:sp>
        <p:nvSpPr>
          <p:cNvPr id="9" name="object 6">
            <a:extLst>
              <a:ext uri="{FF2B5EF4-FFF2-40B4-BE49-F238E27FC236}">
                <a16:creationId xmlns:a16="http://schemas.microsoft.com/office/drawing/2014/main" id="{046CB98C-2E5C-C30F-D59A-8A18AC20AB61}"/>
              </a:ext>
            </a:extLst>
          </p:cNvPr>
          <p:cNvSpPr txBox="1">
            <a:spLocks/>
          </p:cNvSpPr>
          <p:nvPr/>
        </p:nvSpPr>
        <p:spPr>
          <a:xfrm>
            <a:off x="804152" y="914400"/>
            <a:ext cx="7535696" cy="504625"/>
          </a:xfrm>
          <a:prstGeom prst="rect">
            <a:avLst/>
          </a:prstGeom>
        </p:spPr>
        <p:txBody>
          <a:bodyPr vert="horz" wrap="square" lIns="0" tIns="12065" rIns="0" bIns="0" rtlCol="0">
            <a:spAutoFit/>
          </a:bodyPr>
          <a:lstStyle>
            <a:lvl1pPr>
              <a:defRPr sz="3200" b="1" i="0">
                <a:solidFill>
                  <a:srgbClr val="6F2F9F"/>
                </a:solidFill>
                <a:latin typeface="Arial"/>
                <a:ea typeface="+mj-ea"/>
                <a:cs typeface="Arial"/>
              </a:defRPr>
            </a:lvl1pPr>
          </a:lstStyle>
          <a:p>
            <a:r>
              <a:rPr lang="en-US" kern="0" dirty="0"/>
              <a:t>The Management Spectrum</a:t>
            </a:r>
          </a:p>
        </p:txBody>
      </p:sp>
    </p:spTree>
    <p:extLst>
      <p:ext uri="{BB962C8B-B14F-4D97-AF65-F5344CB8AC3E}">
        <p14:creationId xmlns:p14="http://schemas.microsoft.com/office/powerpoint/2010/main" val="3422015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B96A6-87E7-9443-900B-B5D6E06F4EB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0143F4-0667-6BF2-21B7-C03797BD3DD0}"/>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1A1E28E1-92A6-0197-FC9E-6369C88878CA}"/>
              </a:ext>
            </a:extLst>
          </p:cNvPr>
          <p:cNvSpPr txBox="1">
            <a:spLocks noGrp="1"/>
          </p:cNvSpPr>
          <p:nvPr>
            <p:ph type="title"/>
          </p:nvPr>
        </p:nvSpPr>
        <p:spPr>
          <a:xfrm>
            <a:off x="804152" y="914400"/>
            <a:ext cx="7535696" cy="504625"/>
          </a:xfrm>
          <a:prstGeom prst="rect">
            <a:avLst/>
          </a:prstGeom>
        </p:spPr>
        <p:txBody>
          <a:bodyPr vert="horz" wrap="square" lIns="0" tIns="12065" rIns="0" bIns="0" rtlCol="0">
            <a:spAutoFit/>
          </a:bodyPr>
          <a:lstStyle/>
          <a:p>
            <a:r>
              <a:rPr lang="en-US" dirty="0"/>
              <a:t>People</a:t>
            </a:r>
          </a:p>
        </p:txBody>
      </p:sp>
      <p:sp>
        <p:nvSpPr>
          <p:cNvPr id="7" name="TextBox 6">
            <a:extLst>
              <a:ext uri="{FF2B5EF4-FFF2-40B4-BE49-F238E27FC236}">
                <a16:creationId xmlns:a16="http://schemas.microsoft.com/office/drawing/2014/main" id="{C2077D42-8DE6-C13F-2AA5-D51A3B10DE4F}"/>
              </a:ext>
            </a:extLst>
          </p:cNvPr>
          <p:cNvSpPr txBox="1"/>
          <p:nvPr/>
        </p:nvSpPr>
        <p:spPr>
          <a:xfrm>
            <a:off x="810569" y="2057400"/>
            <a:ext cx="7986141" cy="4247317"/>
          </a:xfrm>
          <a:prstGeom prst="rect">
            <a:avLst/>
          </a:prstGeom>
          <a:noFill/>
        </p:spPr>
        <p:txBody>
          <a:bodyPr wrap="square" rtlCol="0">
            <a:spAutoFit/>
          </a:bodyPr>
          <a:lstStyle/>
          <a:p>
            <a:pPr marL="285750" lvl="0" indent="-285750">
              <a:buFont typeface="Arial" panose="020B0604020202020204" pitchFamily="34" charset="0"/>
              <a:buChar char="•"/>
            </a:pPr>
            <a:r>
              <a:rPr lang="en-US" dirty="0"/>
              <a:t>The most important contribution in software project is not made by system or tool, It is done by people. i.e. Human Resources.</a:t>
            </a:r>
          </a:p>
          <a:p>
            <a:pPr marL="285750" lvl="0" indent="-285750">
              <a:buFont typeface="Arial" panose="020B0604020202020204" pitchFamily="34" charset="0"/>
              <a:buChar char="•"/>
            </a:pPr>
            <a:r>
              <a:rPr lang="en-US" dirty="0"/>
              <a:t>The success of project depend on selecting right kind of people with right talent.</a:t>
            </a:r>
          </a:p>
          <a:p>
            <a:pPr lvl="0"/>
            <a:endParaRPr lang="en-US" dirty="0"/>
          </a:p>
          <a:p>
            <a:r>
              <a:rPr lang="en-US" b="1" dirty="0"/>
              <a:t>Depending on there roles &amp; responsibilities, following are the main categories:</a:t>
            </a:r>
          </a:p>
          <a:p>
            <a:endParaRPr lang="en-US" dirty="0"/>
          </a:p>
          <a:p>
            <a:pPr marL="285750" lvl="0" indent="-285750">
              <a:buFont typeface="Arial" panose="020B0604020202020204" pitchFamily="34" charset="0"/>
              <a:buChar char="•"/>
            </a:pPr>
            <a:r>
              <a:rPr lang="en-US" b="1" dirty="0"/>
              <a:t>Senior Manager:</a:t>
            </a:r>
            <a:r>
              <a:rPr lang="en-US" dirty="0"/>
              <a:t> Define the business issues &amp; have significant influence on the project.</a:t>
            </a:r>
          </a:p>
          <a:p>
            <a:pPr marL="285750" lvl="0" indent="-285750">
              <a:buFont typeface="Arial" panose="020B0604020202020204" pitchFamily="34" charset="0"/>
              <a:buChar char="•"/>
            </a:pPr>
            <a:r>
              <a:rPr lang="en-US" b="1" dirty="0"/>
              <a:t>Project Manager:</a:t>
            </a:r>
            <a:r>
              <a:rPr lang="en-US" dirty="0"/>
              <a:t> Plan, Motivate, Organize &amp; Control the project work. Has problem solving skills &amp; manageable team abilities.</a:t>
            </a:r>
          </a:p>
          <a:p>
            <a:pPr marL="285750" lvl="0" indent="-285750">
              <a:buFont typeface="Arial" panose="020B0604020202020204" pitchFamily="34" charset="0"/>
              <a:buChar char="•"/>
            </a:pPr>
            <a:r>
              <a:rPr lang="en-US" b="1" dirty="0"/>
              <a:t>Software Engineer:</a:t>
            </a:r>
            <a:r>
              <a:rPr lang="en-US" dirty="0"/>
              <a:t> Who deliver technical skills which are necessary in project.</a:t>
            </a:r>
          </a:p>
          <a:p>
            <a:pPr marL="285750" lvl="0" indent="-285750">
              <a:buFont typeface="Arial" panose="020B0604020202020204" pitchFamily="34" charset="0"/>
              <a:buChar char="•"/>
            </a:pPr>
            <a:r>
              <a:rPr lang="en-US" b="1" dirty="0"/>
              <a:t>Customer:</a:t>
            </a:r>
            <a:r>
              <a:rPr lang="en-US" dirty="0"/>
              <a:t> Who specify the requirement for the software project.</a:t>
            </a:r>
          </a:p>
          <a:p>
            <a:pPr marL="285750" lvl="0" indent="-285750">
              <a:buFont typeface="Arial" panose="020B0604020202020204" pitchFamily="34" charset="0"/>
              <a:buChar char="•"/>
            </a:pPr>
            <a:r>
              <a:rPr lang="en-US" b="1" dirty="0"/>
              <a:t>End Users:</a:t>
            </a:r>
            <a:r>
              <a:rPr lang="en-US" dirty="0"/>
              <a:t> Who interact with the software product</a:t>
            </a:r>
          </a:p>
          <a:p>
            <a:r>
              <a:rPr lang="en-US" dirty="0"/>
              <a:t> </a:t>
            </a:r>
          </a:p>
          <a:p>
            <a:endParaRPr lang="en-US" dirty="0"/>
          </a:p>
        </p:txBody>
      </p:sp>
    </p:spTree>
    <p:extLst>
      <p:ext uri="{BB962C8B-B14F-4D97-AF65-F5344CB8AC3E}">
        <p14:creationId xmlns:p14="http://schemas.microsoft.com/office/powerpoint/2010/main" val="1156850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6DAEB-38F6-3183-06D1-48732D0CA50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EBC832B-1C03-F7B9-A8AD-B781969982EF}"/>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721B7367-0A8C-C1E7-14FC-D446D81E610E}"/>
              </a:ext>
            </a:extLst>
          </p:cNvPr>
          <p:cNvSpPr txBox="1">
            <a:spLocks noGrp="1"/>
          </p:cNvSpPr>
          <p:nvPr>
            <p:ph type="title"/>
          </p:nvPr>
        </p:nvSpPr>
        <p:spPr>
          <a:xfrm>
            <a:off x="804152" y="914400"/>
            <a:ext cx="7535696" cy="504625"/>
          </a:xfrm>
          <a:prstGeom prst="rect">
            <a:avLst/>
          </a:prstGeom>
        </p:spPr>
        <p:txBody>
          <a:bodyPr vert="horz" wrap="square" lIns="0" tIns="12065" rIns="0" bIns="0" rtlCol="0">
            <a:spAutoFit/>
          </a:bodyPr>
          <a:lstStyle/>
          <a:p>
            <a:r>
              <a:rPr lang="en-US" dirty="0"/>
              <a:t>Product</a:t>
            </a:r>
          </a:p>
        </p:txBody>
      </p:sp>
      <p:sp>
        <p:nvSpPr>
          <p:cNvPr id="7" name="TextBox 6">
            <a:extLst>
              <a:ext uri="{FF2B5EF4-FFF2-40B4-BE49-F238E27FC236}">
                <a16:creationId xmlns:a16="http://schemas.microsoft.com/office/drawing/2014/main" id="{0804353E-746F-F087-B726-69A146DF88D8}"/>
              </a:ext>
            </a:extLst>
          </p:cNvPr>
          <p:cNvSpPr txBox="1"/>
          <p:nvPr/>
        </p:nvSpPr>
        <p:spPr>
          <a:xfrm>
            <a:off x="810569" y="2057400"/>
            <a:ext cx="7986141"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The product is the ultimate goal of the project.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is any types of software product that has to be developed or deliverable.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Before a product can be planned, its objectives and scope should be established, alternate solutions should also be considered &amp; technical &amp; management constraints should be identified.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Lack of these information, it is impossible to define reasonable and accurate estimation of the cost, identify possible risk &amp; define manageable project schedule.</a:t>
            </a:r>
          </a:p>
        </p:txBody>
      </p:sp>
    </p:spTree>
    <p:extLst>
      <p:ext uri="{BB962C8B-B14F-4D97-AF65-F5344CB8AC3E}">
        <p14:creationId xmlns:p14="http://schemas.microsoft.com/office/powerpoint/2010/main" val="374070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5E1CF-1BF9-71B9-2FFB-55A1141E05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D4C033B-F3F7-92C5-9BD7-3F6913AFD30A}"/>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96DF400C-63D7-F3A1-B7E1-F0923F738CE1}"/>
              </a:ext>
            </a:extLst>
          </p:cNvPr>
          <p:cNvSpPr txBox="1">
            <a:spLocks noGrp="1"/>
          </p:cNvSpPr>
          <p:nvPr>
            <p:ph type="title"/>
          </p:nvPr>
        </p:nvSpPr>
        <p:spPr>
          <a:xfrm>
            <a:off x="990600" y="990600"/>
            <a:ext cx="7535696" cy="504625"/>
          </a:xfrm>
          <a:prstGeom prst="rect">
            <a:avLst/>
          </a:prstGeom>
        </p:spPr>
        <p:txBody>
          <a:bodyPr vert="horz" wrap="square" lIns="0" tIns="12065" rIns="0" bIns="0" rtlCol="0">
            <a:spAutoFit/>
          </a:bodyPr>
          <a:lstStyle/>
          <a:p>
            <a:r>
              <a:rPr lang="en-US" dirty="0"/>
              <a:t>Process</a:t>
            </a:r>
          </a:p>
        </p:txBody>
      </p:sp>
      <p:sp>
        <p:nvSpPr>
          <p:cNvPr id="7" name="TextBox 6">
            <a:extLst>
              <a:ext uri="{FF2B5EF4-FFF2-40B4-BE49-F238E27FC236}">
                <a16:creationId xmlns:a16="http://schemas.microsoft.com/office/drawing/2014/main" id="{32777425-C4AD-5CD1-DF9A-F618E1902EFC}"/>
              </a:ext>
            </a:extLst>
          </p:cNvPr>
          <p:cNvSpPr txBox="1"/>
          <p:nvPr/>
        </p:nvSpPr>
        <p:spPr>
          <a:xfrm>
            <a:off x="810569" y="2057400"/>
            <a:ext cx="7986141" cy="3693319"/>
          </a:xfrm>
          <a:prstGeom prst="rect">
            <a:avLst/>
          </a:prstGeom>
          <a:noFill/>
        </p:spPr>
        <p:txBody>
          <a:bodyPr wrap="square" rtlCol="0">
            <a:spAutoFit/>
          </a:bodyPr>
          <a:lstStyle/>
          <a:p>
            <a:pPr marL="285750" lvl="0" indent="-285750">
              <a:buFont typeface="Wingdings" panose="05000000000000000000" pitchFamily="2" charset="2"/>
              <a:buChar char="§"/>
            </a:pPr>
            <a:r>
              <a:rPr lang="en-US" dirty="0"/>
              <a:t>Project managers and team members should have a methodology and plan that complete project as per customer requirements.</a:t>
            </a:r>
          </a:p>
          <a:p>
            <a:pPr marL="285750" lvl="0" indent="-285750">
              <a:buFont typeface="Wingdings" panose="05000000000000000000" pitchFamily="2" charset="2"/>
              <a:buChar char="§"/>
            </a:pPr>
            <a:endParaRPr lang="en-US" dirty="0"/>
          </a:p>
          <a:p>
            <a:pPr marL="285750" lvl="0" indent="-285750">
              <a:buFont typeface="Wingdings" panose="05000000000000000000" pitchFamily="2" charset="2"/>
              <a:buChar char="§"/>
            </a:pPr>
            <a:r>
              <a:rPr lang="en-US" dirty="0"/>
              <a:t>Without a clearly defined process, team members will not know what to do and when to carry out project activities.</a:t>
            </a:r>
          </a:p>
          <a:p>
            <a:pPr marL="285750" lvl="0" indent="-285750">
              <a:buFont typeface="Wingdings" panose="05000000000000000000" pitchFamily="2" charset="2"/>
              <a:buChar char="§"/>
            </a:pPr>
            <a:endParaRPr lang="en-US" dirty="0"/>
          </a:p>
          <a:p>
            <a:pPr marL="285750" lvl="0" indent="-285750">
              <a:buFont typeface="Wingdings" panose="05000000000000000000" pitchFamily="2" charset="2"/>
              <a:buChar char="§"/>
            </a:pPr>
            <a:r>
              <a:rPr lang="en-US" dirty="0"/>
              <a:t>Using the right process will increase the project execution success rate that meets its original goals and objectives.</a:t>
            </a:r>
          </a:p>
          <a:p>
            <a:pPr marL="285750" lvl="0" indent="-285750">
              <a:buFont typeface="Wingdings" panose="05000000000000000000" pitchFamily="2" charset="2"/>
              <a:buChar char="§"/>
            </a:pPr>
            <a:endParaRPr lang="en-US" dirty="0"/>
          </a:p>
          <a:p>
            <a:pPr marL="285750" lvl="0" indent="-285750">
              <a:buFont typeface="Wingdings" panose="05000000000000000000" pitchFamily="2" charset="2"/>
              <a:buChar char="§"/>
            </a:pPr>
            <a:r>
              <a:rPr lang="en-US" dirty="0"/>
              <a:t>The Process has several steps involved like, Documentation phase, Designing phase, Implementation phase, software configuration management, Deployment phase and Interaction phase.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5710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59A4-464F-5001-BA82-393A7C90D1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E3EEC2-A4C6-135C-D183-2AE9A80400A6}"/>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6BA8CD12-D035-FAB2-5C52-F7259F5C4E5D}"/>
              </a:ext>
            </a:extLst>
          </p:cNvPr>
          <p:cNvSpPr txBox="1">
            <a:spLocks noGrp="1"/>
          </p:cNvSpPr>
          <p:nvPr>
            <p:ph type="title"/>
          </p:nvPr>
        </p:nvSpPr>
        <p:spPr>
          <a:xfrm>
            <a:off x="990600" y="990600"/>
            <a:ext cx="7535696" cy="504625"/>
          </a:xfrm>
          <a:prstGeom prst="rect">
            <a:avLst/>
          </a:prstGeom>
        </p:spPr>
        <p:txBody>
          <a:bodyPr vert="horz" wrap="square" lIns="0" tIns="12065" rIns="0" bIns="0" rtlCol="0">
            <a:spAutoFit/>
          </a:bodyPr>
          <a:lstStyle/>
          <a:p>
            <a:r>
              <a:rPr lang="en-US" dirty="0"/>
              <a:t>Project</a:t>
            </a:r>
          </a:p>
        </p:txBody>
      </p:sp>
      <p:sp>
        <p:nvSpPr>
          <p:cNvPr id="7" name="TextBox 6">
            <a:extLst>
              <a:ext uri="{FF2B5EF4-FFF2-40B4-BE49-F238E27FC236}">
                <a16:creationId xmlns:a16="http://schemas.microsoft.com/office/drawing/2014/main" id="{194072A2-3464-55F2-EC5C-7F7A4A6880D2}"/>
              </a:ext>
            </a:extLst>
          </p:cNvPr>
          <p:cNvSpPr txBox="1"/>
          <p:nvPr/>
        </p:nvSpPr>
        <p:spPr>
          <a:xfrm>
            <a:off x="810569" y="2057400"/>
            <a:ext cx="7986141" cy="3693319"/>
          </a:xfrm>
          <a:prstGeom prst="rect">
            <a:avLst/>
          </a:prstGeom>
          <a:noFill/>
        </p:spPr>
        <p:txBody>
          <a:bodyPr wrap="square" rtlCol="0">
            <a:spAutoFit/>
          </a:bodyPr>
          <a:lstStyle/>
          <a:p>
            <a:r>
              <a:rPr lang="en-US" dirty="0"/>
              <a:t> </a:t>
            </a:r>
          </a:p>
          <a:p>
            <a:pPr marL="285750" indent="-285750">
              <a:buFont typeface="Arial" panose="020B0604020202020204" pitchFamily="34" charset="0"/>
              <a:buChar char="•"/>
            </a:pPr>
            <a:r>
              <a:rPr lang="en-US" dirty="0"/>
              <a:t>The project is the complete software project that includes requirement analysis, development, delivery, maintenance and updates.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project manager plays a critical role for completing project.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They are responsible to guide the team members to achieve the project’s target and objectives.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They helping &amp; assisting them with issues, checking on cost and budget and making sure that the project stays on track with the given deadlines.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They manage complete project activities to avoid project failure</a:t>
            </a:r>
          </a:p>
        </p:txBody>
      </p:sp>
    </p:spTree>
    <p:extLst>
      <p:ext uri="{BB962C8B-B14F-4D97-AF65-F5344CB8AC3E}">
        <p14:creationId xmlns:p14="http://schemas.microsoft.com/office/powerpoint/2010/main" val="153206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E5FFE-F830-76F8-0323-F1CAD04A125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0679886-3DB4-F16A-5144-D2BEB4FB66EB}"/>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FE6D362C-332E-0950-4C37-892172216C2F}"/>
              </a:ext>
            </a:extLst>
          </p:cNvPr>
          <p:cNvSpPr txBox="1">
            <a:spLocks noGrp="1"/>
          </p:cNvSpPr>
          <p:nvPr>
            <p:ph type="title"/>
          </p:nvPr>
        </p:nvSpPr>
        <p:spPr>
          <a:xfrm>
            <a:off x="990600" y="990600"/>
            <a:ext cx="7535696" cy="504625"/>
          </a:xfrm>
          <a:prstGeom prst="rect">
            <a:avLst/>
          </a:prstGeom>
        </p:spPr>
        <p:txBody>
          <a:bodyPr vert="horz" wrap="square" lIns="0" tIns="12065" rIns="0" bIns="0" rtlCol="0">
            <a:spAutoFit/>
          </a:bodyPr>
          <a:lstStyle/>
          <a:p>
            <a:r>
              <a:rPr lang="en-US" dirty="0"/>
              <a:t>About W5HH Principle</a:t>
            </a:r>
          </a:p>
        </p:txBody>
      </p:sp>
      <p:sp>
        <p:nvSpPr>
          <p:cNvPr id="7" name="TextBox 6">
            <a:extLst>
              <a:ext uri="{FF2B5EF4-FFF2-40B4-BE49-F238E27FC236}">
                <a16:creationId xmlns:a16="http://schemas.microsoft.com/office/drawing/2014/main" id="{458FE46C-1DEC-57A3-12DC-5D495E675AF2}"/>
              </a:ext>
            </a:extLst>
          </p:cNvPr>
          <p:cNvSpPr txBox="1"/>
          <p:nvPr/>
        </p:nvSpPr>
        <p:spPr>
          <a:xfrm>
            <a:off x="792480" y="2286000"/>
            <a:ext cx="7986141" cy="2308324"/>
          </a:xfrm>
          <a:prstGeom prst="rect">
            <a:avLst/>
          </a:prstGeom>
          <a:noFill/>
        </p:spPr>
        <p:txBody>
          <a:bodyPr wrap="square" rtlCol="0">
            <a:spAutoFit/>
          </a:bodyPr>
          <a:lstStyle/>
          <a:p>
            <a:pPr marL="285750" indent="-285750">
              <a:buFont typeface="Wingdings" panose="05000000000000000000" pitchFamily="2" charset="2"/>
              <a:buChar char="q"/>
            </a:pPr>
            <a:r>
              <a:rPr lang="en-US" dirty="0"/>
              <a:t>Barry Boehm provided philosophy that prepares easy and manageable designs for software projects.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The W5HH questions help project managers to guide objectives, timelines, responsibilities, management styles, technical approaches and resources in project.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These method used for efficient software project management &amp; development</a:t>
            </a:r>
          </a:p>
        </p:txBody>
      </p:sp>
    </p:spTree>
    <p:extLst>
      <p:ext uri="{BB962C8B-B14F-4D97-AF65-F5344CB8AC3E}">
        <p14:creationId xmlns:p14="http://schemas.microsoft.com/office/powerpoint/2010/main" val="2843483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8AFAB-BA17-35A5-C675-752E0E66F5F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1DD522-2D10-1551-DB66-77E6D0FF5851}"/>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6F6CC2BF-7923-AF73-BC64-7B0D2BF3F9A2}"/>
              </a:ext>
            </a:extLst>
          </p:cNvPr>
          <p:cNvSpPr txBox="1">
            <a:spLocks noGrp="1"/>
          </p:cNvSpPr>
          <p:nvPr>
            <p:ph type="title"/>
          </p:nvPr>
        </p:nvSpPr>
        <p:spPr>
          <a:xfrm>
            <a:off x="990600" y="990600"/>
            <a:ext cx="7535696" cy="504625"/>
          </a:xfrm>
          <a:prstGeom prst="rect">
            <a:avLst/>
          </a:prstGeom>
        </p:spPr>
        <p:txBody>
          <a:bodyPr vert="horz" wrap="square" lIns="0" tIns="12065" rIns="0" bIns="0" rtlCol="0">
            <a:spAutoFit/>
          </a:bodyPr>
          <a:lstStyle/>
          <a:p>
            <a:r>
              <a:rPr lang="en-US" dirty="0"/>
              <a:t>About W5HH Principle</a:t>
            </a:r>
          </a:p>
        </p:txBody>
      </p:sp>
      <p:sp>
        <p:nvSpPr>
          <p:cNvPr id="7" name="TextBox 6">
            <a:extLst>
              <a:ext uri="{FF2B5EF4-FFF2-40B4-BE49-F238E27FC236}">
                <a16:creationId xmlns:a16="http://schemas.microsoft.com/office/drawing/2014/main" id="{FF4D09A5-8D6E-C358-CA6D-3C5BEB5E352C}"/>
              </a:ext>
            </a:extLst>
          </p:cNvPr>
          <p:cNvSpPr txBox="1"/>
          <p:nvPr/>
        </p:nvSpPr>
        <p:spPr>
          <a:xfrm>
            <a:off x="726757" y="1981200"/>
            <a:ext cx="7986141" cy="4801314"/>
          </a:xfrm>
          <a:prstGeom prst="rect">
            <a:avLst/>
          </a:prstGeom>
          <a:noFill/>
        </p:spPr>
        <p:txBody>
          <a:bodyPr wrap="square" rtlCol="0">
            <a:spAutoFit/>
          </a:bodyPr>
          <a:lstStyle/>
          <a:p>
            <a:pPr marL="285750" indent="-285750">
              <a:buFont typeface="Wingdings" panose="05000000000000000000" pitchFamily="2" charset="2"/>
              <a:buChar char="q"/>
            </a:pPr>
            <a:r>
              <a:rPr lang="en-US" dirty="0"/>
              <a:t>Barry Boehm provided philosophy that prepares easy and manageable designs for software projects.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The W5HH questions help project managers to guide objectives, timelines, responsibilities, management styles, technical approaches and resources in project.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These method used for efficient software project management &amp; development.</a:t>
            </a:r>
          </a:p>
          <a:p>
            <a:endParaRPr lang="en-US" dirty="0"/>
          </a:p>
          <a:p>
            <a:r>
              <a:rPr lang="en-US" b="1" dirty="0"/>
              <a:t>W5HH Questions:</a:t>
            </a:r>
          </a:p>
          <a:p>
            <a:pPr marL="3943350" lvl="8" indent="-285750">
              <a:buFont typeface="Wingdings" panose="05000000000000000000" pitchFamily="2" charset="2"/>
              <a:buChar char="q"/>
            </a:pPr>
            <a:r>
              <a:rPr lang="en-US" dirty="0"/>
              <a:t>Why? </a:t>
            </a:r>
          </a:p>
          <a:p>
            <a:pPr marL="3943350" lvl="8" indent="-285750">
              <a:buFont typeface="Wingdings" panose="05000000000000000000" pitchFamily="2" charset="2"/>
              <a:buChar char="q"/>
            </a:pPr>
            <a:r>
              <a:rPr lang="en-US" dirty="0"/>
              <a:t>What? </a:t>
            </a:r>
          </a:p>
          <a:p>
            <a:pPr marL="3943350" lvl="8" indent="-285750">
              <a:buFont typeface="Wingdings" panose="05000000000000000000" pitchFamily="2" charset="2"/>
              <a:buChar char="q"/>
            </a:pPr>
            <a:r>
              <a:rPr lang="en-US" dirty="0"/>
              <a:t>When? </a:t>
            </a:r>
          </a:p>
          <a:p>
            <a:pPr marL="3943350" lvl="8" indent="-285750">
              <a:buFont typeface="Wingdings" panose="05000000000000000000" pitchFamily="2" charset="2"/>
              <a:buChar char="q"/>
            </a:pPr>
            <a:r>
              <a:rPr lang="en-US" dirty="0"/>
              <a:t>Who? </a:t>
            </a:r>
          </a:p>
          <a:p>
            <a:pPr marL="3943350" lvl="8" indent="-285750">
              <a:buFont typeface="Wingdings" panose="05000000000000000000" pitchFamily="2" charset="2"/>
              <a:buChar char="q"/>
            </a:pPr>
            <a:r>
              <a:rPr lang="en-US" dirty="0"/>
              <a:t>Where? </a:t>
            </a:r>
          </a:p>
          <a:p>
            <a:pPr marL="3943350" lvl="8" indent="-285750">
              <a:buFont typeface="Wingdings" panose="05000000000000000000" pitchFamily="2" charset="2"/>
              <a:buChar char="q"/>
            </a:pPr>
            <a:r>
              <a:rPr lang="en-US" dirty="0"/>
              <a:t>How? </a:t>
            </a:r>
          </a:p>
          <a:p>
            <a:pPr marL="3943350" lvl="8" indent="-285750">
              <a:buFont typeface="Wingdings" panose="05000000000000000000" pitchFamily="2" charset="2"/>
              <a:buChar char="q"/>
            </a:pPr>
            <a:r>
              <a:rPr lang="en-US" dirty="0"/>
              <a:t>How Much?</a:t>
            </a:r>
          </a:p>
        </p:txBody>
      </p:sp>
    </p:spTree>
    <p:extLst>
      <p:ext uri="{BB962C8B-B14F-4D97-AF65-F5344CB8AC3E}">
        <p14:creationId xmlns:p14="http://schemas.microsoft.com/office/powerpoint/2010/main" val="1096625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F504A-4291-3FA8-C7E6-A6ADFF15D6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451231D-210B-8CCA-AEF4-D1685CC49DB2}"/>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55260C6A-A15C-06C7-DEF3-CF2318238C05}"/>
              </a:ext>
            </a:extLst>
          </p:cNvPr>
          <p:cNvSpPr txBox="1">
            <a:spLocks noGrp="1"/>
          </p:cNvSpPr>
          <p:nvPr>
            <p:ph type="title"/>
          </p:nvPr>
        </p:nvSpPr>
        <p:spPr>
          <a:xfrm>
            <a:off x="990600" y="990600"/>
            <a:ext cx="7535696" cy="504625"/>
          </a:xfrm>
          <a:prstGeom prst="rect">
            <a:avLst/>
          </a:prstGeom>
        </p:spPr>
        <p:txBody>
          <a:bodyPr vert="horz" wrap="square" lIns="0" tIns="12065" rIns="0" bIns="0" rtlCol="0">
            <a:spAutoFit/>
          </a:bodyPr>
          <a:lstStyle/>
          <a:p>
            <a:r>
              <a:rPr lang="en-US" dirty="0"/>
              <a:t>About W5HH Principle</a:t>
            </a:r>
          </a:p>
        </p:txBody>
      </p:sp>
      <p:sp>
        <p:nvSpPr>
          <p:cNvPr id="7" name="TextBox 6">
            <a:extLst>
              <a:ext uri="{FF2B5EF4-FFF2-40B4-BE49-F238E27FC236}">
                <a16:creationId xmlns:a16="http://schemas.microsoft.com/office/drawing/2014/main" id="{F8928E98-258B-77F1-E0BD-B51AF0D8982D}"/>
              </a:ext>
            </a:extLst>
          </p:cNvPr>
          <p:cNvSpPr txBox="1"/>
          <p:nvPr/>
        </p:nvSpPr>
        <p:spPr>
          <a:xfrm>
            <a:off x="726757" y="1981200"/>
            <a:ext cx="7986141" cy="4524315"/>
          </a:xfrm>
          <a:prstGeom prst="rect">
            <a:avLst/>
          </a:prstGeom>
          <a:noFill/>
        </p:spPr>
        <p:txBody>
          <a:bodyPr wrap="square" rtlCol="0">
            <a:spAutoFit/>
          </a:bodyPr>
          <a:lstStyle/>
          <a:p>
            <a:r>
              <a:rPr lang="en-US" b="1" dirty="0"/>
              <a:t>Why the system is going to be developed?</a:t>
            </a:r>
            <a:endParaRPr lang="en-US" dirty="0"/>
          </a:p>
          <a:p>
            <a:pPr marL="285750" lvl="0" indent="-285750">
              <a:buFont typeface="Arial" panose="020B0604020202020204" pitchFamily="34" charset="0"/>
              <a:buChar char="•"/>
            </a:pPr>
            <a:r>
              <a:rPr lang="en-US" dirty="0"/>
              <a:t>This focus on the business reasons &amp; problem statements for developing the software.</a:t>
            </a:r>
          </a:p>
          <a:p>
            <a:pPr marL="285750" lvl="0" indent="-285750">
              <a:buFont typeface="Arial" panose="020B0604020202020204" pitchFamily="34" charset="0"/>
              <a:buChar char="•"/>
            </a:pPr>
            <a:r>
              <a:rPr lang="en-US" dirty="0"/>
              <a:t>Identify whether the project’s purpose will justify the cost, time spent on it by people? </a:t>
            </a:r>
          </a:p>
          <a:p>
            <a:pPr lvl="0"/>
            <a:endParaRPr lang="en-US" dirty="0"/>
          </a:p>
          <a:p>
            <a:r>
              <a:rPr lang="en-US" dirty="0"/>
              <a:t> </a:t>
            </a:r>
            <a:r>
              <a:rPr lang="en-US" b="1" dirty="0"/>
              <a:t>What is activities are needed to be done in this?</a:t>
            </a:r>
            <a:endParaRPr lang="en-US" dirty="0"/>
          </a:p>
          <a:p>
            <a:pPr marL="285750" lvl="0" indent="-285750">
              <a:buFont typeface="Arial" panose="020B0604020202020204" pitchFamily="34" charset="0"/>
              <a:buChar char="•"/>
            </a:pPr>
            <a:r>
              <a:rPr lang="en-US" dirty="0"/>
              <a:t>It help team to establish project schedule by identifying key project tasks that are required by the customer.</a:t>
            </a:r>
          </a:p>
          <a:p>
            <a:pPr marL="285750" lvl="0" indent="-285750">
              <a:buFont typeface="Arial" panose="020B0604020202020204" pitchFamily="34" charset="0"/>
              <a:buChar char="•"/>
            </a:pPr>
            <a:r>
              <a:rPr lang="en-US" dirty="0"/>
              <a:t>It mentioned guidelines &amp; principle for determining tasks that need to be complete.</a:t>
            </a:r>
          </a:p>
          <a:p>
            <a:pPr lvl="0"/>
            <a:endParaRPr lang="en-US" dirty="0"/>
          </a:p>
          <a:p>
            <a:r>
              <a:rPr lang="en-US" b="1" dirty="0"/>
              <a:t>When will it be completed?</a:t>
            </a:r>
            <a:endParaRPr lang="en-US" dirty="0"/>
          </a:p>
          <a:p>
            <a:pPr lvl="0"/>
            <a:r>
              <a:rPr lang="en-US" dirty="0"/>
              <a:t>When project tasks will be started and when they enter into the final stage to reach the goal.</a:t>
            </a:r>
          </a:p>
          <a:p>
            <a:endParaRPr lang="en-US" dirty="0"/>
          </a:p>
        </p:txBody>
      </p:sp>
    </p:spTree>
    <p:extLst>
      <p:ext uri="{BB962C8B-B14F-4D97-AF65-F5344CB8AC3E}">
        <p14:creationId xmlns:p14="http://schemas.microsoft.com/office/powerpoint/2010/main" val="4221847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07352-0E3D-9EB2-0E34-FE9C52DEF1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54D4561-EF70-6369-B153-D23E1DD46759}"/>
              </a:ext>
            </a:extLst>
          </p:cNvPr>
          <p:cNvSpPr txBox="1"/>
          <p:nvPr/>
        </p:nvSpPr>
        <p:spPr>
          <a:xfrm>
            <a:off x="8677656" y="6517633"/>
            <a:ext cx="70485" cy="141605"/>
          </a:xfrm>
          <a:prstGeom prst="rect">
            <a:avLst/>
          </a:prstGeom>
        </p:spPr>
        <p:txBody>
          <a:bodyPr vert="horz" wrap="square" lIns="0" tIns="0" rIns="0" bIns="0" rtlCol="0">
            <a:spAutoFit/>
          </a:bodyPr>
          <a:lstStyle/>
          <a:p>
            <a:pPr>
              <a:lnSpc>
                <a:spcPts val="1100"/>
              </a:lnSpc>
            </a:pPr>
            <a:r>
              <a:rPr sz="1000" spc="-5" dirty="0">
                <a:latin typeface="Arial MT"/>
                <a:cs typeface="Arial MT"/>
              </a:rPr>
              <a:t>1</a:t>
            </a:r>
            <a:endParaRPr sz="1000">
              <a:latin typeface="Arial MT"/>
              <a:cs typeface="Arial MT"/>
            </a:endParaRPr>
          </a:p>
        </p:txBody>
      </p:sp>
      <p:sp>
        <p:nvSpPr>
          <p:cNvPr id="6" name="object 6">
            <a:extLst>
              <a:ext uri="{FF2B5EF4-FFF2-40B4-BE49-F238E27FC236}">
                <a16:creationId xmlns:a16="http://schemas.microsoft.com/office/drawing/2014/main" id="{C97FC525-30F2-3D64-13D0-A041904094AF}"/>
              </a:ext>
            </a:extLst>
          </p:cNvPr>
          <p:cNvSpPr txBox="1">
            <a:spLocks noGrp="1"/>
          </p:cNvSpPr>
          <p:nvPr>
            <p:ph type="title"/>
          </p:nvPr>
        </p:nvSpPr>
        <p:spPr>
          <a:xfrm>
            <a:off x="990600" y="990600"/>
            <a:ext cx="7535696" cy="504625"/>
          </a:xfrm>
          <a:prstGeom prst="rect">
            <a:avLst/>
          </a:prstGeom>
        </p:spPr>
        <p:txBody>
          <a:bodyPr vert="horz" wrap="square" lIns="0" tIns="12065" rIns="0" bIns="0" rtlCol="0">
            <a:spAutoFit/>
          </a:bodyPr>
          <a:lstStyle/>
          <a:p>
            <a:r>
              <a:rPr lang="en-US" dirty="0"/>
              <a:t>About W5HH Principle</a:t>
            </a:r>
          </a:p>
        </p:txBody>
      </p:sp>
      <p:sp>
        <p:nvSpPr>
          <p:cNvPr id="7" name="TextBox 6">
            <a:extLst>
              <a:ext uri="{FF2B5EF4-FFF2-40B4-BE49-F238E27FC236}">
                <a16:creationId xmlns:a16="http://schemas.microsoft.com/office/drawing/2014/main" id="{F471FF4D-FB13-94BE-BEC9-B75C92B4B8E8}"/>
              </a:ext>
            </a:extLst>
          </p:cNvPr>
          <p:cNvSpPr txBox="1"/>
          <p:nvPr/>
        </p:nvSpPr>
        <p:spPr>
          <a:xfrm>
            <a:off x="726757" y="1981200"/>
            <a:ext cx="7986141" cy="4247317"/>
          </a:xfrm>
          <a:prstGeom prst="rect">
            <a:avLst/>
          </a:prstGeom>
          <a:noFill/>
        </p:spPr>
        <p:txBody>
          <a:bodyPr wrap="square" rtlCol="0">
            <a:spAutoFit/>
          </a:bodyPr>
          <a:lstStyle/>
          <a:p>
            <a:r>
              <a:rPr lang="en-US" dirty="0"/>
              <a:t> </a:t>
            </a:r>
            <a:r>
              <a:rPr lang="en-US" b="1" dirty="0"/>
              <a:t>Who is responsible for each activities?</a:t>
            </a:r>
            <a:endParaRPr lang="en-US" dirty="0"/>
          </a:p>
          <a:p>
            <a:pPr lvl="0"/>
            <a:r>
              <a:rPr lang="en-US" dirty="0"/>
              <a:t>The role and responsibility of each member of the software team are defined.</a:t>
            </a:r>
          </a:p>
          <a:p>
            <a:pPr lvl="0"/>
            <a:endParaRPr lang="en-US" dirty="0"/>
          </a:p>
          <a:p>
            <a:r>
              <a:rPr lang="en-US" dirty="0"/>
              <a:t> </a:t>
            </a:r>
            <a:r>
              <a:rPr lang="en-US" b="1" dirty="0"/>
              <a:t>Where are they organizationally located?</a:t>
            </a:r>
            <a:endParaRPr lang="en-US" dirty="0"/>
          </a:p>
          <a:p>
            <a:pPr marL="285750" lvl="0" indent="-285750">
              <a:buFont typeface="Arial" panose="020B0604020202020204" pitchFamily="34" charset="0"/>
              <a:buChar char="•"/>
            </a:pPr>
            <a:r>
              <a:rPr lang="en-US" dirty="0"/>
              <a:t>Not all roles and responsibilities reside within the software team itself.</a:t>
            </a:r>
          </a:p>
          <a:p>
            <a:pPr marL="285750" lvl="0" indent="-285750">
              <a:buFont typeface="Arial" panose="020B0604020202020204" pitchFamily="34" charset="0"/>
              <a:buChar char="•"/>
            </a:pPr>
            <a:r>
              <a:rPr lang="en-US" dirty="0"/>
              <a:t>The customer, users and other stakeholders also have responsibilities.</a:t>
            </a:r>
          </a:p>
          <a:p>
            <a:pPr lvl="0"/>
            <a:endParaRPr lang="en-US" dirty="0"/>
          </a:p>
          <a:p>
            <a:r>
              <a:rPr lang="en-US" b="1" dirty="0"/>
              <a:t>How will the job be done technically and managerially?</a:t>
            </a:r>
            <a:endParaRPr lang="en-US" dirty="0"/>
          </a:p>
          <a:p>
            <a:pPr lvl="0"/>
            <a:r>
              <a:rPr lang="en-US" dirty="0"/>
              <a:t>Once the product scope is established, management and technical strategy for the project must be defined.</a:t>
            </a:r>
          </a:p>
          <a:p>
            <a:pPr lvl="0"/>
            <a:endParaRPr lang="en-US" dirty="0"/>
          </a:p>
          <a:p>
            <a:r>
              <a:rPr lang="en-US" dirty="0"/>
              <a:t> </a:t>
            </a:r>
            <a:r>
              <a:rPr lang="en-US" b="1" dirty="0"/>
              <a:t>How much of each resource is needed?</a:t>
            </a:r>
            <a:endParaRPr lang="en-US" dirty="0"/>
          </a:p>
          <a:p>
            <a:pPr lvl="0"/>
            <a:r>
              <a:rPr lang="en-US" dirty="0"/>
              <a:t>It figure out how much resources necessary to complete the project as per customer requirement &amp; budget of the project.</a:t>
            </a:r>
          </a:p>
          <a:p>
            <a:endParaRPr lang="en-US" dirty="0"/>
          </a:p>
        </p:txBody>
      </p:sp>
    </p:spTree>
    <p:extLst>
      <p:ext uri="{BB962C8B-B14F-4D97-AF65-F5344CB8AC3E}">
        <p14:creationId xmlns:p14="http://schemas.microsoft.com/office/powerpoint/2010/main" val="685457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3669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453</TotalTime>
  <Words>1660</Words>
  <Application>Microsoft Office PowerPoint</Application>
  <PresentationFormat>On-screen Show (4:3)</PresentationFormat>
  <Paragraphs>201</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Arial MT</vt:lpstr>
      <vt:lpstr>Calibri</vt:lpstr>
      <vt:lpstr>Courier New</vt:lpstr>
      <vt:lpstr>Times New Roman</vt:lpstr>
      <vt:lpstr>Wingdings</vt:lpstr>
      <vt:lpstr>Office Theme</vt:lpstr>
      <vt:lpstr> Project Scheduling</vt:lpstr>
      <vt:lpstr>About Project Scheduling </vt:lpstr>
      <vt:lpstr>Project Scheduling Process </vt:lpstr>
      <vt:lpstr>Project Scheduling Process </vt:lpstr>
      <vt:lpstr>Basic Principles of Project Scheduling </vt:lpstr>
      <vt:lpstr>Project Scheduling Techniques </vt:lpstr>
      <vt:lpstr>Project Scheduling Techniques (Continued) </vt:lpstr>
      <vt:lpstr>Project Scheduling Techniques (Continued) </vt:lpstr>
      <vt:lpstr>Project Scheduling Techniques (Continued) </vt:lpstr>
      <vt:lpstr>Project Scheduling Techniques (Continued) </vt:lpstr>
      <vt:lpstr>Project Scheduling Techniques (Continued) </vt:lpstr>
      <vt:lpstr>Project Management Spectrum</vt:lpstr>
      <vt:lpstr>The Management Spectrum</vt:lpstr>
      <vt:lpstr>PowerPoint Presentation</vt:lpstr>
      <vt:lpstr>People</vt:lpstr>
      <vt:lpstr>Product</vt:lpstr>
      <vt:lpstr>Process</vt:lpstr>
      <vt:lpstr>Project</vt:lpstr>
      <vt:lpstr>About W5HH Principle</vt:lpstr>
      <vt:lpstr>About W5HH Principle</vt:lpstr>
      <vt:lpstr>About W5HH Principle</vt:lpstr>
      <vt:lpstr>About W5HH Principle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Set to accompany Web Engineering: A Practitioner Approach</dc:title>
  <dc:creator>Roger Pressman</dc:creator>
  <cp:lastModifiedBy>Muhammad Muhtasim</cp:lastModifiedBy>
  <cp:revision>19</cp:revision>
  <dcterms:created xsi:type="dcterms:W3CDTF">2024-01-10T11:24:42Z</dcterms:created>
  <dcterms:modified xsi:type="dcterms:W3CDTF">2026-03-03T08:53:26Z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2020-07-20T00:00:00Z</vt:filetime>
  </property>
  <property fmtid="{D5CDD505-2E9C-101B-9397-08002B2CF9AE}" pid="3" name="Creator">
    <vt:lpwstr>Microsoft® PowerPoint® 2013</vt:lpwstr>
  </property>
  <property fmtid="{D5CDD505-2E9C-101B-9397-08002B2CF9AE}" pid="4" name="LastSaved">
    <vt:filetime>2024-01-10T00:00:00Z</vt:filetime>
  </property>
  <property fmtid="{D5CDD505-2E9C-101B-9397-08002B2CF9AE}" pid="5" name="MSIP_Label_defa4170-0d19-0005-0004-bc88714345d2_Enabled">
    <vt:lpwstr>true</vt:lpwstr>
  </property>
  <property fmtid="{D5CDD505-2E9C-101B-9397-08002B2CF9AE}" pid="6" name="MSIP_Label_defa4170-0d19-0005-0004-bc88714345d2_SetDate">
    <vt:lpwstr>2024-01-10T11:25:39Z</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iteId">
    <vt:lpwstr>62a14c85-6502-4d92-8cf6-05c3ba33adfe</vt:lpwstr>
  </property>
  <property fmtid="{D5CDD505-2E9C-101B-9397-08002B2CF9AE}" pid="10" name="MSIP_Label_defa4170-0d19-0005-0004-bc88714345d2_ActionId">
    <vt:lpwstr>c0d6c09e-7602-446e-9f8f-00260b449c1d</vt:lpwstr>
  </property>
  <property fmtid="{D5CDD505-2E9C-101B-9397-08002B2CF9AE}" pid="11" name="MSIP_Label_defa4170-0d19-0005-0004-bc88714345d2_ContentBits">
    <vt:lpwstr>0</vt:lpwstr>
  </property>
</Properties>
</file>