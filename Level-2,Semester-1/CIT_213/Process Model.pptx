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98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731" y="2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32630" y="378714"/>
            <a:ext cx="261365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6FC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E2B1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6FC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E2B1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6FC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6FC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58200" y="0"/>
            <a:ext cx="685800" cy="6858000"/>
          </a:xfrm>
          <a:custGeom>
            <a:avLst/>
            <a:gdLst/>
            <a:ahLst/>
            <a:cxnLst/>
            <a:rect l="l" t="t" r="r" b="b"/>
            <a:pathLst>
              <a:path w="685800" h="6858000">
                <a:moveTo>
                  <a:pt x="685800" y="6172200"/>
                </a:moveTo>
                <a:lnTo>
                  <a:pt x="0" y="6172200"/>
                </a:lnTo>
                <a:lnTo>
                  <a:pt x="0" y="6858000"/>
                </a:lnTo>
                <a:lnTo>
                  <a:pt x="685800" y="6858000"/>
                </a:lnTo>
                <a:lnTo>
                  <a:pt x="685800" y="6172200"/>
                </a:lnTo>
                <a:close/>
              </a:path>
              <a:path w="685800" h="6858000">
                <a:moveTo>
                  <a:pt x="685800" y="0"/>
                </a:moveTo>
                <a:lnTo>
                  <a:pt x="0" y="0"/>
                </a:lnTo>
                <a:lnTo>
                  <a:pt x="0" y="5486400"/>
                </a:lnTo>
                <a:lnTo>
                  <a:pt x="685800" y="5486400"/>
                </a:lnTo>
                <a:lnTo>
                  <a:pt x="685800" y="0"/>
                </a:lnTo>
                <a:close/>
              </a:path>
            </a:pathLst>
          </a:custGeom>
          <a:solidFill>
            <a:srgbClr val="675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458200" y="54864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800" y="0"/>
                </a:moveTo>
                <a:lnTo>
                  <a:pt x="0" y="0"/>
                </a:lnTo>
                <a:lnTo>
                  <a:pt x="0" y="685800"/>
                </a:lnTo>
                <a:lnTo>
                  <a:pt x="685800" y="685800"/>
                </a:lnTo>
                <a:lnTo>
                  <a:pt x="685800" y="0"/>
                </a:lnTo>
                <a:close/>
              </a:path>
            </a:pathLst>
          </a:custGeom>
          <a:solidFill>
            <a:srgbClr val="A9A4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79650" y="103708"/>
            <a:ext cx="6123940" cy="1123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6FC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5440" y="1394205"/>
            <a:ext cx="7959090" cy="432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E2B1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53271" y="5740247"/>
            <a:ext cx="321309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.jp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1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0557" y="2817698"/>
            <a:ext cx="40557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4400" spc="-100" dirty="0">
                <a:solidFill>
                  <a:srgbClr val="001F5F"/>
                </a:solidFill>
                <a:latin typeface="Times New Roman"/>
                <a:cs typeface="Times New Roman"/>
              </a:rPr>
              <a:t>Process</a:t>
            </a:r>
            <a:r>
              <a:rPr sz="4400" spc="-2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4400" spc="-65" dirty="0">
                <a:solidFill>
                  <a:srgbClr val="001F5F"/>
                </a:solidFill>
                <a:latin typeface="Times New Roman"/>
                <a:cs typeface="Times New Roman"/>
              </a:rPr>
              <a:t>Models</a:t>
            </a:r>
            <a:endParaRPr sz="4400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609600"/>
            <a:ext cx="2667000" cy="2124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3258" rIns="0" bIns="0" rtlCol="0">
            <a:spAutoFit/>
          </a:bodyPr>
          <a:lstStyle/>
          <a:p>
            <a:pPr marL="1506855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675E46"/>
                </a:solidFill>
              </a:rPr>
              <a:t>Topics</a:t>
            </a:r>
            <a:r>
              <a:rPr spc="-190" dirty="0">
                <a:solidFill>
                  <a:srgbClr val="675E46"/>
                </a:solidFill>
              </a:rPr>
              <a:t> </a:t>
            </a:r>
            <a:r>
              <a:rPr spc="-114" dirty="0">
                <a:solidFill>
                  <a:srgbClr val="675E46"/>
                </a:solidFill>
              </a:rPr>
              <a:t>Covered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509166"/>
            <a:ext cx="5078095" cy="386651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1780"/>
              </a:spcBef>
              <a:buClr>
                <a:srgbClr val="A9A47B"/>
              </a:buClr>
              <a:buSzPct val="96428"/>
              <a:buFont typeface="Wingdings"/>
              <a:buChar char=""/>
              <a:tabLst>
                <a:tab pos="329565" algn="l"/>
              </a:tabLst>
            </a:pP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800" b="1" spc="-1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endParaRPr sz="2800">
              <a:latin typeface="Times New Roman"/>
              <a:cs typeface="Times New Roman"/>
            </a:endParaRPr>
          </a:p>
          <a:p>
            <a:pPr marL="329565" indent="-317500">
              <a:lnSpc>
                <a:spcPct val="100000"/>
              </a:lnSpc>
              <a:spcBef>
                <a:spcPts val="1680"/>
              </a:spcBef>
              <a:buClr>
                <a:srgbClr val="A9A47B"/>
              </a:buClr>
              <a:buSzPct val="96428"/>
              <a:buFont typeface="Wingdings"/>
              <a:buChar char=""/>
              <a:tabLst>
                <a:tab pos="329565" algn="l"/>
              </a:tabLst>
            </a:pP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800" b="1" spc="-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endParaRPr sz="2800">
              <a:latin typeface="Times New Roman"/>
              <a:cs typeface="Times New Roman"/>
            </a:endParaRPr>
          </a:p>
          <a:p>
            <a:pPr marL="329565" indent="-317500">
              <a:lnSpc>
                <a:spcPct val="100000"/>
              </a:lnSpc>
              <a:spcBef>
                <a:spcPts val="1680"/>
              </a:spcBef>
              <a:buClr>
                <a:srgbClr val="A9A47B"/>
              </a:buClr>
              <a:buSzPct val="96428"/>
              <a:buFont typeface="Wingdings"/>
              <a:buChar char=""/>
              <a:tabLst>
                <a:tab pos="329565" algn="l"/>
              </a:tabLst>
            </a:pPr>
            <a:r>
              <a:rPr sz="2800" b="1" spc="-3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800" b="1" spc="-1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generic</a:t>
            </a:r>
            <a:r>
              <a:rPr sz="2800" b="1" spc="-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 Model</a:t>
            </a:r>
            <a:endParaRPr sz="2800">
              <a:latin typeface="Times New Roman"/>
              <a:cs typeface="Times New Roman"/>
            </a:endParaRPr>
          </a:p>
          <a:p>
            <a:pPr marL="329565" indent="-317500">
              <a:lnSpc>
                <a:spcPct val="100000"/>
              </a:lnSpc>
              <a:spcBef>
                <a:spcPts val="1680"/>
              </a:spcBef>
              <a:buClr>
                <a:srgbClr val="A9A47B"/>
              </a:buClr>
              <a:buSzPct val="96428"/>
              <a:buFont typeface="Wingdings"/>
              <a:buChar char=""/>
              <a:tabLst>
                <a:tab pos="329565" algn="l"/>
              </a:tabLst>
            </a:pP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800" b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2E2B1F"/>
                </a:solidFill>
                <a:latin typeface="Times New Roman"/>
                <a:cs typeface="Times New Roman"/>
              </a:rPr>
              <a:t>Framework</a:t>
            </a:r>
            <a:r>
              <a:rPr sz="2800" b="1" spc="-1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Activities</a:t>
            </a:r>
            <a:endParaRPr sz="2800">
              <a:latin typeface="Times New Roman"/>
              <a:cs typeface="Times New Roman"/>
            </a:endParaRPr>
          </a:p>
          <a:p>
            <a:pPr marL="328930" indent="-317500">
              <a:lnSpc>
                <a:spcPct val="100000"/>
              </a:lnSpc>
              <a:spcBef>
                <a:spcPts val="1680"/>
              </a:spcBef>
              <a:buClr>
                <a:srgbClr val="A9A47B"/>
              </a:buClr>
              <a:buSzPct val="96428"/>
              <a:buFont typeface="Wingdings"/>
              <a:buChar char=""/>
              <a:tabLst>
                <a:tab pos="328930" algn="l"/>
              </a:tabLst>
            </a:pP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800" b="1" spc="-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800" b="1" spc="-10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endParaRPr sz="2800">
              <a:latin typeface="Times New Roman"/>
              <a:cs typeface="Times New Roman"/>
            </a:endParaRPr>
          </a:p>
          <a:p>
            <a:pPr marL="329565" indent="-317500">
              <a:lnSpc>
                <a:spcPct val="100000"/>
              </a:lnSpc>
              <a:spcBef>
                <a:spcPts val="1685"/>
              </a:spcBef>
              <a:buClr>
                <a:srgbClr val="A9A47B"/>
              </a:buClr>
              <a:buSzPct val="96428"/>
              <a:buFont typeface="Wingdings"/>
              <a:buChar char=""/>
              <a:tabLst>
                <a:tab pos="329565" algn="l"/>
              </a:tabLst>
            </a:pP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Selection</a:t>
            </a:r>
            <a:r>
              <a:rPr sz="2800" b="1" spc="-7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800" b="1" spc="-7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800" b="1" spc="-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36583" y="568309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43904" y="1132332"/>
            <a:ext cx="5957570" cy="165100"/>
            <a:chOff x="2343904" y="1132332"/>
            <a:chExt cx="5957570" cy="1651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3904" y="1132332"/>
              <a:ext cx="5957357" cy="16459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62199" y="1214628"/>
              <a:ext cx="5867400" cy="0"/>
            </a:xfrm>
            <a:custGeom>
              <a:avLst/>
              <a:gdLst/>
              <a:ahLst/>
              <a:cxnLst/>
              <a:rect l="l" t="t" r="r" b="b"/>
              <a:pathLst>
                <a:path w="5867400">
                  <a:moveTo>
                    <a:pt x="0" y="0"/>
                  </a:moveTo>
                  <a:lnTo>
                    <a:pt x="58674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3258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pc="-105" dirty="0">
                <a:solidFill>
                  <a:srgbClr val="675E46"/>
                </a:solidFill>
              </a:rPr>
              <a:t>Definition</a:t>
            </a:r>
            <a:r>
              <a:rPr spc="-160" dirty="0">
                <a:solidFill>
                  <a:srgbClr val="675E46"/>
                </a:solidFill>
              </a:rPr>
              <a:t> </a:t>
            </a:r>
            <a:r>
              <a:rPr spc="-55" dirty="0">
                <a:solidFill>
                  <a:srgbClr val="675E46"/>
                </a:solidFill>
              </a:rPr>
              <a:t>of</a:t>
            </a:r>
            <a:r>
              <a:rPr spc="-165" dirty="0">
                <a:solidFill>
                  <a:srgbClr val="675E46"/>
                </a:solidFill>
              </a:rPr>
              <a:t> </a:t>
            </a:r>
            <a:r>
              <a:rPr spc="-110" dirty="0">
                <a:solidFill>
                  <a:srgbClr val="675E46"/>
                </a:solidFill>
              </a:rPr>
              <a:t>Software</a:t>
            </a:r>
            <a:r>
              <a:rPr spc="-195" dirty="0">
                <a:solidFill>
                  <a:srgbClr val="675E46"/>
                </a:solidFill>
              </a:rPr>
              <a:t> </a:t>
            </a:r>
            <a:r>
              <a:rPr spc="-60" dirty="0">
                <a:solidFill>
                  <a:srgbClr val="675E46"/>
                </a:solidFill>
              </a:rPr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397253"/>
            <a:ext cx="7349490" cy="2471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9410" indent="-346710" algn="just">
              <a:lnSpc>
                <a:spcPct val="100000"/>
              </a:lnSpc>
              <a:spcBef>
                <a:spcPts val="100"/>
              </a:spcBef>
              <a:buClr>
                <a:srgbClr val="A9A47B"/>
              </a:buClr>
              <a:buFont typeface="Wingdings"/>
              <a:buChar char=""/>
              <a:tabLst>
                <a:tab pos="359410" algn="l"/>
              </a:tabLst>
            </a:pPr>
            <a:r>
              <a:rPr sz="2400" b="1" i="1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4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 Process:</a:t>
            </a:r>
            <a:endParaRPr sz="2400">
              <a:latin typeface="Times New Roman"/>
              <a:cs typeface="Times New Roman"/>
            </a:endParaRPr>
          </a:p>
          <a:p>
            <a:pPr marL="904240" lvl="1" indent="-228600" algn="just">
              <a:lnSpc>
                <a:spcPts val="2375"/>
              </a:lnSpc>
              <a:spcBef>
                <a:spcPts val="5"/>
              </a:spcBef>
              <a:buClr>
                <a:srgbClr val="D2CA6C"/>
              </a:buClr>
              <a:buFont typeface="Courier New"/>
              <a:buChar char="o"/>
              <a:tabLst>
                <a:tab pos="904240" algn="l"/>
              </a:tabLst>
            </a:pP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200" spc="20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E2B1F"/>
                </a:solidFill>
                <a:latin typeface="Times New Roman"/>
                <a:cs typeface="Times New Roman"/>
              </a:rPr>
              <a:t>framework</a:t>
            </a:r>
            <a:r>
              <a:rPr sz="2200" b="1" spc="3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2200" spc="3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3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activities,</a:t>
            </a:r>
            <a:r>
              <a:rPr sz="2200" spc="3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actions,</a:t>
            </a:r>
            <a:r>
              <a:rPr sz="2200" spc="3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200" spc="3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tasks</a:t>
            </a:r>
            <a:r>
              <a:rPr sz="2200" spc="3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endParaRPr sz="2200">
              <a:latin typeface="Times New Roman"/>
              <a:cs typeface="Times New Roman"/>
            </a:endParaRPr>
          </a:p>
          <a:p>
            <a:pPr marL="904240" algn="just">
              <a:lnSpc>
                <a:spcPts val="2375"/>
              </a:lnSpc>
            </a:pP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required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build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high-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quality</a:t>
            </a:r>
            <a:r>
              <a:rPr sz="22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software.</a:t>
            </a:r>
            <a:endParaRPr sz="2200">
              <a:latin typeface="Times New Roman"/>
              <a:cs typeface="Times New Roman"/>
            </a:endParaRPr>
          </a:p>
          <a:p>
            <a:pPr marL="904240" marR="5715" lvl="1" indent="-228600" algn="just">
              <a:lnSpc>
                <a:spcPct val="80000"/>
              </a:lnSpc>
              <a:spcBef>
                <a:spcPts val="530"/>
              </a:spcBef>
              <a:buClr>
                <a:srgbClr val="D2CA6C"/>
              </a:buClr>
              <a:buFont typeface="Courier New"/>
              <a:buChar char="o"/>
              <a:tabLst>
                <a:tab pos="904240" algn="l"/>
              </a:tabLst>
            </a:pP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SP</a:t>
            </a:r>
            <a:r>
              <a:rPr sz="2200" spc="5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defines</a:t>
            </a:r>
            <a:r>
              <a:rPr sz="2200" spc="3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3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approach</a:t>
            </a:r>
            <a:r>
              <a:rPr sz="2200" spc="3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2200" spc="3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200" spc="3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taken</a:t>
            </a:r>
            <a:r>
              <a:rPr sz="2200" spc="3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as</a:t>
            </a:r>
            <a:r>
              <a:rPr sz="2200" spc="3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200" spc="3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is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engineered.</a:t>
            </a:r>
            <a:endParaRPr sz="2200">
              <a:latin typeface="Times New Roman"/>
              <a:cs typeface="Times New Roman"/>
            </a:endParaRPr>
          </a:p>
          <a:p>
            <a:pPr marL="904240" marR="5080" lvl="1" indent="-228600" algn="just">
              <a:lnSpc>
                <a:spcPts val="2110"/>
              </a:lnSpc>
              <a:spcBef>
                <a:spcPts val="509"/>
              </a:spcBef>
              <a:buClr>
                <a:srgbClr val="D2CA6C"/>
              </a:buClr>
              <a:buFont typeface="Courier New"/>
              <a:buChar char="o"/>
              <a:tabLst>
                <a:tab pos="904240" algn="l"/>
              </a:tabLst>
            </a:pP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200" spc="30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not</a:t>
            </a:r>
            <a:r>
              <a:rPr sz="2200" spc="30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equal</a:t>
            </a:r>
            <a:r>
              <a:rPr sz="2200" spc="31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200" spc="31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200" spc="30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engineering,</a:t>
            </a:r>
            <a:r>
              <a:rPr sz="2200" spc="32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which</a:t>
            </a:r>
            <a:r>
              <a:rPr sz="2200" spc="30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also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encompasses</a:t>
            </a:r>
            <a:r>
              <a:rPr sz="2200" spc="5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b="1" dirty="0">
                <a:solidFill>
                  <a:srgbClr val="2E2B1F"/>
                </a:solidFill>
                <a:latin typeface="Times New Roman"/>
                <a:cs typeface="Times New Roman"/>
              </a:rPr>
              <a:t>technologies</a:t>
            </a:r>
            <a:r>
              <a:rPr sz="2200" b="1" spc="7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2200" spc="6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populate</a:t>
            </a:r>
            <a:r>
              <a:rPr sz="2200" spc="6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6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process–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technical</a:t>
            </a:r>
            <a:r>
              <a:rPr sz="2200" spc="-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methods</a:t>
            </a:r>
            <a:r>
              <a:rPr sz="2200" spc="-7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200" spc="-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automated</a:t>
            </a:r>
            <a:r>
              <a:rPr sz="22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tools.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240" y="3952113"/>
            <a:ext cx="7349490" cy="213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9410" indent="-346710" algn="just">
              <a:lnSpc>
                <a:spcPct val="100000"/>
              </a:lnSpc>
              <a:spcBef>
                <a:spcPts val="100"/>
              </a:spcBef>
              <a:buClr>
                <a:srgbClr val="A9A47B"/>
              </a:buClr>
              <a:buFont typeface="Wingdings"/>
              <a:buChar char=""/>
              <a:tabLst>
                <a:tab pos="359410" algn="l"/>
              </a:tabLst>
            </a:pPr>
            <a:r>
              <a:rPr sz="2400" b="1" i="1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4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24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i="1" spc="-50" dirty="0">
                <a:solidFill>
                  <a:srgbClr val="2E2B1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904240" marR="6350" lvl="1" indent="-228600" algn="just">
              <a:lnSpc>
                <a:spcPct val="80000"/>
              </a:lnSpc>
              <a:spcBef>
                <a:spcPts val="535"/>
              </a:spcBef>
              <a:buClr>
                <a:srgbClr val="D2CA6C"/>
              </a:buClr>
              <a:buFont typeface="Courier New"/>
              <a:buChar char="o"/>
              <a:tabLst>
                <a:tab pos="904240" algn="l"/>
              </a:tabLst>
            </a:pP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200" spc="1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200" spc="2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2200" spc="25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describes</a:t>
            </a:r>
            <a:r>
              <a:rPr sz="2200" spc="2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25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E2B1F"/>
                </a:solidFill>
                <a:latin typeface="Times New Roman"/>
                <a:cs typeface="Times New Roman"/>
              </a:rPr>
              <a:t>sequence</a:t>
            </a:r>
            <a:r>
              <a:rPr sz="2200" b="1" spc="25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200" b="1" spc="2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E2B1F"/>
                </a:solidFill>
                <a:latin typeface="Times New Roman"/>
                <a:cs typeface="Times New Roman"/>
              </a:rPr>
              <a:t>phases</a:t>
            </a:r>
            <a:r>
              <a:rPr sz="2200" b="1" spc="2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for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entire</a:t>
            </a:r>
            <a:r>
              <a:rPr sz="22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lifetime</a:t>
            </a:r>
            <a:r>
              <a:rPr sz="22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2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product.</a:t>
            </a:r>
            <a:r>
              <a:rPr sz="22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Therefore</a:t>
            </a:r>
            <a:r>
              <a:rPr sz="22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it is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sometimes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also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called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Product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Life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Cycle.</a:t>
            </a:r>
            <a:endParaRPr sz="2200">
              <a:latin typeface="Times New Roman"/>
              <a:cs typeface="Times New Roman"/>
            </a:endParaRPr>
          </a:p>
          <a:p>
            <a:pPr marL="904240" marR="5080" lvl="1" indent="-228600" algn="just">
              <a:lnSpc>
                <a:spcPct val="80000"/>
              </a:lnSpc>
              <a:spcBef>
                <a:spcPts val="530"/>
              </a:spcBef>
              <a:buClr>
                <a:srgbClr val="D2CA6C"/>
              </a:buClr>
              <a:buFont typeface="Courier New"/>
              <a:buChar char="o"/>
              <a:tabLst>
                <a:tab pos="904240" algn="l"/>
              </a:tabLst>
            </a:pP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This</a:t>
            </a:r>
            <a:r>
              <a:rPr sz="2200" spc="1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covers</a:t>
            </a:r>
            <a:r>
              <a:rPr sz="2200" spc="1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everything</a:t>
            </a:r>
            <a:r>
              <a:rPr sz="2200" spc="1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from</a:t>
            </a:r>
            <a:r>
              <a:rPr sz="2200" spc="1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1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initial</a:t>
            </a:r>
            <a:r>
              <a:rPr sz="2200" spc="1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commercial</a:t>
            </a:r>
            <a:r>
              <a:rPr sz="2200" spc="1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idea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until</a:t>
            </a:r>
            <a:r>
              <a:rPr sz="2200" spc="3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3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final</a:t>
            </a:r>
            <a:r>
              <a:rPr sz="2200" spc="3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de-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installation</a:t>
            </a:r>
            <a:r>
              <a:rPr sz="2200" spc="3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or</a:t>
            </a:r>
            <a:r>
              <a:rPr sz="2200" spc="3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disassembling</a:t>
            </a:r>
            <a:r>
              <a:rPr sz="2200" spc="4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200" spc="3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product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after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its</a:t>
            </a:r>
            <a:r>
              <a:rPr sz="22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use.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736583" y="568309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43904" y="1132332"/>
            <a:ext cx="5957570" cy="165100"/>
            <a:chOff x="2343904" y="1132332"/>
            <a:chExt cx="5957570" cy="1651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3904" y="1132332"/>
              <a:ext cx="5957357" cy="16459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62199" y="1214628"/>
              <a:ext cx="5867400" cy="0"/>
            </a:xfrm>
            <a:custGeom>
              <a:avLst/>
              <a:gdLst/>
              <a:ahLst/>
              <a:cxnLst/>
              <a:rect l="l" t="t" r="r" b="b"/>
              <a:pathLst>
                <a:path w="5867400">
                  <a:moveTo>
                    <a:pt x="0" y="0"/>
                  </a:moveTo>
                  <a:lnTo>
                    <a:pt x="58674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2633" y="103708"/>
            <a:ext cx="561657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5010" marR="5080" indent="-1972945">
              <a:lnSpc>
                <a:spcPct val="100000"/>
              </a:lnSpc>
              <a:spcBef>
                <a:spcPts val="100"/>
              </a:spcBef>
            </a:pPr>
            <a:r>
              <a:rPr spc="-90" dirty="0">
                <a:solidFill>
                  <a:srgbClr val="544E39"/>
                </a:solidFill>
              </a:rPr>
              <a:t>What</a:t>
            </a:r>
            <a:r>
              <a:rPr spc="-210" dirty="0">
                <a:solidFill>
                  <a:srgbClr val="544E39"/>
                </a:solidFill>
              </a:rPr>
              <a:t> </a:t>
            </a:r>
            <a:r>
              <a:rPr spc="-25" dirty="0">
                <a:solidFill>
                  <a:srgbClr val="544E39"/>
                </a:solidFill>
              </a:rPr>
              <a:t>/</a:t>
            </a:r>
            <a:r>
              <a:rPr spc="-180" dirty="0">
                <a:solidFill>
                  <a:srgbClr val="544E39"/>
                </a:solidFill>
              </a:rPr>
              <a:t> </a:t>
            </a:r>
            <a:r>
              <a:rPr spc="-90" dirty="0">
                <a:solidFill>
                  <a:srgbClr val="544E39"/>
                </a:solidFill>
              </a:rPr>
              <a:t>who</a:t>
            </a:r>
            <a:r>
              <a:rPr spc="-200" dirty="0">
                <a:solidFill>
                  <a:srgbClr val="544E39"/>
                </a:solidFill>
              </a:rPr>
              <a:t> </a:t>
            </a:r>
            <a:r>
              <a:rPr spc="-20" dirty="0">
                <a:solidFill>
                  <a:srgbClr val="544E39"/>
                </a:solidFill>
              </a:rPr>
              <a:t>/</a:t>
            </a:r>
            <a:r>
              <a:rPr spc="-170" dirty="0">
                <a:solidFill>
                  <a:srgbClr val="544E39"/>
                </a:solidFill>
              </a:rPr>
              <a:t> </a:t>
            </a:r>
            <a:r>
              <a:rPr spc="-140" dirty="0">
                <a:solidFill>
                  <a:srgbClr val="544E39"/>
                </a:solidFill>
              </a:rPr>
              <a:t>why</a:t>
            </a:r>
            <a:r>
              <a:rPr spc="-200" dirty="0">
                <a:solidFill>
                  <a:srgbClr val="544E39"/>
                </a:solidFill>
              </a:rPr>
              <a:t> </a:t>
            </a:r>
            <a:r>
              <a:rPr spc="-65" dirty="0">
                <a:solidFill>
                  <a:srgbClr val="544E39"/>
                </a:solidFill>
              </a:rPr>
              <a:t>is</a:t>
            </a:r>
            <a:r>
              <a:rPr spc="-190" dirty="0">
                <a:solidFill>
                  <a:srgbClr val="544E39"/>
                </a:solidFill>
              </a:rPr>
              <a:t> </a:t>
            </a:r>
            <a:r>
              <a:rPr spc="-75" dirty="0">
                <a:solidFill>
                  <a:srgbClr val="544E39"/>
                </a:solidFill>
              </a:rPr>
              <a:t>Process </a:t>
            </a:r>
            <a:r>
              <a:rPr spc="-10" dirty="0">
                <a:solidFill>
                  <a:srgbClr val="544E39"/>
                </a:solidFill>
              </a:rPr>
              <a:t>Models?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5440" y="1328673"/>
            <a:ext cx="7968615" cy="525653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41300" marR="15875" indent="-229870" algn="just">
              <a:lnSpc>
                <a:spcPts val="2110"/>
              </a:lnSpc>
              <a:spcBef>
                <a:spcPts val="605"/>
              </a:spcBef>
              <a:buClr>
                <a:srgbClr val="A9A47B"/>
              </a:buClr>
              <a:buSzPct val="95454"/>
              <a:buFont typeface="Wingdings"/>
              <a:buChar char=""/>
              <a:tabLst>
                <a:tab pos="241300" algn="l"/>
                <a:tab pos="262255" algn="l"/>
              </a:tabLst>
            </a:pP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	What</a:t>
            </a:r>
            <a:r>
              <a:rPr sz="2200" i="1" dirty="0">
                <a:solidFill>
                  <a:srgbClr val="00AF50"/>
                </a:solidFill>
                <a:latin typeface="Times New Roman"/>
                <a:cs typeface="Times New Roman"/>
              </a:rPr>
              <a:t>:</a:t>
            </a:r>
            <a:r>
              <a:rPr sz="2200" i="1" spc="2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Go</a:t>
            </a:r>
            <a:r>
              <a:rPr sz="2200" spc="2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through</a:t>
            </a:r>
            <a:r>
              <a:rPr sz="2200" spc="2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200" spc="2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series</a:t>
            </a:r>
            <a:r>
              <a:rPr sz="2200" spc="2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200" spc="2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predictable</a:t>
            </a:r>
            <a:r>
              <a:rPr sz="2200" spc="2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steps--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-</a:t>
            </a:r>
            <a:r>
              <a:rPr sz="2200" spc="2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200" spc="2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C000"/>
                </a:solidFill>
                <a:latin typeface="Times New Roman"/>
                <a:cs typeface="Times New Roman"/>
              </a:rPr>
              <a:t>road</a:t>
            </a:r>
            <a:r>
              <a:rPr sz="2200" spc="26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C000"/>
                </a:solidFill>
                <a:latin typeface="Times New Roman"/>
                <a:cs typeface="Times New Roman"/>
              </a:rPr>
              <a:t>map</a:t>
            </a:r>
            <a:r>
              <a:rPr sz="2200" spc="26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that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helps</a:t>
            </a:r>
            <a:r>
              <a:rPr sz="22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you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create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timely,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high-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quality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results.</a:t>
            </a:r>
            <a:endParaRPr sz="2200">
              <a:latin typeface="Times New Roman"/>
              <a:cs typeface="Times New Roman"/>
            </a:endParaRPr>
          </a:p>
          <a:p>
            <a:pPr marL="261620" indent="-250825" algn="just">
              <a:lnSpc>
                <a:spcPts val="2375"/>
              </a:lnSpc>
              <a:spcBef>
                <a:spcPts val="20"/>
              </a:spcBef>
              <a:buClr>
                <a:srgbClr val="A9A47B"/>
              </a:buClr>
              <a:buSzPct val="95454"/>
              <a:buFont typeface="Wingdings"/>
              <a:buChar char=""/>
              <a:tabLst>
                <a:tab pos="261620" algn="l"/>
              </a:tabLst>
            </a:pP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Who</a:t>
            </a:r>
            <a:r>
              <a:rPr sz="2200" i="1" dirty="0">
                <a:solidFill>
                  <a:srgbClr val="00AF50"/>
                </a:solidFill>
                <a:latin typeface="Times New Roman"/>
                <a:cs typeface="Times New Roman"/>
              </a:rPr>
              <a:t>:</a:t>
            </a:r>
            <a:r>
              <a:rPr sz="2200" i="1" spc="29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200" spc="3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engineers</a:t>
            </a:r>
            <a:r>
              <a:rPr sz="2200" spc="3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200" spc="30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their</a:t>
            </a:r>
            <a:r>
              <a:rPr sz="2200" spc="3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managers,</a:t>
            </a:r>
            <a:r>
              <a:rPr sz="2200" spc="2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clients</a:t>
            </a:r>
            <a:r>
              <a:rPr sz="2200" spc="29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also.</a:t>
            </a:r>
            <a:r>
              <a:rPr sz="2200" spc="30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People</a:t>
            </a:r>
            <a:endParaRPr sz="2200">
              <a:latin typeface="Times New Roman"/>
              <a:cs typeface="Times New Roman"/>
            </a:endParaRPr>
          </a:p>
          <a:p>
            <a:pPr marL="241300" algn="just">
              <a:lnSpc>
                <a:spcPts val="2375"/>
              </a:lnSpc>
            </a:pP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adapt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their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needs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follow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it.</a:t>
            </a:r>
            <a:endParaRPr sz="2200">
              <a:latin typeface="Times New Roman"/>
              <a:cs typeface="Times New Roman"/>
            </a:endParaRPr>
          </a:p>
          <a:p>
            <a:pPr marL="241300" marR="5080" indent="-229870" algn="just">
              <a:lnSpc>
                <a:spcPts val="2110"/>
              </a:lnSpc>
              <a:spcBef>
                <a:spcPts val="515"/>
              </a:spcBef>
              <a:buClr>
                <a:srgbClr val="A9A47B"/>
              </a:buClr>
              <a:buSzPct val="95454"/>
              <a:buFont typeface="Wingdings"/>
              <a:buChar char=""/>
              <a:tabLst>
                <a:tab pos="241300" algn="l"/>
                <a:tab pos="262255" algn="l"/>
              </a:tabLst>
            </a:pP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	Why</a:t>
            </a:r>
            <a:r>
              <a:rPr sz="2200" i="1" dirty="0">
                <a:solidFill>
                  <a:srgbClr val="00AF50"/>
                </a:solidFill>
                <a:latin typeface="Times New Roman"/>
                <a:cs typeface="Times New Roman"/>
              </a:rPr>
              <a:t>:</a:t>
            </a:r>
            <a:r>
              <a:rPr sz="2200" i="1" spc="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Provides</a:t>
            </a:r>
            <a:r>
              <a:rPr sz="2200" spc="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stability,</a:t>
            </a:r>
            <a:r>
              <a:rPr sz="2200" spc="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control,</a:t>
            </a:r>
            <a:r>
              <a:rPr sz="2200" spc="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200" spc="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organization</a:t>
            </a:r>
            <a:r>
              <a:rPr sz="2200" spc="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200" spc="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</a:t>
            </a:r>
            <a:r>
              <a:rPr sz="2200" spc="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activity</a:t>
            </a:r>
            <a:r>
              <a:rPr sz="2200" spc="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that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can</a:t>
            </a:r>
            <a:r>
              <a:rPr sz="2200" spc="4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if</a:t>
            </a:r>
            <a:r>
              <a:rPr sz="2200" spc="4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left</a:t>
            </a:r>
            <a:r>
              <a:rPr sz="2200" spc="4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uncontrolled,</a:t>
            </a:r>
            <a:r>
              <a:rPr sz="2200" spc="4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become</a:t>
            </a:r>
            <a:r>
              <a:rPr sz="2200" spc="4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quite</a:t>
            </a:r>
            <a:r>
              <a:rPr sz="2200" spc="409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chaotic.</a:t>
            </a:r>
            <a:r>
              <a:rPr sz="2200" spc="4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However,</a:t>
            </a:r>
            <a:r>
              <a:rPr sz="2200" spc="43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modern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200" spc="1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r>
              <a:rPr sz="2200" spc="19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approaches</a:t>
            </a:r>
            <a:r>
              <a:rPr sz="2200" spc="1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must</a:t>
            </a:r>
            <a:r>
              <a:rPr sz="2200" spc="19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2200" spc="1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agile</a:t>
            </a:r>
            <a:r>
              <a:rPr sz="2200" spc="1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200" spc="1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demand</a:t>
            </a:r>
            <a:r>
              <a:rPr sz="2200" spc="1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C000"/>
                </a:solidFill>
                <a:latin typeface="Times New Roman"/>
                <a:cs typeface="Times New Roman"/>
              </a:rPr>
              <a:t>ONLY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those</a:t>
            </a:r>
            <a:r>
              <a:rPr sz="22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activities,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controls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work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products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appropriate.</a:t>
            </a:r>
            <a:endParaRPr sz="2200">
              <a:latin typeface="Times New Roman"/>
              <a:cs typeface="Times New Roman"/>
            </a:endParaRPr>
          </a:p>
          <a:p>
            <a:pPr marL="262255" indent="-250825" algn="just">
              <a:lnSpc>
                <a:spcPct val="100000"/>
              </a:lnSpc>
              <a:spcBef>
                <a:spcPts val="25"/>
              </a:spcBef>
              <a:buClr>
                <a:srgbClr val="A9A47B"/>
              </a:buClr>
              <a:buSzPct val="95454"/>
              <a:buFont typeface="Wingdings"/>
              <a:buChar char=""/>
              <a:tabLst>
                <a:tab pos="262255" algn="l"/>
              </a:tabLst>
            </a:pP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What</a:t>
            </a:r>
            <a:r>
              <a:rPr sz="2200" b="1" i="1" spc="-10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spc="-20" dirty="0">
                <a:solidFill>
                  <a:srgbClr val="00AF50"/>
                </a:solidFill>
                <a:latin typeface="Times New Roman"/>
                <a:cs typeface="Times New Roman"/>
              </a:rPr>
              <a:t>Work</a:t>
            </a:r>
            <a:r>
              <a:rPr sz="2200" b="1" i="1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products</a:t>
            </a:r>
            <a:r>
              <a:rPr sz="2200" i="1" dirty="0">
                <a:solidFill>
                  <a:srgbClr val="00AF50"/>
                </a:solidFill>
                <a:latin typeface="Times New Roman"/>
                <a:cs typeface="Times New Roman"/>
              </a:rPr>
              <a:t>:</a:t>
            </a:r>
            <a:r>
              <a:rPr sz="2200" i="1" spc="-7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Programs,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documents,</a:t>
            </a:r>
            <a:r>
              <a:rPr sz="22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2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data</a:t>
            </a:r>
            <a:endParaRPr sz="2200">
              <a:latin typeface="Times New Roman"/>
              <a:cs typeface="Times New Roman"/>
            </a:endParaRPr>
          </a:p>
          <a:p>
            <a:pPr marL="241300" marR="13970" indent="-229870" algn="just">
              <a:lnSpc>
                <a:spcPts val="2110"/>
              </a:lnSpc>
              <a:spcBef>
                <a:spcPts val="509"/>
              </a:spcBef>
              <a:buClr>
                <a:srgbClr val="A9A47B"/>
              </a:buClr>
              <a:buSzPct val="95454"/>
              <a:buFont typeface="Wingdings"/>
              <a:buChar char=""/>
              <a:tabLst>
                <a:tab pos="241300" algn="l"/>
                <a:tab pos="262255" algn="l"/>
              </a:tabLst>
            </a:pP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	What</a:t>
            </a:r>
            <a:r>
              <a:rPr sz="2200" b="1" i="1" spc="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are</a:t>
            </a:r>
            <a:r>
              <a:rPr sz="2200" b="1" i="1" spc="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200" b="1" i="1" spc="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steps:</a:t>
            </a:r>
            <a:r>
              <a:rPr sz="2200" b="1" i="1" spc="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200" spc="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you</a:t>
            </a:r>
            <a:r>
              <a:rPr sz="2200" spc="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adopt</a:t>
            </a:r>
            <a:r>
              <a:rPr sz="2200" spc="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depends</a:t>
            </a:r>
            <a:r>
              <a:rPr sz="2200" spc="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on</a:t>
            </a:r>
            <a:r>
              <a:rPr sz="2200" spc="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software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you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building.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One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2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might</a:t>
            </a:r>
            <a:r>
              <a:rPr sz="22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good</a:t>
            </a:r>
            <a:r>
              <a:rPr sz="22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aircraft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avionic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system,</a:t>
            </a:r>
            <a:r>
              <a:rPr sz="2200" spc="10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while</a:t>
            </a:r>
            <a:r>
              <a:rPr sz="2200" spc="9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</a:t>
            </a:r>
            <a:r>
              <a:rPr sz="2200" spc="10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entirely</a:t>
            </a:r>
            <a:r>
              <a:rPr sz="2200" spc="9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different</a:t>
            </a:r>
            <a:r>
              <a:rPr sz="2200" spc="10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200" spc="9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would</a:t>
            </a:r>
            <a:r>
              <a:rPr sz="2200" spc="10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2200" spc="9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used</a:t>
            </a:r>
            <a:r>
              <a:rPr sz="2200" spc="9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for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website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 creation.</a:t>
            </a:r>
            <a:endParaRPr sz="2200">
              <a:latin typeface="Times New Roman"/>
              <a:cs typeface="Times New Roman"/>
            </a:endParaRPr>
          </a:p>
          <a:p>
            <a:pPr marL="241300" marR="14604" indent="-229870" algn="just">
              <a:lnSpc>
                <a:spcPct val="80000"/>
              </a:lnSpc>
              <a:spcBef>
                <a:spcPts val="555"/>
              </a:spcBef>
              <a:buClr>
                <a:srgbClr val="A9A47B"/>
              </a:buClr>
              <a:buSzPct val="95454"/>
              <a:buFont typeface="Wingdings"/>
              <a:buChar char=""/>
              <a:tabLst>
                <a:tab pos="241300" algn="l"/>
                <a:tab pos="262255" algn="l"/>
              </a:tabLst>
            </a:pP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	How</a:t>
            </a:r>
            <a:r>
              <a:rPr sz="2200" b="1" i="1" spc="4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to</a:t>
            </a:r>
            <a:r>
              <a:rPr sz="2200" b="1" i="1" spc="4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ensure</a:t>
            </a:r>
            <a:r>
              <a:rPr sz="2200" b="1" i="1" spc="4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Times New Roman"/>
                <a:cs typeface="Times New Roman"/>
              </a:rPr>
              <a:t>right</a:t>
            </a:r>
            <a:r>
              <a:rPr sz="2200" i="1" dirty="0">
                <a:solidFill>
                  <a:srgbClr val="00AF50"/>
                </a:solidFill>
                <a:latin typeface="Times New Roman"/>
                <a:cs typeface="Times New Roman"/>
              </a:rPr>
              <a:t>:</a:t>
            </a:r>
            <a:r>
              <a:rPr sz="2200" i="1" spc="4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200" spc="3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number</a:t>
            </a:r>
            <a:r>
              <a:rPr sz="2200" spc="459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200" spc="4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200" spc="459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200" spc="4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assessment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mechanisms</a:t>
            </a:r>
            <a:r>
              <a:rPr sz="2200" spc="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2200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enable us to</a:t>
            </a:r>
            <a:r>
              <a:rPr sz="2200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determine</a:t>
            </a:r>
            <a:r>
              <a:rPr sz="2200" spc="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maturity</a:t>
            </a:r>
            <a:r>
              <a:rPr sz="2200" spc="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2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software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process.</a:t>
            </a:r>
            <a:r>
              <a:rPr sz="2200" spc="10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However,</a:t>
            </a:r>
            <a:r>
              <a:rPr sz="2200" spc="10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10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quality,</a:t>
            </a:r>
            <a:r>
              <a:rPr sz="2200" spc="9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timeliness</a:t>
            </a:r>
            <a:r>
              <a:rPr sz="2200" spc="10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200" spc="1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long-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term</a:t>
            </a:r>
            <a:r>
              <a:rPr sz="2200" spc="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viability</a:t>
            </a:r>
            <a:r>
              <a:rPr sz="2200" spc="11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of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software are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best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indicators</a:t>
            </a:r>
            <a:r>
              <a:rPr sz="22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efficacy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 you 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use.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36583" y="568309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39567" y="1203960"/>
            <a:ext cx="5478780" cy="182880"/>
            <a:chOff x="2639567" y="1203960"/>
            <a:chExt cx="5478780" cy="1828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9567" y="1203960"/>
              <a:ext cx="5478780" cy="1828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666999" y="1295400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2298" y="378714"/>
            <a:ext cx="4902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544E39"/>
                </a:solidFill>
              </a:rPr>
              <a:t>A</a:t>
            </a:r>
            <a:r>
              <a:rPr spc="-170" dirty="0">
                <a:solidFill>
                  <a:srgbClr val="544E39"/>
                </a:solidFill>
              </a:rPr>
              <a:t> </a:t>
            </a:r>
            <a:r>
              <a:rPr spc="-105" dirty="0">
                <a:solidFill>
                  <a:srgbClr val="544E39"/>
                </a:solidFill>
              </a:rPr>
              <a:t>Generic</a:t>
            </a:r>
            <a:r>
              <a:rPr spc="-175" dirty="0">
                <a:solidFill>
                  <a:srgbClr val="544E39"/>
                </a:solidFill>
              </a:rPr>
              <a:t> </a:t>
            </a:r>
            <a:r>
              <a:rPr spc="-110" dirty="0">
                <a:solidFill>
                  <a:srgbClr val="544E39"/>
                </a:solidFill>
              </a:rPr>
              <a:t>Process</a:t>
            </a:r>
            <a:r>
              <a:rPr spc="-190" dirty="0">
                <a:solidFill>
                  <a:srgbClr val="544E39"/>
                </a:solidFill>
              </a:rPr>
              <a:t> </a:t>
            </a:r>
            <a:r>
              <a:rPr spc="-30" dirty="0">
                <a:solidFill>
                  <a:srgbClr val="544E39"/>
                </a:solidFill>
              </a:rPr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648714" y="984503"/>
            <a:ext cx="5424170" cy="165100"/>
            <a:chOff x="2648714" y="984503"/>
            <a:chExt cx="5424170" cy="165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984503"/>
              <a:ext cx="5423900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66999" y="1066799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45440" y="1397254"/>
            <a:ext cx="7550150" cy="2774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179705" indent="-229870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SzPct val="95454"/>
              <a:buFont typeface="Wingdings"/>
              <a:buChar char=""/>
              <a:tabLst>
                <a:tab pos="241300" algn="l"/>
                <a:tab pos="262255" algn="l"/>
              </a:tabLst>
            </a:pP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	As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we</a:t>
            </a:r>
            <a:r>
              <a:rPr sz="2200" spc="-6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discussed</a:t>
            </a:r>
            <a:r>
              <a:rPr sz="2200" spc="-7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before,</a:t>
            </a:r>
            <a:r>
              <a:rPr sz="2200" spc="-5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a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generic</a:t>
            </a:r>
            <a:r>
              <a:rPr sz="2200" spc="-5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process</a:t>
            </a:r>
            <a:r>
              <a:rPr sz="2200" spc="-5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framework</a:t>
            </a:r>
            <a:r>
              <a:rPr sz="2200" spc="-3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Arial MT"/>
                <a:cs typeface="Arial MT"/>
              </a:rPr>
              <a:t>for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software</a:t>
            </a:r>
            <a:r>
              <a:rPr sz="2200" spc="-9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engineering</a:t>
            </a:r>
            <a:r>
              <a:rPr sz="2200" spc="-10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defines</a:t>
            </a:r>
            <a:r>
              <a:rPr sz="2200" spc="-7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five</a:t>
            </a:r>
            <a:r>
              <a:rPr sz="2200" spc="-10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framework</a:t>
            </a:r>
            <a:r>
              <a:rPr sz="2200" spc="-6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Arial MT"/>
                <a:cs typeface="Arial MT"/>
              </a:rPr>
              <a:t>activities- communication,</a:t>
            </a:r>
            <a:r>
              <a:rPr sz="2200" spc="-9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planning,</a:t>
            </a:r>
            <a:r>
              <a:rPr sz="2200" spc="-9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modeling,</a:t>
            </a:r>
            <a:r>
              <a:rPr sz="2200" spc="-9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construction,</a:t>
            </a:r>
            <a:r>
              <a:rPr sz="2200" spc="-9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6FC0"/>
                </a:solidFill>
                <a:latin typeface="Arial MT"/>
                <a:cs typeface="Arial MT"/>
              </a:rPr>
              <a:t>and </a:t>
            </a:r>
            <a:r>
              <a:rPr sz="2200" spc="-10" dirty="0">
                <a:solidFill>
                  <a:srgbClr val="006FC0"/>
                </a:solidFill>
                <a:latin typeface="Arial MT"/>
                <a:cs typeface="Arial MT"/>
              </a:rPr>
              <a:t>deployment.</a:t>
            </a:r>
            <a:endParaRPr sz="2200">
              <a:latin typeface="Arial MT"/>
              <a:cs typeface="Arial MT"/>
            </a:endParaRPr>
          </a:p>
          <a:p>
            <a:pPr marL="241300" marR="5080" indent="-229870">
              <a:lnSpc>
                <a:spcPct val="100000"/>
              </a:lnSpc>
              <a:spcBef>
                <a:spcPts val="530"/>
              </a:spcBef>
              <a:buClr>
                <a:srgbClr val="A9A47B"/>
              </a:buClr>
              <a:buSzPct val="95454"/>
              <a:buFont typeface="Wingdings"/>
              <a:buChar char=""/>
              <a:tabLst>
                <a:tab pos="241300" algn="l"/>
                <a:tab pos="262255" algn="l"/>
              </a:tabLst>
            </a:pP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	In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addition,</a:t>
            </a:r>
            <a:r>
              <a:rPr sz="2200" spc="-4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a</a:t>
            </a:r>
            <a:r>
              <a:rPr sz="220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set</a:t>
            </a:r>
            <a:r>
              <a:rPr sz="220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of</a:t>
            </a:r>
            <a:r>
              <a:rPr sz="220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umbrella</a:t>
            </a:r>
            <a:r>
              <a:rPr sz="2200" spc="-4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activities-</a:t>
            </a:r>
            <a:r>
              <a:rPr sz="220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project</a:t>
            </a:r>
            <a:r>
              <a:rPr sz="2200" spc="-5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tracking</a:t>
            </a:r>
            <a:r>
              <a:rPr sz="2200" spc="-6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Arial MT"/>
                <a:cs typeface="Arial MT"/>
              </a:rPr>
              <a:t>and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control,</a:t>
            </a:r>
            <a:r>
              <a:rPr sz="2200" spc="-9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risk</a:t>
            </a:r>
            <a:r>
              <a:rPr sz="2200" spc="-8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management,</a:t>
            </a:r>
            <a:r>
              <a:rPr sz="2200" spc="-5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quality</a:t>
            </a:r>
            <a:r>
              <a:rPr sz="2200" spc="-9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assurance,</a:t>
            </a:r>
            <a:r>
              <a:rPr sz="2200" spc="-9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Arial MT"/>
                <a:cs typeface="Arial MT"/>
              </a:rPr>
              <a:t>configuration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management,</a:t>
            </a:r>
            <a:r>
              <a:rPr sz="2200" spc="-5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technical</a:t>
            </a:r>
            <a:r>
              <a:rPr sz="2200" spc="-8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reviews,</a:t>
            </a:r>
            <a:r>
              <a:rPr sz="2200" spc="-7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and</a:t>
            </a:r>
            <a:r>
              <a:rPr sz="2200" spc="-8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others</a:t>
            </a:r>
            <a:r>
              <a:rPr sz="2200" spc="-7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are</a:t>
            </a:r>
            <a:r>
              <a:rPr sz="2200" spc="-8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Arial MT"/>
                <a:cs typeface="Arial MT"/>
              </a:rPr>
              <a:t>applied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throughout</a:t>
            </a:r>
            <a:r>
              <a:rPr sz="2200" spc="-7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the</a:t>
            </a:r>
            <a:r>
              <a:rPr sz="2200" spc="-8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Arial MT"/>
                <a:cs typeface="Arial MT"/>
              </a:rPr>
              <a:t>process.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2298" y="378714"/>
            <a:ext cx="4902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544E39"/>
                </a:solidFill>
              </a:rPr>
              <a:t>A</a:t>
            </a:r>
            <a:r>
              <a:rPr spc="-170" dirty="0">
                <a:solidFill>
                  <a:srgbClr val="544E39"/>
                </a:solidFill>
              </a:rPr>
              <a:t> </a:t>
            </a:r>
            <a:r>
              <a:rPr spc="-105" dirty="0">
                <a:solidFill>
                  <a:srgbClr val="544E39"/>
                </a:solidFill>
              </a:rPr>
              <a:t>Generic</a:t>
            </a:r>
            <a:r>
              <a:rPr spc="-175" dirty="0">
                <a:solidFill>
                  <a:srgbClr val="544E39"/>
                </a:solidFill>
              </a:rPr>
              <a:t> </a:t>
            </a:r>
            <a:r>
              <a:rPr spc="-110" dirty="0">
                <a:solidFill>
                  <a:srgbClr val="544E39"/>
                </a:solidFill>
              </a:rPr>
              <a:t>Process</a:t>
            </a:r>
            <a:r>
              <a:rPr spc="-190" dirty="0">
                <a:solidFill>
                  <a:srgbClr val="544E39"/>
                </a:solidFill>
              </a:rPr>
              <a:t> </a:t>
            </a:r>
            <a:r>
              <a:rPr spc="-30" dirty="0">
                <a:solidFill>
                  <a:srgbClr val="544E39"/>
                </a:solidFill>
              </a:rPr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648714" y="984503"/>
            <a:ext cx="5424170" cy="165100"/>
            <a:chOff x="2648714" y="984503"/>
            <a:chExt cx="5424170" cy="165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984503"/>
              <a:ext cx="5423900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66999" y="1066799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45440" y="1395729"/>
            <a:ext cx="7887334" cy="4317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</a:tabLst>
            </a:pPr>
            <a:r>
              <a:rPr sz="2200" b="1" i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imes New Roman"/>
                <a:cs typeface="Times New Roman"/>
              </a:rPr>
              <a:t>Communication</a:t>
            </a:r>
            <a:r>
              <a:rPr sz="2200" b="1" i="1" u="sng" spc="-5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i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2200" b="1" i="1" spc="-8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This</a:t>
            </a:r>
            <a:r>
              <a:rPr sz="22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activity</a:t>
            </a:r>
            <a:r>
              <a:rPr sz="2200" spc="-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involves</a:t>
            </a:r>
            <a:r>
              <a:rPr sz="2200" spc="-7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heavy</a:t>
            </a:r>
            <a:r>
              <a:rPr sz="2200" spc="-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communication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with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customers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other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stakeholders</a:t>
            </a:r>
            <a:r>
              <a:rPr sz="22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order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gather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requirements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2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other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related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activities.</a:t>
            </a:r>
            <a:endParaRPr sz="2200">
              <a:latin typeface="Times New Roman"/>
              <a:cs typeface="Times New Roman"/>
            </a:endParaRPr>
          </a:p>
          <a:p>
            <a:pPr marL="241300" marR="392430" indent="-228600">
              <a:lnSpc>
                <a:spcPct val="100000"/>
              </a:lnSpc>
              <a:spcBef>
                <a:spcPts val="530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</a:tabLst>
            </a:pPr>
            <a:r>
              <a:rPr sz="2200" b="1" i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imes New Roman"/>
                <a:cs typeface="Times New Roman"/>
              </a:rPr>
              <a:t>Planning</a:t>
            </a:r>
            <a:r>
              <a:rPr sz="2200" b="1" i="1" u="sng" spc="-2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i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2200" b="1" i="1" spc="-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Here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plan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followed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will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created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which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will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describe</a:t>
            </a:r>
            <a:r>
              <a:rPr sz="22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technical</a:t>
            </a:r>
            <a:r>
              <a:rPr sz="22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tasks</a:t>
            </a:r>
            <a:r>
              <a:rPr sz="22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22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conducted,</a:t>
            </a:r>
            <a:r>
              <a:rPr sz="22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risks,</a:t>
            </a:r>
            <a:r>
              <a:rPr sz="22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required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resources,</a:t>
            </a:r>
            <a:r>
              <a:rPr sz="22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work</a:t>
            </a:r>
            <a:r>
              <a:rPr sz="22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schedule</a:t>
            </a:r>
            <a:r>
              <a:rPr sz="22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etc.</a:t>
            </a:r>
            <a:endParaRPr sz="2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530"/>
              </a:spcBef>
              <a:buClr>
                <a:srgbClr val="A9A47B"/>
              </a:buClr>
              <a:buFont typeface="Arial MT"/>
              <a:buChar char="•"/>
              <a:tabLst>
                <a:tab pos="240665" algn="l"/>
              </a:tabLst>
            </a:pPr>
            <a:r>
              <a:rPr sz="2200" b="1" i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imes New Roman"/>
                <a:cs typeface="Times New Roman"/>
              </a:rPr>
              <a:t>Modeling</a:t>
            </a:r>
            <a:r>
              <a:rPr sz="2200" b="1" i="1" u="sng" spc="-6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i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2200" b="1" i="1" spc="-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200" spc="-1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will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created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better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understand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requirements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design</a:t>
            </a:r>
            <a:r>
              <a:rPr sz="22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2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achieve</a:t>
            </a:r>
            <a:r>
              <a:rPr sz="22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these</a:t>
            </a:r>
            <a:r>
              <a:rPr sz="22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requirements.</a:t>
            </a:r>
            <a:endParaRPr sz="2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530"/>
              </a:spcBef>
              <a:buClr>
                <a:srgbClr val="A9A47B"/>
              </a:buClr>
              <a:buFont typeface="Arial MT"/>
              <a:buChar char="•"/>
              <a:tabLst>
                <a:tab pos="240665" algn="l"/>
              </a:tabLst>
            </a:pPr>
            <a:r>
              <a:rPr sz="2200" b="1" i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imes New Roman"/>
                <a:cs typeface="Times New Roman"/>
              </a:rPr>
              <a:t>Construction</a:t>
            </a:r>
            <a:r>
              <a:rPr sz="2200" b="1" i="1" u="sng" spc="-4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i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2200" b="1" i="1" spc="-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Here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code</a:t>
            </a:r>
            <a:r>
              <a:rPr sz="22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will</a:t>
            </a:r>
            <a:r>
              <a:rPr sz="22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generated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tested.</a:t>
            </a:r>
            <a:endParaRPr sz="2200">
              <a:latin typeface="Times New Roman"/>
              <a:cs typeface="Times New Roman"/>
            </a:endParaRPr>
          </a:p>
          <a:p>
            <a:pPr marL="241300" marR="121920" indent="-228600">
              <a:lnSpc>
                <a:spcPct val="100000"/>
              </a:lnSpc>
              <a:spcBef>
                <a:spcPts val="52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</a:tabLst>
            </a:pPr>
            <a:r>
              <a:rPr sz="2200" b="1" i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imes New Roman"/>
                <a:cs typeface="Times New Roman"/>
              </a:rPr>
              <a:t>Deployment</a:t>
            </a:r>
            <a:r>
              <a:rPr sz="2200" b="1" i="1" u="sng" spc="-40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i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2200" b="1" i="1" spc="-5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Here,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2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complete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or</a:t>
            </a:r>
            <a:r>
              <a:rPr sz="22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partially</a:t>
            </a:r>
            <a:r>
              <a:rPr sz="22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complete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version</a:t>
            </a:r>
            <a:r>
              <a:rPr sz="22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2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represented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customers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evaluate</a:t>
            </a:r>
            <a:r>
              <a:rPr sz="22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they</a:t>
            </a:r>
            <a:r>
              <a:rPr sz="2200" spc="-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give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feedbacks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based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on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evaluation.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8637" y="2696083"/>
            <a:ext cx="195008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600" b="1" spc="-30" dirty="0">
                <a:solidFill>
                  <a:srgbClr val="544E39"/>
                </a:solidFill>
                <a:latin typeface="Cambria"/>
                <a:cs typeface="Cambria"/>
              </a:rPr>
              <a:t>A</a:t>
            </a:r>
            <a:r>
              <a:rPr sz="3600" b="1" spc="-195" dirty="0">
                <a:solidFill>
                  <a:srgbClr val="544E39"/>
                </a:solidFill>
                <a:latin typeface="Cambria"/>
                <a:cs typeface="Cambria"/>
              </a:rPr>
              <a:t> </a:t>
            </a:r>
            <a:r>
              <a:rPr sz="3600" b="1" spc="-95" dirty="0">
                <a:solidFill>
                  <a:srgbClr val="544E39"/>
                </a:solidFill>
                <a:latin typeface="Cambria"/>
                <a:cs typeface="Cambria"/>
              </a:rPr>
              <a:t>Generic </a:t>
            </a:r>
            <a:r>
              <a:rPr sz="3600" b="1" spc="-10" dirty="0">
                <a:solidFill>
                  <a:srgbClr val="544E39"/>
                </a:solidFill>
                <a:latin typeface="Cambria"/>
                <a:cs typeface="Cambria"/>
              </a:rPr>
              <a:t>Process Model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1072" y="419809"/>
            <a:ext cx="4918363" cy="608345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913" y="2722879"/>
            <a:ext cx="15735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</a:pPr>
            <a:r>
              <a:rPr sz="3600" b="1" spc="-105" dirty="0">
                <a:solidFill>
                  <a:srgbClr val="6F2F9F"/>
                </a:solidFill>
                <a:latin typeface="Cambria"/>
                <a:cs typeface="Cambria"/>
              </a:rPr>
              <a:t>Process </a:t>
            </a:r>
            <a:r>
              <a:rPr sz="3600" b="1" spc="-20" dirty="0">
                <a:solidFill>
                  <a:srgbClr val="6F2F9F"/>
                </a:solidFill>
                <a:latin typeface="Cambria"/>
                <a:cs typeface="Cambria"/>
              </a:rPr>
              <a:t>Flow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648714" y="1136903"/>
            <a:ext cx="5424170" cy="165100"/>
            <a:chOff x="2648714" y="1136903"/>
            <a:chExt cx="5424170" cy="165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1136903"/>
              <a:ext cx="5423900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66999" y="1219199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58683" y="1867739"/>
            <a:ext cx="5975923" cy="338838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355975" y="531114"/>
            <a:ext cx="4271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40" dirty="0">
                <a:solidFill>
                  <a:srgbClr val="544E39"/>
                </a:solidFill>
                <a:latin typeface="Cambria"/>
                <a:cs typeface="Cambria"/>
              </a:rPr>
              <a:t>Framework</a:t>
            </a:r>
            <a:r>
              <a:rPr sz="3600" b="1" spc="-170" dirty="0">
                <a:solidFill>
                  <a:srgbClr val="544E39"/>
                </a:solidFill>
                <a:latin typeface="Cambria"/>
                <a:cs typeface="Cambria"/>
              </a:rPr>
              <a:t> </a:t>
            </a:r>
            <a:r>
              <a:rPr sz="3600" b="1" spc="-90" dirty="0">
                <a:solidFill>
                  <a:srgbClr val="544E39"/>
                </a:solidFill>
                <a:latin typeface="Cambria"/>
                <a:cs typeface="Cambria"/>
              </a:rPr>
              <a:t>Activities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>
                <a:solidFill>
                  <a:srgbClr val="544E39"/>
                </a:solidFill>
              </a:rPr>
              <a:t>Process</a:t>
            </a:r>
            <a:r>
              <a:rPr spc="-204" dirty="0">
                <a:solidFill>
                  <a:srgbClr val="544E39"/>
                </a:solidFill>
              </a:rPr>
              <a:t> </a:t>
            </a:r>
            <a:r>
              <a:rPr spc="-65" dirty="0">
                <a:solidFill>
                  <a:srgbClr val="544E39"/>
                </a:solidFill>
              </a:rPr>
              <a:t>Flow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648714" y="984503"/>
            <a:ext cx="5424170" cy="165100"/>
            <a:chOff x="2648714" y="984503"/>
            <a:chExt cx="5424170" cy="165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984503"/>
              <a:ext cx="5423900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66999" y="1066799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7497" y="1374187"/>
            <a:ext cx="5260088" cy="503872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0913" y="2722879"/>
            <a:ext cx="15735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</a:pPr>
            <a:r>
              <a:rPr sz="3600" b="1" spc="-105" dirty="0">
                <a:solidFill>
                  <a:srgbClr val="6F2F9F"/>
                </a:solidFill>
                <a:latin typeface="Cambria"/>
                <a:cs typeface="Cambria"/>
              </a:rPr>
              <a:t>Process </a:t>
            </a:r>
            <a:r>
              <a:rPr sz="3600" b="1" spc="-20" dirty="0">
                <a:solidFill>
                  <a:srgbClr val="6F2F9F"/>
                </a:solidFill>
                <a:latin typeface="Cambria"/>
                <a:cs typeface="Cambria"/>
              </a:rPr>
              <a:t>Flow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2630" y="378714"/>
            <a:ext cx="2613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>
                <a:solidFill>
                  <a:srgbClr val="544E39"/>
                </a:solidFill>
              </a:rPr>
              <a:t>Process</a:t>
            </a:r>
            <a:r>
              <a:rPr spc="-204" dirty="0">
                <a:solidFill>
                  <a:srgbClr val="544E39"/>
                </a:solidFill>
              </a:rPr>
              <a:t> </a:t>
            </a:r>
            <a:r>
              <a:rPr spc="-65" dirty="0">
                <a:solidFill>
                  <a:srgbClr val="544E39"/>
                </a:solidFill>
              </a:rPr>
              <a:t>Flow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648714" y="984503"/>
            <a:ext cx="5424170" cy="165100"/>
            <a:chOff x="2648714" y="984503"/>
            <a:chExt cx="5424170" cy="165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984503"/>
              <a:ext cx="5423900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66999" y="1066799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45440" y="1397254"/>
            <a:ext cx="7828915" cy="3914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2255" indent="-25082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SzPct val="95454"/>
              <a:buFont typeface="Wingdings"/>
              <a:buChar char=""/>
              <a:tabLst>
                <a:tab pos="262255" algn="l"/>
              </a:tabLst>
            </a:pP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Linear</a:t>
            </a:r>
            <a:r>
              <a:rPr sz="2200" spc="-6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process</a:t>
            </a:r>
            <a:r>
              <a:rPr sz="22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flow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executes</a:t>
            </a:r>
            <a:r>
              <a:rPr sz="2200" spc="-4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each</a:t>
            </a:r>
            <a:r>
              <a:rPr sz="2200" spc="-6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of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the</a:t>
            </a:r>
            <a:r>
              <a:rPr sz="2200" spc="-6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five</a:t>
            </a:r>
            <a:r>
              <a:rPr sz="2200" spc="-5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activities</a:t>
            </a:r>
            <a:r>
              <a:rPr sz="2200" spc="-7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Arial MT"/>
                <a:cs typeface="Arial MT"/>
              </a:rPr>
              <a:t>in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2200" spc="-10" dirty="0">
                <a:solidFill>
                  <a:srgbClr val="2E2B1F"/>
                </a:solidFill>
                <a:latin typeface="Arial MT"/>
                <a:cs typeface="Arial MT"/>
              </a:rPr>
              <a:t>sequence.</a:t>
            </a:r>
            <a:endParaRPr sz="2200">
              <a:latin typeface="Arial MT"/>
              <a:cs typeface="Arial MT"/>
            </a:endParaRPr>
          </a:p>
          <a:p>
            <a:pPr marL="241300" marR="5080" indent="-229870">
              <a:lnSpc>
                <a:spcPct val="100000"/>
              </a:lnSpc>
              <a:spcBef>
                <a:spcPts val="530"/>
              </a:spcBef>
              <a:buClr>
                <a:srgbClr val="A9A47B"/>
              </a:buClr>
              <a:buSzPct val="95454"/>
              <a:buFont typeface="Wingdings"/>
              <a:buChar char=""/>
              <a:tabLst>
                <a:tab pos="241300" algn="l"/>
                <a:tab pos="262255" algn="l"/>
              </a:tabLst>
            </a:pP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	An</a:t>
            </a:r>
            <a:r>
              <a:rPr sz="2200" spc="-5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iterative</a:t>
            </a:r>
            <a:r>
              <a:rPr sz="2200" spc="-5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process</a:t>
            </a:r>
            <a:r>
              <a:rPr sz="2200" spc="-2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flow</a:t>
            </a:r>
            <a:r>
              <a:rPr sz="2200" spc="-5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repeats</a:t>
            </a:r>
            <a:r>
              <a:rPr sz="2200" spc="-5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one</a:t>
            </a:r>
            <a:r>
              <a:rPr sz="2200" spc="-5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or</a:t>
            </a:r>
            <a:r>
              <a:rPr sz="2200" spc="-4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more</a:t>
            </a:r>
            <a:r>
              <a:rPr sz="2200" spc="-3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of</a:t>
            </a:r>
            <a:r>
              <a:rPr sz="2200" spc="-5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Arial MT"/>
                <a:cs typeface="Arial MT"/>
              </a:rPr>
              <a:t>activities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before</a:t>
            </a:r>
            <a:r>
              <a:rPr sz="2200" spc="-6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proceeding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to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the</a:t>
            </a:r>
            <a:r>
              <a:rPr sz="2200" spc="-5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Arial MT"/>
                <a:cs typeface="Arial MT"/>
              </a:rPr>
              <a:t>next.</a:t>
            </a:r>
            <a:endParaRPr sz="2200">
              <a:latin typeface="Arial MT"/>
              <a:cs typeface="Arial MT"/>
            </a:endParaRPr>
          </a:p>
          <a:p>
            <a:pPr marL="241300" marR="660400" indent="-229870">
              <a:lnSpc>
                <a:spcPct val="100000"/>
              </a:lnSpc>
              <a:spcBef>
                <a:spcPts val="530"/>
              </a:spcBef>
              <a:buClr>
                <a:srgbClr val="A9A47B"/>
              </a:buClr>
              <a:buSzPct val="95454"/>
              <a:buFont typeface="Wingdings"/>
              <a:buChar char=""/>
              <a:tabLst>
                <a:tab pos="241300" algn="l"/>
                <a:tab pos="262255" algn="l"/>
              </a:tabLst>
            </a:pP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	An</a:t>
            </a:r>
            <a:r>
              <a:rPr sz="2200" spc="-7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evolutionary</a:t>
            </a:r>
            <a:r>
              <a:rPr sz="2200" spc="-5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process</a:t>
            </a:r>
            <a:r>
              <a:rPr sz="2200" spc="-6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flow</a:t>
            </a:r>
            <a:r>
              <a:rPr sz="2200" spc="-7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executes</a:t>
            </a:r>
            <a:r>
              <a:rPr sz="2200" spc="-6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the</a:t>
            </a:r>
            <a:r>
              <a:rPr sz="2200" spc="-7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activities</a:t>
            </a:r>
            <a:r>
              <a:rPr sz="2200" spc="-8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in</a:t>
            </a:r>
            <a:r>
              <a:rPr sz="2200" spc="-7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E2B1F"/>
                </a:solidFill>
                <a:latin typeface="Arial MT"/>
                <a:cs typeface="Arial MT"/>
              </a:rPr>
              <a:t>a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circular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Arial MT"/>
                <a:cs typeface="Arial MT"/>
              </a:rPr>
              <a:t>manner.</a:t>
            </a:r>
            <a:r>
              <a:rPr sz="2200" spc="-4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Each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circuit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leads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to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a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more</a:t>
            </a:r>
            <a:r>
              <a:rPr sz="2200" spc="-3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Arial MT"/>
                <a:cs typeface="Arial MT"/>
              </a:rPr>
              <a:t>complete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version</a:t>
            </a:r>
            <a:r>
              <a:rPr sz="2200" spc="-4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of</a:t>
            </a:r>
            <a:r>
              <a:rPr sz="2200" spc="-5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Arial MT"/>
                <a:cs typeface="Arial MT"/>
              </a:rPr>
              <a:t>software.</a:t>
            </a:r>
            <a:endParaRPr sz="2200">
              <a:latin typeface="Arial MT"/>
              <a:cs typeface="Arial MT"/>
            </a:endParaRPr>
          </a:p>
          <a:p>
            <a:pPr marL="241300" marR="76835" indent="-229870">
              <a:lnSpc>
                <a:spcPct val="100000"/>
              </a:lnSpc>
              <a:spcBef>
                <a:spcPts val="530"/>
              </a:spcBef>
              <a:buClr>
                <a:srgbClr val="A9A47B"/>
              </a:buClr>
              <a:buSzPct val="95454"/>
              <a:buFont typeface="Wingdings"/>
              <a:buChar char=""/>
              <a:tabLst>
                <a:tab pos="241300" algn="l"/>
                <a:tab pos="262255" algn="l"/>
              </a:tabLst>
            </a:pP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	A</a:t>
            </a:r>
            <a:r>
              <a:rPr sz="2200" spc="-15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parallel</a:t>
            </a:r>
            <a:r>
              <a:rPr sz="2200" spc="-7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process</a:t>
            </a:r>
            <a:r>
              <a:rPr sz="2200" spc="-6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flow</a:t>
            </a:r>
            <a:r>
              <a:rPr sz="2200" spc="-6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executes</a:t>
            </a:r>
            <a:r>
              <a:rPr sz="2200" spc="-4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one</a:t>
            </a:r>
            <a:r>
              <a:rPr sz="2200" spc="-5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or</a:t>
            </a:r>
            <a:r>
              <a:rPr sz="2200" spc="-4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more</a:t>
            </a:r>
            <a:r>
              <a:rPr sz="2200" spc="-5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activities</a:t>
            </a:r>
            <a:r>
              <a:rPr sz="2200" spc="-5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Arial MT"/>
                <a:cs typeface="Arial MT"/>
              </a:rPr>
              <a:t>in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parallel</a:t>
            </a:r>
            <a:r>
              <a:rPr sz="2200" spc="-6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with</a:t>
            </a:r>
            <a:r>
              <a:rPr sz="2200" spc="-6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other</a:t>
            </a:r>
            <a:r>
              <a:rPr sz="2200" spc="-4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activities</a:t>
            </a:r>
            <a:r>
              <a:rPr sz="2200" spc="-6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(</a:t>
            </a:r>
            <a:r>
              <a:rPr sz="2200" spc="-6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modeling</a:t>
            </a:r>
            <a:r>
              <a:rPr sz="2200" spc="-4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for</a:t>
            </a:r>
            <a:r>
              <a:rPr sz="2200" spc="-4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one</a:t>
            </a:r>
            <a:r>
              <a:rPr sz="2200" spc="-5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aspect</a:t>
            </a:r>
            <a:r>
              <a:rPr sz="2200" spc="-5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of</a:t>
            </a:r>
            <a:r>
              <a:rPr sz="2200" spc="-5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Arial MT"/>
                <a:cs typeface="Arial MT"/>
              </a:rPr>
              <a:t>the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software</a:t>
            </a:r>
            <a:r>
              <a:rPr sz="2200" spc="-5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in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parallel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with</a:t>
            </a:r>
            <a:r>
              <a:rPr sz="2200" spc="-60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construction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of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another</a:t>
            </a:r>
            <a:r>
              <a:rPr sz="2200" spc="-5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aspect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E2B1F"/>
                </a:solidFill>
                <a:latin typeface="Arial MT"/>
                <a:cs typeface="Arial MT"/>
              </a:rPr>
              <a:t>of</a:t>
            </a:r>
            <a:r>
              <a:rPr sz="2200" spc="-6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Arial MT"/>
                <a:cs typeface="Arial MT"/>
              </a:rPr>
              <a:t>the </a:t>
            </a:r>
            <a:r>
              <a:rPr sz="2200" spc="-10" dirty="0">
                <a:solidFill>
                  <a:srgbClr val="2E2B1F"/>
                </a:solidFill>
                <a:latin typeface="Arial MT"/>
                <a:cs typeface="Arial MT"/>
              </a:rPr>
              <a:t>software.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949960">
              <a:lnSpc>
                <a:spcPct val="100000"/>
              </a:lnSpc>
              <a:spcBef>
                <a:spcPts val="100"/>
              </a:spcBef>
            </a:pPr>
            <a:r>
              <a:rPr spc="-110" dirty="0">
                <a:solidFill>
                  <a:srgbClr val="675E46"/>
                </a:solidFill>
              </a:rPr>
              <a:t>Identifying</a:t>
            </a:r>
            <a:r>
              <a:rPr spc="-185" dirty="0">
                <a:solidFill>
                  <a:srgbClr val="675E46"/>
                </a:solidFill>
              </a:rPr>
              <a:t> </a:t>
            </a:r>
            <a:r>
              <a:rPr dirty="0">
                <a:solidFill>
                  <a:srgbClr val="675E46"/>
                </a:solidFill>
              </a:rPr>
              <a:t>a</a:t>
            </a:r>
            <a:r>
              <a:rPr spc="-160" dirty="0">
                <a:solidFill>
                  <a:srgbClr val="675E46"/>
                </a:solidFill>
              </a:rPr>
              <a:t> </a:t>
            </a:r>
            <a:r>
              <a:rPr spc="-145" dirty="0">
                <a:solidFill>
                  <a:srgbClr val="675E46"/>
                </a:solidFill>
              </a:rPr>
              <a:t>Task</a:t>
            </a:r>
            <a:r>
              <a:rPr spc="-215" dirty="0">
                <a:solidFill>
                  <a:srgbClr val="675E46"/>
                </a:solidFill>
              </a:rPr>
              <a:t> </a:t>
            </a:r>
            <a:r>
              <a:rPr spc="-25" dirty="0">
                <a:solidFill>
                  <a:srgbClr val="675E46"/>
                </a:solidFill>
              </a:rPr>
              <a:t>Set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648714" y="984503"/>
            <a:ext cx="5424170" cy="165100"/>
            <a:chOff x="2648714" y="984503"/>
            <a:chExt cx="5424170" cy="165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984503"/>
              <a:ext cx="5423900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66999" y="1066799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31140" algn="just">
              <a:lnSpc>
                <a:spcPct val="100000"/>
              </a:lnSpc>
              <a:spcBef>
                <a:spcPts val="100"/>
              </a:spcBef>
              <a:buClr>
                <a:srgbClr val="A9A47B"/>
              </a:buClr>
              <a:buSzPct val="95833"/>
              <a:buFont typeface="Wingdings"/>
              <a:buChar char=""/>
              <a:tabLst>
                <a:tab pos="241300" algn="l"/>
                <a:tab pos="283210" algn="l"/>
              </a:tabLst>
            </a:pPr>
            <a:r>
              <a:rPr dirty="0"/>
              <a:t>	For</a:t>
            </a:r>
            <a:r>
              <a:rPr spc="10" dirty="0"/>
              <a:t> </a:t>
            </a:r>
            <a:r>
              <a:rPr dirty="0"/>
              <a:t>example,</a:t>
            </a:r>
            <a:r>
              <a:rPr spc="1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small</a:t>
            </a:r>
            <a:r>
              <a:rPr spc="20" dirty="0"/>
              <a:t> </a:t>
            </a:r>
            <a:r>
              <a:rPr dirty="0"/>
              <a:t>software</a:t>
            </a:r>
            <a:r>
              <a:rPr spc="15" dirty="0"/>
              <a:t> </a:t>
            </a:r>
            <a:r>
              <a:rPr dirty="0"/>
              <a:t>project</a:t>
            </a:r>
            <a:r>
              <a:rPr spc="20" dirty="0"/>
              <a:t> </a:t>
            </a:r>
            <a:r>
              <a:rPr dirty="0"/>
              <a:t>requested by</a:t>
            </a:r>
            <a:r>
              <a:rPr spc="10" dirty="0"/>
              <a:t> </a:t>
            </a:r>
            <a:r>
              <a:rPr dirty="0"/>
              <a:t>one</a:t>
            </a:r>
            <a:r>
              <a:rPr spc="15" dirty="0"/>
              <a:t> </a:t>
            </a:r>
            <a:r>
              <a:rPr spc="-10" dirty="0"/>
              <a:t>person </a:t>
            </a:r>
            <a:r>
              <a:rPr dirty="0"/>
              <a:t>with</a:t>
            </a:r>
            <a:r>
              <a:rPr spc="415" dirty="0"/>
              <a:t> </a:t>
            </a:r>
            <a:r>
              <a:rPr dirty="0"/>
              <a:t>simple</a:t>
            </a:r>
            <a:r>
              <a:rPr spc="425" dirty="0"/>
              <a:t> </a:t>
            </a:r>
            <a:r>
              <a:rPr dirty="0"/>
              <a:t>requirements,</a:t>
            </a:r>
            <a:r>
              <a:rPr spc="434" dirty="0"/>
              <a:t> </a:t>
            </a:r>
            <a:r>
              <a:rPr dirty="0"/>
              <a:t>the</a:t>
            </a:r>
            <a:r>
              <a:rPr spc="430" dirty="0"/>
              <a:t> </a:t>
            </a:r>
            <a:r>
              <a:rPr dirty="0"/>
              <a:t>communication</a:t>
            </a:r>
            <a:r>
              <a:rPr spc="405" dirty="0"/>
              <a:t> </a:t>
            </a:r>
            <a:r>
              <a:rPr dirty="0"/>
              <a:t>activity</a:t>
            </a:r>
            <a:r>
              <a:rPr spc="425" dirty="0"/>
              <a:t> </a:t>
            </a:r>
            <a:r>
              <a:rPr spc="-10" dirty="0"/>
              <a:t>might </a:t>
            </a:r>
            <a:r>
              <a:rPr dirty="0"/>
              <a:t>encompass</a:t>
            </a:r>
            <a:r>
              <a:rPr spc="350" dirty="0"/>
              <a:t> </a:t>
            </a:r>
            <a:r>
              <a:rPr dirty="0"/>
              <a:t>little</a:t>
            </a:r>
            <a:r>
              <a:rPr spc="345" dirty="0"/>
              <a:t> </a:t>
            </a:r>
            <a:r>
              <a:rPr dirty="0"/>
              <a:t>more</a:t>
            </a:r>
            <a:r>
              <a:rPr spc="350" dirty="0"/>
              <a:t> </a:t>
            </a:r>
            <a:r>
              <a:rPr dirty="0"/>
              <a:t>than</a:t>
            </a:r>
            <a:r>
              <a:rPr spc="350" dirty="0"/>
              <a:t> </a:t>
            </a:r>
            <a:r>
              <a:rPr dirty="0"/>
              <a:t>a</a:t>
            </a:r>
            <a:r>
              <a:rPr spc="350" dirty="0"/>
              <a:t> </a:t>
            </a:r>
            <a:r>
              <a:rPr dirty="0"/>
              <a:t>phone</a:t>
            </a:r>
            <a:r>
              <a:rPr spc="345" dirty="0"/>
              <a:t> </a:t>
            </a:r>
            <a:r>
              <a:rPr dirty="0"/>
              <a:t>all</a:t>
            </a:r>
            <a:r>
              <a:rPr spc="345" dirty="0"/>
              <a:t> </a:t>
            </a:r>
            <a:r>
              <a:rPr dirty="0"/>
              <a:t>with</a:t>
            </a:r>
            <a:r>
              <a:rPr spc="340" dirty="0"/>
              <a:t> </a:t>
            </a:r>
            <a:r>
              <a:rPr dirty="0"/>
              <a:t>the</a:t>
            </a:r>
            <a:r>
              <a:rPr spc="350" dirty="0"/>
              <a:t> </a:t>
            </a:r>
            <a:r>
              <a:rPr spc="-10" dirty="0"/>
              <a:t>stakeholder. </a:t>
            </a:r>
            <a:r>
              <a:rPr dirty="0"/>
              <a:t>Therefore,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only</a:t>
            </a:r>
            <a:r>
              <a:rPr spc="15" dirty="0"/>
              <a:t> </a:t>
            </a:r>
            <a:r>
              <a:rPr dirty="0"/>
              <a:t>necessary</a:t>
            </a:r>
            <a:r>
              <a:rPr spc="10" dirty="0"/>
              <a:t> </a:t>
            </a:r>
            <a:r>
              <a:rPr dirty="0"/>
              <a:t>action</a:t>
            </a:r>
            <a:r>
              <a:rPr spc="-5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phone</a:t>
            </a:r>
            <a:r>
              <a:rPr spc="10" dirty="0"/>
              <a:t> </a:t>
            </a:r>
            <a:r>
              <a:rPr dirty="0"/>
              <a:t>conversation,</a:t>
            </a:r>
            <a:r>
              <a:rPr spc="10" dirty="0"/>
              <a:t> </a:t>
            </a:r>
            <a:r>
              <a:rPr spc="-25" dirty="0"/>
              <a:t>the </a:t>
            </a:r>
            <a:r>
              <a:rPr dirty="0"/>
              <a:t>work</a:t>
            </a:r>
            <a:r>
              <a:rPr spc="-20" dirty="0"/>
              <a:t> </a:t>
            </a:r>
            <a:r>
              <a:rPr dirty="0"/>
              <a:t>tasks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dirty="0"/>
              <a:t>action</a:t>
            </a:r>
            <a:r>
              <a:rPr spc="-50" dirty="0"/>
              <a:t> </a:t>
            </a:r>
            <a:r>
              <a:rPr spc="-20" dirty="0"/>
              <a:t>are:</a:t>
            </a:r>
          </a:p>
          <a:p>
            <a:pPr marL="526415" indent="-513715" algn="just">
              <a:lnSpc>
                <a:spcPct val="100000"/>
              </a:lnSpc>
              <a:spcBef>
                <a:spcPts val="655"/>
              </a:spcBef>
              <a:buClr>
                <a:srgbClr val="A9A47B"/>
              </a:buClr>
              <a:buAutoNum type="arabicPeriod"/>
              <a:tabLst>
                <a:tab pos="526415" algn="l"/>
              </a:tabLst>
            </a:pPr>
            <a:r>
              <a:rPr sz="2800" b="1" i="1" dirty="0">
                <a:latin typeface="Times New Roman"/>
                <a:cs typeface="Times New Roman"/>
              </a:rPr>
              <a:t>Make</a:t>
            </a:r>
            <a:r>
              <a:rPr sz="2800" b="1" i="1" spc="-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contact</a:t>
            </a:r>
            <a:r>
              <a:rPr sz="2800" b="1" i="1" spc="-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with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stakeholder</a:t>
            </a:r>
            <a:r>
              <a:rPr sz="2800" b="1" i="1" spc="-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via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telephone.</a:t>
            </a:r>
            <a:endParaRPr sz="2800">
              <a:latin typeface="Times New Roman"/>
              <a:cs typeface="Times New Roman"/>
            </a:endParaRPr>
          </a:p>
          <a:p>
            <a:pPr marL="527050" indent="-514350" algn="just">
              <a:lnSpc>
                <a:spcPct val="100000"/>
              </a:lnSpc>
              <a:spcBef>
                <a:spcPts val="675"/>
              </a:spcBef>
              <a:buClr>
                <a:srgbClr val="A9A47B"/>
              </a:buClr>
              <a:buAutoNum type="arabicPeriod"/>
              <a:tabLst>
                <a:tab pos="52705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Discuss</a:t>
            </a:r>
            <a:r>
              <a:rPr sz="2800" b="1" i="1" spc="-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requirements</a:t>
            </a:r>
            <a:r>
              <a:rPr sz="2800" b="1" i="1" spc="-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take</a:t>
            </a:r>
            <a:r>
              <a:rPr sz="2800" b="1" i="1" spc="-50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notes.</a:t>
            </a:r>
            <a:endParaRPr sz="2800">
              <a:latin typeface="Times New Roman"/>
              <a:cs typeface="Times New Roman"/>
            </a:endParaRPr>
          </a:p>
          <a:p>
            <a:pPr marL="526415" marR="7620" indent="-514350" algn="just">
              <a:lnSpc>
                <a:spcPct val="100000"/>
              </a:lnSpc>
              <a:spcBef>
                <a:spcPts val="675"/>
              </a:spcBef>
              <a:buClr>
                <a:srgbClr val="A9A47B"/>
              </a:buClr>
              <a:buAutoNum type="arabicPeriod"/>
              <a:tabLst>
                <a:tab pos="527685" algn="l"/>
              </a:tabLst>
            </a:pPr>
            <a:r>
              <a:rPr sz="2800" b="1" i="1" dirty="0">
                <a:latin typeface="Times New Roman"/>
                <a:cs typeface="Times New Roman"/>
              </a:rPr>
              <a:t>Organize</a:t>
            </a:r>
            <a:r>
              <a:rPr sz="2800" b="1" i="1" spc="5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notes</a:t>
            </a:r>
            <a:r>
              <a:rPr sz="2800" b="1" i="1" spc="5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into</a:t>
            </a:r>
            <a:r>
              <a:rPr sz="2800" b="1" i="1" spc="5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5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brief</a:t>
            </a:r>
            <a:r>
              <a:rPr sz="2800" b="1" i="1" spc="56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written</a:t>
            </a:r>
            <a:r>
              <a:rPr sz="2800" b="1" i="1" spc="5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statement</a:t>
            </a:r>
            <a:r>
              <a:rPr sz="2800" b="1" i="1" spc="550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of 	</a:t>
            </a:r>
            <a:r>
              <a:rPr sz="2800" b="1" i="1" spc="-10" dirty="0">
                <a:latin typeface="Times New Roman"/>
                <a:cs typeface="Times New Roman"/>
              </a:rPr>
              <a:t>requirements.</a:t>
            </a:r>
            <a:endParaRPr sz="2800">
              <a:latin typeface="Times New Roman"/>
              <a:cs typeface="Times New Roman"/>
            </a:endParaRPr>
          </a:p>
          <a:p>
            <a:pPr marL="527050" indent="-514350" algn="just">
              <a:lnSpc>
                <a:spcPct val="100000"/>
              </a:lnSpc>
              <a:spcBef>
                <a:spcPts val="675"/>
              </a:spcBef>
              <a:buClr>
                <a:srgbClr val="A9A47B"/>
              </a:buClr>
              <a:buAutoNum type="arabicPeriod"/>
              <a:tabLst>
                <a:tab pos="527050" algn="l"/>
              </a:tabLst>
            </a:pPr>
            <a:r>
              <a:rPr sz="2800" b="1" i="1" spc="-10" dirty="0">
                <a:latin typeface="Times New Roman"/>
                <a:cs typeface="Times New Roman"/>
              </a:rPr>
              <a:t>E-</a:t>
            </a:r>
            <a:r>
              <a:rPr sz="2800" b="1" i="1" dirty="0">
                <a:latin typeface="Times New Roman"/>
                <a:cs typeface="Times New Roman"/>
              </a:rPr>
              <a:t>mail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stakeholder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for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review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approval.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3150" marR="5080" indent="-2331085">
              <a:lnSpc>
                <a:spcPct val="100000"/>
              </a:lnSpc>
              <a:spcBef>
                <a:spcPts val="100"/>
              </a:spcBef>
            </a:pPr>
            <a:r>
              <a:rPr spc="-105" dirty="0">
                <a:solidFill>
                  <a:srgbClr val="675E46"/>
                </a:solidFill>
              </a:rPr>
              <a:t>Example</a:t>
            </a:r>
            <a:r>
              <a:rPr spc="-225" dirty="0">
                <a:solidFill>
                  <a:srgbClr val="675E46"/>
                </a:solidFill>
              </a:rPr>
              <a:t> </a:t>
            </a:r>
            <a:r>
              <a:rPr spc="-55" dirty="0">
                <a:solidFill>
                  <a:srgbClr val="675E46"/>
                </a:solidFill>
              </a:rPr>
              <a:t>of</a:t>
            </a:r>
            <a:r>
              <a:rPr spc="-175" dirty="0">
                <a:solidFill>
                  <a:srgbClr val="675E46"/>
                </a:solidFill>
              </a:rPr>
              <a:t> </a:t>
            </a:r>
            <a:r>
              <a:rPr dirty="0">
                <a:solidFill>
                  <a:srgbClr val="675E46"/>
                </a:solidFill>
              </a:rPr>
              <a:t>a</a:t>
            </a:r>
            <a:r>
              <a:rPr spc="-185" dirty="0">
                <a:solidFill>
                  <a:srgbClr val="675E46"/>
                </a:solidFill>
              </a:rPr>
              <a:t> </a:t>
            </a:r>
            <a:r>
              <a:rPr spc="-150" dirty="0">
                <a:solidFill>
                  <a:srgbClr val="675E46"/>
                </a:solidFill>
              </a:rPr>
              <a:t>Task</a:t>
            </a:r>
            <a:r>
              <a:rPr spc="-225" dirty="0">
                <a:solidFill>
                  <a:srgbClr val="675E46"/>
                </a:solidFill>
              </a:rPr>
              <a:t> </a:t>
            </a:r>
            <a:r>
              <a:rPr spc="-80" dirty="0">
                <a:solidFill>
                  <a:srgbClr val="675E46"/>
                </a:solidFill>
              </a:rPr>
              <a:t>Set</a:t>
            </a:r>
            <a:r>
              <a:rPr spc="-175" dirty="0">
                <a:solidFill>
                  <a:srgbClr val="675E46"/>
                </a:solidFill>
              </a:rPr>
              <a:t> </a:t>
            </a:r>
            <a:r>
              <a:rPr spc="-75" dirty="0">
                <a:solidFill>
                  <a:srgbClr val="675E46"/>
                </a:solidFill>
              </a:rPr>
              <a:t>for</a:t>
            </a:r>
            <a:r>
              <a:rPr spc="-200" dirty="0">
                <a:solidFill>
                  <a:srgbClr val="675E46"/>
                </a:solidFill>
              </a:rPr>
              <a:t> </a:t>
            </a:r>
            <a:r>
              <a:rPr spc="-50" dirty="0">
                <a:solidFill>
                  <a:srgbClr val="675E46"/>
                </a:solidFill>
              </a:rPr>
              <a:t>Small </a:t>
            </a:r>
            <a:r>
              <a:rPr spc="-10" dirty="0">
                <a:solidFill>
                  <a:srgbClr val="675E46"/>
                </a:solidFill>
              </a:rPr>
              <a:t>Project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639567" y="1123188"/>
            <a:ext cx="5478780" cy="182880"/>
            <a:chOff x="2639567" y="1123188"/>
            <a:chExt cx="5478780" cy="182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9567" y="1123188"/>
              <a:ext cx="5478780" cy="1828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66999" y="1214628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8930" indent="-317500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SzPct val="96428"/>
              <a:buFont typeface="Wingdings"/>
              <a:buChar char=""/>
              <a:tabLst>
                <a:tab pos="328930" algn="l"/>
              </a:tabLst>
            </a:pPr>
            <a:r>
              <a:rPr sz="2800" dirty="0"/>
              <a:t>The</a:t>
            </a:r>
            <a:r>
              <a:rPr sz="2800" spc="35" dirty="0"/>
              <a:t> </a:t>
            </a:r>
            <a:r>
              <a:rPr sz="2800" dirty="0"/>
              <a:t>task</a:t>
            </a:r>
            <a:r>
              <a:rPr sz="2800" spc="50" dirty="0"/>
              <a:t> </a:t>
            </a:r>
            <a:r>
              <a:rPr sz="2800" dirty="0"/>
              <a:t>sets</a:t>
            </a:r>
            <a:r>
              <a:rPr sz="2800" spc="40" dirty="0"/>
              <a:t> </a:t>
            </a:r>
            <a:r>
              <a:rPr sz="2800" dirty="0"/>
              <a:t>for</a:t>
            </a:r>
            <a:r>
              <a:rPr sz="2800" spc="50" dirty="0"/>
              <a:t> </a:t>
            </a:r>
            <a:r>
              <a:rPr sz="2800" dirty="0"/>
              <a:t>Requirements</a:t>
            </a:r>
            <a:r>
              <a:rPr sz="2800" spc="50" dirty="0"/>
              <a:t> </a:t>
            </a:r>
            <a:r>
              <a:rPr sz="2800" dirty="0"/>
              <a:t>gathering</a:t>
            </a:r>
            <a:r>
              <a:rPr sz="2800" spc="50" dirty="0"/>
              <a:t> </a:t>
            </a:r>
            <a:r>
              <a:rPr sz="2800" dirty="0"/>
              <a:t>action</a:t>
            </a:r>
            <a:r>
              <a:rPr sz="2800" spc="50" dirty="0"/>
              <a:t> </a:t>
            </a:r>
            <a:r>
              <a:rPr sz="2800" dirty="0"/>
              <a:t>for</a:t>
            </a:r>
            <a:r>
              <a:rPr sz="2800" spc="45" dirty="0"/>
              <a:t> </a:t>
            </a:r>
            <a:r>
              <a:rPr sz="2800" spc="-50" dirty="0"/>
              <a:t>a</a:t>
            </a:r>
            <a:endParaRPr sz="2800"/>
          </a:p>
          <a:p>
            <a:pPr marL="241300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simple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dirty="0"/>
              <a:t>project</a:t>
            </a:r>
            <a:r>
              <a:rPr sz="2800" spc="-45" dirty="0"/>
              <a:t> </a:t>
            </a:r>
            <a:r>
              <a:rPr sz="2800" dirty="0"/>
              <a:t>may</a:t>
            </a:r>
            <a:r>
              <a:rPr sz="2800" spc="-15" dirty="0"/>
              <a:t> </a:t>
            </a:r>
            <a:r>
              <a:rPr sz="2800" spc="-10" dirty="0"/>
              <a:t>include:</a:t>
            </a:r>
            <a:endParaRPr sz="2800">
              <a:latin typeface="Times New Roman"/>
              <a:cs typeface="Times New Roman"/>
            </a:endParaRPr>
          </a:p>
          <a:p>
            <a:pPr marL="675640" lvl="1" indent="-457200">
              <a:lnSpc>
                <a:spcPct val="100000"/>
              </a:lnSpc>
              <a:spcBef>
                <a:spcPts val="675"/>
              </a:spcBef>
              <a:buClr>
                <a:srgbClr val="9CBDBC"/>
              </a:buClr>
              <a:buAutoNum type="arabicPeriod"/>
              <a:tabLst>
                <a:tab pos="675640" algn="l"/>
              </a:tabLst>
            </a:pP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Make</a:t>
            </a:r>
            <a:r>
              <a:rPr sz="28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800" b="1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list</a:t>
            </a:r>
            <a:r>
              <a:rPr sz="28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800" b="1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stakeholders</a:t>
            </a:r>
            <a:r>
              <a:rPr sz="2800" b="1" i="1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2800" b="1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800" b="1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project.</a:t>
            </a:r>
            <a:endParaRPr sz="2800">
              <a:latin typeface="Times New Roman"/>
              <a:cs typeface="Times New Roman"/>
            </a:endParaRPr>
          </a:p>
          <a:p>
            <a:pPr marL="675640" lvl="1" indent="-457200">
              <a:lnSpc>
                <a:spcPct val="100000"/>
              </a:lnSpc>
              <a:spcBef>
                <a:spcPts val="670"/>
              </a:spcBef>
              <a:buClr>
                <a:srgbClr val="9CBDBC"/>
              </a:buClr>
              <a:buAutoNum type="arabicPeriod"/>
              <a:tabLst>
                <a:tab pos="675640" algn="l"/>
              </a:tabLst>
            </a:pP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Invite</a:t>
            </a:r>
            <a:r>
              <a:rPr sz="28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all</a:t>
            </a:r>
            <a:r>
              <a:rPr sz="28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stakeholders</a:t>
            </a:r>
            <a:r>
              <a:rPr sz="2800" b="1" i="1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800" b="1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an</a:t>
            </a:r>
            <a:r>
              <a:rPr sz="2800" b="1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informal</a:t>
            </a:r>
            <a:r>
              <a:rPr sz="28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meeting.</a:t>
            </a:r>
            <a:endParaRPr sz="2800">
              <a:latin typeface="Times New Roman"/>
              <a:cs typeface="Times New Roman"/>
            </a:endParaRPr>
          </a:p>
          <a:p>
            <a:pPr marL="675640" marR="5080" lvl="1" indent="-457834">
              <a:lnSpc>
                <a:spcPct val="100000"/>
              </a:lnSpc>
              <a:spcBef>
                <a:spcPts val="675"/>
              </a:spcBef>
              <a:buClr>
                <a:srgbClr val="9CBDBC"/>
              </a:buClr>
              <a:buAutoNum type="arabicPeriod"/>
              <a:tabLst>
                <a:tab pos="675640" algn="l"/>
                <a:tab pos="1374775" algn="l"/>
                <a:tab pos="2211705" algn="l"/>
                <a:tab pos="4056379" algn="l"/>
                <a:tab pos="4479925" algn="l"/>
                <a:tab pos="5412740" algn="l"/>
                <a:tab pos="5737225" algn="l"/>
                <a:tab pos="6318250" algn="l"/>
                <a:tab pos="6760209" algn="l"/>
              </a:tabLst>
            </a:pPr>
            <a:r>
              <a:rPr sz="2800" b="1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Ask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800" b="1" i="1" spc="-20" dirty="0">
                <a:solidFill>
                  <a:srgbClr val="2E2B1F"/>
                </a:solidFill>
                <a:latin typeface="Times New Roman"/>
                <a:cs typeface="Times New Roman"/>
              </a:rPr>
              <a:t>each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8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stakeholder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800" b="1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800" b="1" i="1" spc="-20" dirty="0">
                <a:solidFill>
                  <a:srgbClr val="2E2B1F"/>
                </a:solidFill>
                <a:latin typeface="Times New Roman"/>
                <a:cs typeface="Times New Roman"/>
              </a:rPr>
              <a:t>make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800" b="1" i="1" spc="-5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800" b="1" i="1" spc="-20" dirty="0">
                <a:solidFill>
                  <a:srgbClr val="2E2B1F"/>
                </a:solidFill>
                <a:latin typeface="Times New Roman"/>
                <a:cs typeface="Times New Roman"/>
              </a:rPr>
              <a:t>list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800" b="1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8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features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800" b="1" i="1" spc="-7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functions</a:t>
            </a:r>
            <a:r>
              <a:rPr sz="2800" b="1" i="1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required.</a:t>
            </a:r>
            <a:endParaRPr sz="2800">
              <a:latin typeface="Times New Roman"/>
              <a:cs typeface="Times New Roman"/>
            </a:endParaRPr>
          </a:p>
          <a:p>
            <a:pPr marL="675640" lvl="1" indent="-457200">
              <a:lnSpc>
                <a:spcPct val="100000"/>
              </a:lnSpc>
              <a:spcBef>
                <a:spcPts val="670"/>
              </a:spcBef>
              <a:buClr>
                <a:srgbClr val="9CBDBC"/>
              </a:buClr>
              <a:buAutoNum type="arabicPeriod"/>
              <a:tabLst>
                <a:tab pos="675640" algn="l"/>
              </a:tabLst>
            </a:pP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Discuss</a:t>
            </a:r>
            <a:r>
              <a:rPr sz="28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requirements</a:t>
            </a:r>
            <a:r>
              <a:rPr sz="2800" b="1" i="1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8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build</a:t>
            </a:r>
            <a:r>
              <a:rPr sz="28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8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final</a:t>
            </a:r>
            <a:r>
              <a:rPr sz="2800" b="1" i="1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list.</a:t>
            </a:r>
            <a:endParaRPr sz="2800">
              <a:latin typeface="Times New Roman"/>
              <a:cs typeface="Times New Roman"/>
            </a:endParaRPr>
          </a:p>
          <a:p>
            <a:pPr marL="675640" lvl="1" indent="-457200">
              <a:lnSpc>
                <a:spcPct val="100000"/>
              </a:lnSpc>
              <a:spcBef>
                <a:spcPts val="675"/>
              </a:spcBef>
              <a:buClr>
                <a:srgbClr val="9CBDBC"/>
              </a:buClr>
              <a:buAutoNum type="arabicPeriod"/>
              <a:tabLst>
                <a:tab pos="675640" algn="l"/>
              </a:tabLst>
            </a:pP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Prioritize</a:t>
            </a:r>
            <a:r>
              <a:rPr sz="2800" b="1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requirements.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1180" y="5358136"/>
            <a:ext cx="293370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0"/>
              </a:lnSpc>
            </a:pPr>
            <a:r>
              <a:rPr sz="2800" b="1" i="1" spc="-25" dirty="0">
                <a:solidFill>
                  <a:srgbClr val="9CBDBC"/>
                </a:solidFill>
                <a:latin typeface="Times New Roman"/>
                <a:cs typeface="Times New Roman"/>
              </a:rPr>
              <a:t>6.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8684" y="5358136"/>
            <a:ext cx="3837940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0"/>
              </a:lnSpc>
            </a:pP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Note</a:t>
            </a:r>
            <a:r>
              <a:rPr sz="28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areas</a:t>
            </a:r>
            <a:r>
              <a:rPr sz="2800" b="1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800" b="1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uncertainty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78671" y="5740247"/>
            <a:ext cx="2578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5533" y="103708"/>
            <a:ext cx="493204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9520" marR="5080" indent="-1227455">
              <a:lnSpc>
                <a:spcPct val="100000"/>
              </a:lnSpc>
              <a:spcBef>
                <a:spcPts val="100"/>
              </a:spcBef>
            </a:pPr>
            <a:r>
              <a:rPr spc="-105" dirty="0">
                <a:solidFill>
                  <a:srgbClr val="675E46"/>
                </a:solidFill>
              </a:rPr>
              <a:t>Example</a:t>
            </a:r>
            <a:r>
              <a:rPr spc="-220" dirty="0">
                <a:solidFill>
                  <a:srgbClr val="675E46"/>
                </a:solidFill>
              </a:rPr>
              <a:t> </a:t>
            </a:r>
            <a:r>
              <a:rPr spc="-55" dirty="0">
                <a:solidFill>
                  <a:srgbClr val="675E46"/>
                </a:solidFill>
              </a:rPr>
              <a:t>of</a:t>
            </a:r>
            <a:r>
              <a:rPr spc="-180" dirty="0">
                <a:solidFill>
                  <a:srgbClr val="675E46"/>
                </a:solidFill>
              </a:rPr>
              <a:t> </a:t>
            </a:r>
            <a:r>
              <a:rPr dirty="0">
                <a:solidFill>
                  <a:srgbClr val="675E46"/>
                </a:solidFill>
              </a:rPr>
              <a:t>a</a:t>
            </a:r>
            <a:r>
              <a:rPr spc="-180" dirty="0">
                <a:solidFill>
                  <a:srgbClr val="675E46"/>
                </a:solidFill>
              </a:rPr>
              <a:t> </a:t>
            </a:r>
            <a:r>
              <a:rPr spc="-150" dirty="0">
                <a:solidFill>
                  <a:srgbClr val="675E46"/>
                </a:solidFill>
              </a:rPr>
              <a:t>Task</a:t>
            </a:r>
            <a:r>
              <a:rPr spc="-225" dirty="0">
                <a:solidFill>
                  <a:srgbClr val="675E46"/>
                </a:solidFill>
              </a:rPr>
              <a:t> </a:t>
            </a:r>
            <a:r>
              <a:rPr spc="-80" dirty="0">
                <a:solidFill>
                  <a:srgbClr val="675E46"/>
                </a:solidFill>
              </a:rPr>
              <a:t>Set</a:t>
            </a:r>
            <a:r>
              <a:rPr spc="-170" dirty="0">
                <a:solidFill>
                  <a:srgbClr val="675E46"/>
                </a:solidFill>
              </a:rPr>
              <a:t> </a:t>
            </a:r>
            <a:r>
              <a:rPr spc="-25" dirty="0">
                <a:solidFill>
                  <a:srgbClr val="675E46"/>
                </a:solidFill>
              </a:rPr>
              <a:t>for </a:t>
            </a:r>
            <a:r>
              <a:rPr dirty="0">
                <a:solidFill>
                  <a:srgbClr val="675E46"/>
                </a:solidFill>
              </a:rPr>
              <a:t>a</a:t>
            </a:r>
            <a:r>
              <a:rPr spc="-210" dirty="0">
                <a:solidFill>
                  <a:srgbClr val="675E46"/>
                </a:solidFill>
              </a:rPr>
              <a:t> </a:t>
            </a:r>
            <a:r>
              <a:rPr spc="-85" dirty="0">
                <a:solidFill>
                  <a:srgbClr val="675E46"/>
                </a:solidFill>
              </a:rPr>
              <a:t>big</a:t>
            </a:r>
            <a:r>
              <a:rPr spc="-190" dirty="0">
                <a:solidFill>
                  <a:srgbClr val="675E46"/>
                </a:solidFill>
              </a:rPr>
              <a:t> </a:t>
            </a:r>
            <a:r>
              <a:rPr spc="-10" dirty="0">
                <a:solidFill>
                  <a:srgbClr val="675E46"/>
                </a:solidFill>
              </a:rPr>
              <a:t>project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678671" y="5683097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39567" y="1203960"/>
            <a:ext cx="5478780" cy="182880"/>
            <a:chOff x="2639567" y="1203960"/>
            <a:chExt cx="5478780" cy="1828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9567" y="1203960"/>
              <a:ext cx="5478780" cy="1828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666999" y="1295400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45440" y="1395730"/>
            <a:ext cx="7782559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  <a:buClr>
                <a:srgbClr val="A9A47B"/>
              </a:buClr>
              <a:buFont typeface="Wingdings"/>
              <a:buChar char=""/>
              <a:tabLst>
                <a:tab pos="241300" algn="l"/>
              </a:tabLst>
            </a:pP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b="1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task</a:t>
            </a:r>
            <a:r>
              <a:rPr sz="2000" b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sets</a:t>
            </a:r>
            <a:r>
              <a:rPr sz="2000" b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2000" b="1" spc="-7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Requirements</a:t>
            </a:r>
            <a:r>
              <a:rPr sz="2000" b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gathering</a:t>
            </a:r>
            <a:r>
              <a:rPr sz="2000" b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action</a:t>
            </a:r>
            <a:r>
              <a:rPr sz="2000" b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2000" b="1" spc="-7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0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big</a:t>
            </a:r>
            <a:r>
              <a:rPr sz="20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project</a:t>
            </a:r>
            <a:r>
              <a:rPr sz="2000" b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2E2B1F"/>
                </a:solidFill>
                <a:latin typeface="Times New Roman"/>
                <a:cs typeface="Times New Roman"/>
              </a:rPr>
              <a:t>may </a:t>
            </a:r>
            <a:r>
              <a:rPr sz="20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include: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1180" y="2006625"/>
            <a:ext cx="7498715" cy="477520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55"/>
              </a:spcBef>
              <a:buClr>
                <a:srgbClr val="9CBDBC"/>
              </a:buClr>
              <a:buAutoNum type="arabicPeriod"/>
              <a:tabLst>
                <a:tab pos="469900" algn="l"/>
              </a:tabLst>
            </a:pP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Make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1900" b="1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list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1900" b="1" i="1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stakeholders</a:t>
            </a:r>
            <a:r>
              <a:rPr sz="19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1900" b="1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900" b="1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project.</a:t>
            </a:r>
            <a:endParaRPr sz="1900">
              <a:latin typeface="Times New Roman"/>
              <a:cs typeface="Times New Roman"/>
            </a:endParaRPr>
          </a:p>
          <a:p>
            <a:pPr marL="469900" marR="82550" indent="-457834">
              <a:lnSpc>
                <a:spcPct val="100000"/>
              </a:lnSpc>
              <a:spcBef>
                <a:spcPts val="455"/>
              </a:spcBef>
              <a:buClr>
                <a:srgbClr val="9CBDBC"/>
              </a:buClr>
              <a:buAutoNum type="arabicPeriod"/>
              <a:tabLst>
                <a:tab pos="469900" algn="l"/>
              </a:tabLst>
            </a:pP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Interview</a:t>
            </a:r>
            <a:r>
              <a:rPr sz="1900" b="1" i="1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each</a:t>
            </a:r>
            <a:r>
              <a:rPr sz="19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stakeholders</a:t>
            </a:r>
            <a:r>
              <a:rPr sz="1900" b="1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separately</a:t>
            </a:r>
            <a:r>
              <a:rPr sz="1900" b="1" i="1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determine</a:t>
            </a:r>
            <a:r>
              <a:rPr sz="19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overall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wants</a:t>
            </a:r>
            <a:r>
              <a:rPr sz="1900" b="1" i="1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and </a:t>
            </a:r>
            <a:r>
              <a:rPr sz="19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needs.</a:t>
            </a:r>
            <a:endParaRPr sz="1900">
              <a:latin typeface="Times New Roman"/>
              <a:cs typeface="Times New Roman"/>
            </a:endParaRPr>
          </a:p>
          <a:p>
            <a:pPr marL="469900" marR="5080" indent="-457834">
              <a:lnSpc>
                <a:spcPct val="100000"/>
              </a:lnSpc>
              <a:spcBef>
                <a:spcPts val="455"/>
              </a:spcBef>
              <a:buClr>
                <a:srgbClr val="9CBDBC"/>
              </a:buClr>
              <a:buAutoNum type="arabicPeriod"/>
              <a:tabLst>
                <a:tab pos="469900" algn="l"/>
              </a:tabLst>
            </a:pP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Build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preliminary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list</a:t>
            </a:r>
            <a:r>
              <a:rPr sz="1900" b="1" i="1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1900" b="1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functions</a:t>
            </a:r>
            <a:r>
              <a:rPr sz="1900" b="1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1900" b="1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features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based</a:t>
            </a:r>
            <a:r>
              <a:rPr sz="1900" b="1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on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stakeholder input.</a:t>
            </a:r>
            <a:endParaRPr sz="19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459"/>
              </a:spcBef>
              <a:buClr>
                <a:srgbClr val="9CBDBC"/>
              </a:buClr>
              <a:buAutoNum type="arabicPeriod"/>
              <a:tabLst>
                <a:tab pos="469900" algn="l"/>
              </a:tabLst>
            </a:pP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Schedule</a:t>
            </a:r>
            <a:r>
              <a:rPr sz="19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series</a:t>
            </a:r>
            <a:r>
              <a:rPr sz="1900" b="1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1900" b="1" i="1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facilitated</a:t>
            </a:r>
            <a:r>
              <a:rPr sz="1900" b="1" i="1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application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specification</a:t>
            </a:r>
            <a:r>
              <a:rPr sz="19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meetings.</a:t>
            </a:r>
            <a:endParaRPr sz="19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455"/>
              </a:spcBef>
              <a:buClr>
                <a:srgbClr val="9CBDBC"/>
              </a:buClr>
              <a:buAutoNum type="arabicPeriod"/>
              <a:tabLst>
                <a:tab pos="469900" algn="l"/>
              </a:tabLst>
            </a:pP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Conduct</a:t>
            </a:r>
            <a:r>
              <a:rPr sz="1900" b="1" i="1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meetings.</a:t>
            </a:r>
            <a:endParaRPr sz="19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455"/>
              </a:spcBef>
              <a:buClr>
                <a:srgbClr val="9CBDBC"/>
              </a:buClr>
              <a:buAutoNum type="arabicPeriod"/>
              <a:tabLst>
                <a:tab pos="469900" algn="l"/>
              </a:tabLst>
            </a:pP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Produce</a:t>
            </a:r>
            <a:r>
              <a:rPr sz="1900" b="1" i="1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informal</a:t>
            </a:r>
            <a:r>
              <a:rPr sz="1900" b="1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user</a:t>
            </a:r>
            <a:r>
              <a:rPr sz="19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scenarios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as</a:t>
            </a:r>
            <a:r>
              <a:rPr sz="19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part</a:t>
            </a:r>
            <a:r>
              <a:rPr sz="19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each</a:t>
            </a:r>
            <a:r>
              <a:rPr sz="19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meeting.</a:t>
            </a:r>
            <a:endParaRPr sz="19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459"/>
              </a:spcBef>
              <a:buClr>
                <a:srgbClr val="9CBDBC"/>
              </a:buClr>
              <a:buAutoNum type="arabicPeriod"/>
              <a:tabLst>
                <a:tab pos="469900" algn="l"/>
              </a:tabLst>
            </a:pP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Refine</a:t>
            </a:r>
            <a:r>
              <a:rPr sz="19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user</a:t>
            </a:r>
            <a:r>
              <a:rPr sz="1900" b="1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scenarios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based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on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stakeholder</a:t>
            </a:r>
            <a:r>
              <a:rPr sz="1900" b="1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feedback.</a:t>
            </a:r>
            <a:endParaRPr sz="19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455"/>
              </a:spcBef>
              <a:buClr>
                <a:srgbClr val="9CBDBC"/>
              </a:buClr>
              <a:buAutoNum type="arabicPeriod"/>
              <a:tabLst>
                <a:tab pos="469900" algn="l"/>
              </a:tabLst>
            </a:pP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Build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1900" b="1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revised</a:t>
            </a:r>
            <a:r>
              <a:rPr sz="1900" b="1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list</a:t>
            </a:r>
            <a:r>
              <a:rPr sz="19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1900" b="1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stakeholder</a:t>
            </a:r>
            <a:r>
              <a:rPr sz="1900" b="1" i="1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requirements.</a:t>
            </a:r>
            <a:endParaRPr sz="19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459"/>
              </a:spcBef>
              <a:buClr>
                <a:srgbClr val="9CBDBC"/>
              </a:buClr>
              <a:buAutoNum type="arabicPeriod"/>
              <a:tabLst>
                <a:tab pos="469900" algn="l"/>
              </a:tabLst>
            </a:pP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Use</a:t>
            </a:r>
            <a:r>
              <a:rPr sz="19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quality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function</a:t>
            </a:r>
            <a:r>
              <a:rPr sz="1900" b="1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deployment</a:t>
            </a:r>
            <a:r>
              <a:rPr sz="19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techniques</a:t>
            </a:r>
            <a:r>
              <a:rPr sz="1900" b="1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prioritize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requirements.</a:t>
            </a:r>
            <a:endParaRPr sz="19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455"/>
              </a:spcBef>
              <a:buClr>
                <a:srgbClr val="9CBDBC"/>
              </a:buClr>
              <a:buAutoNum type="arabicPeriod"/>
              <a:tabLst>
                <a:tab pos="469900" algn="l"/>
              </a:tabLst>
            </a:pP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Package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requirements</a:t>
            </a:r>
            <a:r>
              <a:rPr sz="1900" b="1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so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1900" b="1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they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can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delivered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incrementally.</a:t>
            </a:r>
            <a:endParaRPr sz="19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455"/>
              </a:spcBef>
              <a:buClr>
                <a:srgbClr val="9CBDBC"/>
              </a:buClr>
              <a:buAutoNum type="arabicPeriod"/>
              <a:tabLst>
                <a:tab pos="469900" algn="l"/>
              </a:tabLst>
            </a:pP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Note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constraints</a:t>
            </a:r>
            <a:r>
              <a:rPr sz="1900" b="1" i="1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1900" b="1" i="1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restrictions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will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placed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on</a:t>
            </a:r>
            <a:r>
              <a:rPr sz="1900" b="1" i="1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system.</a:t>
            </a:r>
            <a:endParaRPr sz="19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455"/>
              </a:spcBef>
              <a:buClr>
                <a:srgbClr val="9CBDBC"/>
              </a:buClr>
              <a:buAutoNum type="arabicPeriod"/>
              <a:tabLst>
                <a:tab pos="469900" algn="l"/>
              </a:tabLst>
            </a:pP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Discuss</a:t>
            </a:r>
            <a:r>
              <a:rPr sz="1900" b="1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methods</a:t>
            </a:r>
            <a:r>
              <a:rPr sz="19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1900" b="1" i="1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validating</a:t>
            </a:r>
            <a:r>
              <a:rPr sz="1900" b="1" i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900" b="1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900" b="1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system.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1402715">
              <a:lnSpc>
                <a:spcPct val="100000"/>
              </a:lnSpc>
              <a:spcBef>
                <a:spcPts val="100"/>
              </a:spcBef>
            </a:pPr>
            <a:r>
              <a:rPr spc="-110" dirty="0">
                <a:solidFill>
                  <a:srgbClr val="675E46"/>
                </a:solidFill>
              </a:rPr>
              <a:t>Process</a:t>
            </a:r>
            <a:r>
              <a:rPr spc="-204" dirty="0">
                <a:solidFill>
                  <a:srgbClr val="675E46"/>
                </a:solidFill>
              </a:rPr>
              <a:t> </a:t>
            </a:r>
            <a:r>
              <a:rPr spc="-90" dirty="0">
                <a:solidFill>
                  <a:srgbClr val="675E46"/>
                </a:solidFill>
              </a:rPr>
              <a:t>Patterns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678671" y="5683097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48714" y="1132332"/>
            <a:ext cx="5424170" cy="165100"/>
            <a:chOff x="2648714" y="1132332"/>
            <a:chExt cx="5424170" cy="16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1132332"/>
              <a:ext cx="5423900" cy="164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666999" y="1214628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45440" y="1307070"/>
            <a:ext cx="7395209" cy="30556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28930" indent="-317500">
              <a:lnSpc>
                <a:spcPct val="100000"/>
              </a:lnSpc>
              <a:spcBef>
                <a:spcPts val="434"/>
              </a:spcBef>
              <a:buClr>
                <a:srgbClr val="A9A47B"/>
              </a:buClr>
              <a:buSzPct val="96428"/>
              <a:buFont typeface="Wingdings"/>
              <a:buChar char=""/>
              <a:tabLst>
                <a:tab pos="328930" algn="l"/>
              </a:tabLst>
            </a:pP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800" spc="-1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849A09"/>
                </a:solidFill>
                <a:latin typeface="Times New Roman"/>
                <a:cs typeface="Times New Roman"/>
              </a:rPr>
              <a:t>process</a:t>
            </a:r>
            <a:r>
              <a:rPr sz="2800" i="1" spc="-140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2800" i="1" spc="-10" dirty="0">
                <a:solidFill>
                  <a:srgbClr val="849A09"/>
                </a:solidFill>
                <a:latin typeface="Times New Roman"/>
                <a:cs typeface="Times New Roman"/>
              </a:rPr>
              <a:t>pattern</a:t>
            </a:r>
            <a:endParaRPr sz="2800">
              <a:latin typeface="Times New Roman"/>
              <a:cs typeface="Times New Roman"/>
            </a:endParaRPr>
          </a:p>
          <a:p>
            <a:pPr marL="538480" marR="112395" lvl="1" indent="-229235">
              <a:lnSpc>
                <a:spcPts val="3030"/>
              </a:lnSpc>
              <a:spcBef>
                <a:spcPts val="710"/>
              </a:spcBef>
              <a:buClr>
                <a:srgbClr val="9CBDBC"/>
              </a:buClr>
              <a:buFont typeface="Wingdings"/>
              <a:buChar char=""/>
              <a:tabLst>
                <a:tab pos="538480" algn="l"/>
              </a:tabLst>
            </a:pP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describes</a:t>
            </a:r>
            <a:r>
              <a:rPr sz="2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process-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related</a:t>
            </a:r>
            <a:r>
              <a:rPr sz="2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problem</a:t>
            </a:r>
            <a:r>
              <a:rPr sz="28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2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2E2B1F"/>
                </a:solidFill>
                <a:latin typeface="Times New Roman"/>
                <a:cs typeface="Times New Roman"/>
              </a:rPr>
              <a:t>is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encountered</a:t>
            </a:r>
            <a:r>
              <a:rPr sz="2800" spc="-9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during</a:t>
            </a:r>
            <a:r>
              <a:rPr sz="2800" spc="-9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800" spc="-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r>
              <a:rPr sz="2800" spc="-10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work,</a:t>
            </a:r>
            <a:endParaRPr sz="2800">
              <a:latin typeface="Times New Roman"/>
              <a:cs typeface="Times New Roman"/>
            </a:endParaRPr>
          </a:p>
          <a:p>
            <a:pPr marL="537210" marR="5080" lvl="1" indent="-227965">
              <a:lnSpc>
                <a:spcPts val="3020"/>
              </a:lnSpc>
              <a:spcBef>
                <a:spcPts val="670"/>
              </a:spcBef>
              <a:buClr>
                <a:srgbClr val="9CBDBC"/>
              </a:buClr>
              <a:buFont typeface="Wingdings"/>
              <a:buChar char=""/>
              <a:tabLst>
                <a:tab pos="538480" algn="l"/>
              </a:tabLst>
            </a:pP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identifies</a:t>
            </a:r>
            <a:r>
              <a:rPr sz="28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8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environment</a:t>
            </a:r>
            <a:r>
              <a:rPr sz="28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2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which</a:t>
            </a:r>
            <a:r>
              <a:rPr sz="2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8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problem 	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has</a:t>
            </a:r>
            <a:r>
              <a:rPr sz="28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been</a:t>
            </a:r>
            <a:r>
              <a:rPr sz="28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encountered,</a:t>
            </a:r>
            <a:r>
              <a:rPr sz="28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endParaRPr sz="2800">
              <a:latin typeface="Times New Roman"/>
              <a:cs typeface="Times New Roman"/>
            </a:endParaRPr>
          </a:p>
          <a:p>
            <a:pPr marL="537210" marR="506730" lvl="1" indent="-227965">
              <a:lnSpc>
                <a:spcPts val="3020"/>
              </a:lnSpc>
              <a:spcBef>
                <a:spcPts val="685"/>
              </a:spcBef>
              <a:buClr>
                <a:srgbClr val="9CBDBC"/>
              </a:buClr>
              <a:buFont typeface="Wingdings"/>
              <a:buChar char=""/>
              <a:tabLst>
                <a:tab pos="538480" algn="l"/>
              </a:tabLst>
            </a:pP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suggests</a:t>
            </a:r>
            <a:r>
              <a:rPr sz="28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one</a:t>
            </a:r>
            <a:r>
              <a:rPr sz="28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or</a:t>
            </a:r>
            <a:r>
              <a:rPr sz="28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more</a:t>
            </a:r>
            <a:r>
              <a:rPr sz="28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proven</a:t>
            </a:r>
            <a:r>
              <a:rPr sz="28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solutions</a:t>
            </a:r>
            <a:r>
              <a:rPr sz="28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800" spc="-7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 	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problem.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1402715">
              <a:lnSpc>
                <a:spcPct val="100000"/>
              </a:lnSpc>
              <a:spcBef>
                <a:spcPts val="100"/>
              </a:spcBef>
            </a:pPr>
            <a:r>
              <a:rPr spc="-110" dirty="0">
                <a:solidFill>
                  <a:srgbClr val="675E46"/>
                </a:solidFill>
              </a:rPr>
              <a:t>Process</a:t>
            </a:r>
            <a:r>
              <a:rPr spc="-204" dirty="0">
                <a:solidFill>
                  <a:srgbClr val="675E46"/>
                </a:solidFill>
              </a:rPr>
              <a:t> </a:t>
            </a:r>
            <a:r>
              <a:rPr spc="-90" dirty="0">
                <a:solidFill>
                  <a:srgbClr val="675E46"/>
                </a:solidFill>
              </a:rPr>
              <a:t>Patterns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678671" y="5683097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48714" y="1132332"/>
            <a:ext cx="5424170" cy="165100"/>
            <a:chOff x="2648714" y="1132332"/>
            <a:chExt cx="5424170" cy="16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1132332"/>
              <a:ext cx="5423900" cy="164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666999" y="1214628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45440" y="1321395"/>
            <a:ext cx="7261225" cy="41979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04800" indent="-292100">
              <a:lnSpc>
                <a:spcPct val="100000"/>
              </a:lnSpc>
              <a:spcBef>
                <a:spcPts val="385"/>
              </a:spcBef>
              <a:buClr>
                <a:srgbClr val="A9A47B"/>
              </a:buClr>
              <a:buSzPct val="83333"/>
              <a:buFont typeface="Wingdings"/>
              <a:buChar char=""/>
              <a:tabLst>
                <a:tab pos="304800" algn="l"/>
              </a:tabLst>
            </a:pP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Template</a:t>
            </a:r>
            <a:r>
              <a:rPr sz="2400" spc="-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24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describing</a:t>
            </a:r>
            <a:r>
              <a:rPr sz="2400" spc="-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4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pattern:</a:t>
            </a:r>
            <a:endParaRPr sz="2400">
              <a:latin typeface="Times New Roman"/>
              <a:cs typeface="Times New Roman"/>
            </a:endParaRPr>
          </a:p>
          <a:p>
            <a:pPr marL="537845" lvl="1" indent="-227965">
              <a:lnSpc>
                <a:spcPct val="100000"/>
              </a:lnSpc>
              <a:spcBef>
                <a:spcPts val="285"/>
              </a:spcBef>
              <a:buClr>
                <a:srgbClr val="9CBDBC"/>
              </a:buClr>
              <a:buFont typeface="Wingdings"/>
              <a:buChar char=""/>
              <a:tabLst>
                <a:tab pos="537845" algn="l"/>
              </a:tabLst>
            </a:pPr>
            <a:r>
              <a:rPr sz="2400" b="1" i="1" dirty="0">
                <a:solidFill>
                  <a:srgbClr val="92D050"/>
                </a:solidFill>
                <a:latin typeface="Times New Roman"/>
                <a:cs typeface="Times New Roman"/>
              </a:rPr>
              <a:t>Pattern</a:t>
            </a:r>
            <a:r>
              <a:rPr sz="2400" b="1" i="1" spc="-25" dirty="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rgbClr val="92D050"/>
                </a:solidFill>
                <a:latin typeface="Times New Roman"/>
                <a:cs typeface="Times New Roman"/>
              </a:rPr>
              <a:t>Name:</a:t>
            </a:r>
            <a:endParaRPr sz="2400">
              <a:latin typeface="Times New Roman"/>
              <a:cs typeface="Times New Roman"/>
            </a:endParaRPr>
          </a:p>
          <a:p>
            <a:pPr marL="904240" marR="56515" lvl="2" indent="-228600">
              <a:lnSpc>
                <a:spcPts val="2160"/>
              </a:lnSpc>
              <a:spcBef>
                <a:spcPts val="535"/>
              </a:spcBef>
              <a:buClr>
                <a:srgbClr val="D2CA6C"/>
              </a:buClr>
              <a:buFont typeface="Wingdings"/>
              <a:buChar char=""/>
              <a:tabLst>
                <a:tab pos="904240" algn="l"/>
              </a:tabLst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pattern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name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given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meaningful</a:t>
            </a:r>
            <a:r>
              <a:rPr sz="20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name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describe</a:t>
            </a:r>
            <a:r>
              <a:rPr sz="20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its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function</a:t>
            </a:r>
            <a:r>
              <a:rPr sz="20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within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0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process.</a:t>
            </a:r>
            <a:endParaRPr sz="2000">
              <a:latin typeface="Times New Roman"/>
              <a:cs typeface="Times New Roman"/>
            </a:endParaRPr>
          </a:p>
          <a:p>
            <a:pPr marL="903605" lvl="2" indent="-227965">
              <a:lnSpc>
                <a:spcPct val="100000"/>
              </a:lnSpc>
              <a:spcBef>
                <a:spcPts val="204"/>
              </a:spcBef>
              <a:buClr>
                <a:srgbClr val="D2CA6C"/>
              </a:buClr>
              <a:buFont typeface="Wingdings"/>
              <a:buChar char=""/>
              <a:tabLst>
                <a:tab pos="903605" algn="l"/>
              </a:tabLst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Example: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Customer-Communication</a:t>
            </a:r>
            <a:endParaRPr sz="2000">
              <a:latin typeface="Times New Roman"/>
              <a:cs typeface="Times New Roman"/>
            </a:endParaRPr>
          </a:p>
          <a:p>
            <a:pPr marL="537845" lvl="1" indent="-227965">
              <a:lnSpc>
                <a:spcPct val="100000"/>
              </a:lnSpc>
              <a:spcBef>
                <a:spcPts val="275"/>
              </a:spcBef>
              <a:buClr>
                <a:srgbClr val="9CBDBC"/>
              </a:buClr>
              <a:buFont typeface="Wingdings"/>
              <a:buChar char=""/>
              <a:tabLst>
                <a:tab pos="537845" algn="l"/>
              </a:tabLst>
            </a:pPr>
            <a:r>
              <a:rPr sz="2400" b="1" i="1" spc="-10" dirty="0">
                <a:solidFill>
                  <a:srgbClr val="92D050"/>
                </a:solidFill>
                <a:latin typeface="Times New Roman"/>
                <a:cs typeface="Times New Roman"/>
              </a:rPr>
              <a:t>Intent:</a:t>
            </a:r>
            <a:endParaRPr sz="2400">
              <a:latin typeface="Times New Roman"/>
              <a:cs typeface="Times New Roman"/>
            </a:endParaRPr>
          </a:p>
          <a:p>
            <a:pPr marL="903605" lvl="2" indent="-227965">
              <a:lnSpc>
                <a:spcPct val="100000"/>
              </a:lnSpc>
              <a:spcBef>
                <a:spcPts val="254"/>
              </a:spcBef>
              <a:buClr>
                <a:srgbClr val="D2CA6C"/>
              </a:buClr>
              <a:buFont typeface="Wingdings"/>
              <a:buChar char=""/>
              <a:tabLst>
                <a:tab pos="903605" algn="l"/>
              </a:tabLst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objective</a:t>
            </a:r>
            <a:r>
              <a:rPr sz="20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this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pattern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describe</a:t>
            </a:r>
            <a:r>
              <a:rPr sz="20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briefly.</a:t>
            </a:r>
            <a:endParaRPr sz="2000">
              <a:latin typeface="Times New Roman"/>
              <a:cs typeface="Times New Roman"/>
            </a:endParaRPr>
          </a:p>
          <a:p>
            <a:pPr marL="904240" marR="5080" lvl="2" indent="-228600">
              <a:lnSpc>
                <a:spcPts val="2160"/>
              </a:lnSpc>
              <a:spcBef>
                <a:spcPts val="515"/>
              </a:spcBef>
              <a:buClr>
                <a:srgbClr val="D2CA6C"/>
              </a:buClr>
              <a:buFont typeface="Wingdings"/>
              <a:buChar char=""/>
              <a:tabLst>
                <a:tab pos="904240" algn="l"/>
              </a:tabLst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Example: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Intent</a:t>
            </a:r>
            <a:r>
              <a:rPr sz="20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communication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customer</a:t>
            </a:r>
            <a:r>
              <a:rPr sz="20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connection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establish</a:t>
            </a:r>
            <a:r>
              <a:rPr sz="20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with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customer.</a:t>
            </a:r>
            <a:endParaRPr sz="2000">
              <a:latin typeface="Times New Roman"/>
              <a:cs typeface="Times New Roman"/>
            </a:endParaRPr>
          </a:p>
          <a:p>
            <a:pPr marL="537845" lvl="1" indent="-227965">
              <a:lnSpc>
                <a:spcPct val="100000"/>
              </a:lnSpc>
              <a:spcBef>
                <a:spcPts val="240"/>
              </a:spcBef>
              <a:buClr>
                <a:srgbClr val="9CBDBC"/>
              </a:buClr>
              <a:buFont typeface="Wingdings"/>
              <a:buChar char=""/>
              <a:tabLst>
                <a:tab pos="537845" algn="l"/>
              </a:tabLst>
            </a:pPr>
            <a:r>
              <a:rPr sz="2400" b="1" i="1" spc="-10" dirty="0">
                <a:solidFill>
                  <a:srgbClr val="92D050"/>
                </a:solidFill>
                <a:latin typeface="Times New Roman"/>
                <a:cs typeface="Times New Roman"/>
              </a:rPr>
              <a:t>Type:</a:t>
            </a:r>
            <a:endParaRPr sz="2400">
              <a:latin typeface="Times New Roman"/>
              <a:cs typeface="Times New Roman"/>
            </a:endParaRPr>
          </a:p>
          <a:p>
            <a:pPr marL="903605" lvl="2" indent="-227965">
              <a:lnSpc>
                <a:spcPct val="100000"/>
              </a:lnSpc>
              <a:spcBef>
                <a:spcPts val="254"/>
              </a:spcBef>
              <a:buClr>
                <a:srgbClr val="D2CA6C"/>
              </a:buClr>
              <a:buFont typeface="Wingdings"/>
              <a:buChar char=""/>
              <a:tabLst>
                <a:tab pos="903605" algn="l"/>
              </a:tabLst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pattern</a:t>
            </a:r>
            <a:r>
              <a:rPr sz="20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type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specified.</a:t>
            </a:r>
            <a:endParaRPr sz="2000">
              <a:latin typeface="Times New Roman"/>
              <a:cs typeface="Times New Roman"/>
            </a:endParaRPr>
          </a:p>
          <a:p>
            <a:pPr marL="903605" lvl="2" indent="-227965">
              <a:lnSpc>
                <a:spcPct val="100000"/>
              </a:lnSpc>
              <a:spcBef>
                <a:spcPts val="240"/>
              </a:spcBef>
              <a:buClr>
                <a:srgbClr val="D2CA6C"/>
              </a:buClr>
              <a:buFont typeface="Wingdings"/>
              <a:buChar char=""/>
              <a:tabLst>
                <a:tab pos="903605" algn="l"/>
              </a:tabLst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Three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types: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2953" y="5493816"/>
            <a:ext cx="3947795" cy="10312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40"/>
              </a:spcBef>
              <a:buClr>
                <a:srgbClr val="94A29D"/>
              </a:buClr>
              <a:buFont typeface="Wingdings"/>
              <a:buChar char=""/>
              <a:tabLst>
                <a:tab pos="240665" algn="l"/>
              </a:tabLst>
            </a:pPr>
            <a:r>
              <a:rPr sz="2000" b="1" spc="-40" dirty="0">
                <a:solidFill>
                  <a:srgbClr val="2E2B1F"/>
                </a:solidFill>
                <a:latin typeface="Times New Roman"/>
                <a:cs typeface="Times New Roman"/>
              </a:rPr>
              <a:t>Task</a:t>
            </a:r>
            <a:r>
              <a:rPr sz="2000" b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Pattern</a:t>
            </a:r>
            <a:r>
              <a:rPr sz="2000" b="1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-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action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or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work</a:t>
            </a:r>
            <a:r>
              <a:rPr sz="20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task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lr>
                <a:srgbClr val="94A29D"/>
              </a:buClr>
              <a:buFont typeface="Wingdings"/>
              <a:buChar char=""/>
              <a:tabLst>
                <a:tab pos="240665" algn="l"/>
              </a:tabLst>
            </a:pP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Stage</a:t>
            </a:r>
            <a:r>
              <a:rPr sz="2000" b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Pattern</a:t>
            </a:r>
            <a:r>
              <a:rPr sz="2000" b="1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–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frame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activity.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lr>
                <a:srgbClr val="94A29D"/>
              </a:buClr>
              <a:buFont typeface="Wingdings"/>
              <a:buChar char=""/>
              <a:tabLst>
                <a:tab pos="240665" algn="l"/>
              </a:tabLst>
            </a:pP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Phase</a:t>
            </a:r>
            <a:r>
              <a:rPr sz="2000" b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Pattern</a:t>
            </a:r>
            <a:r>
              <a:rPr sz="2000" b="1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–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sequence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frame.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556260">
              <a:lnSpc>
                <a:spcPct val="100000"/>
              </a:lnSpc>
              <a:spcBef>
                <a:spcPts val="100"/>
              </a:spcBef>
            </a:pPr>
            <a:r>
              <a:rPr spc="-110" dirty="0">
                <a:solidFill>
                  <a:srgbClr val="675E46"/>
                </a:solidFill>
              </a:rPr>
              <a:t>Process</a:t>
            </a:r>
            <a:r>
              <a:rPr spc="-190" dirty="0">
                <a:solidFill>
                  <a:srgbClr val="675E46"/>
                </a:solidFill>
              </a:rPr>
              <a:t> </a:t>
            </a:r>
            <a:r>
              <a:rPr spc="-120" dirty="0">
                <a:solidFill>
                  <a:srgbClr val="675E46"/>
                </a:solidFill>
              </a:rPr>
              <a:t>Patterns</a:t>
            </a:r>
            <a:r>
              <a:rPr spc="-190" dirty="0">
                <a:solidFill>
                  <a:srgbClr val="675E46"/>
                </a:solidFill>
              </a:rPr>
              <a:t> </a:t>
            </a:r>
            <a:r>
              <a:rPr spc="-50" dirty="0">
                <a:solidFill>
                  <a:srgbClr val="675E46"/>
                </a:solidFill>
              </a:rPr>
              <a:t>(Cont…)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678671" y="5683097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48714" y="1132332"/>
            <a:ext cx="5424170" cy="165100"/>
            <a:chOff x="2648714" y="1132332"/>
            <a:chExt cx="5424170" cy="16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1132332"/>
              <a:ext cx="5423900" cy="164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666999" y="1214628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42619" y="1775774"/>
            <a:ext cx="7494270" cy="312801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5"/>
              </a:spcBef>
              <a:buClr>
                <a:srgbClr val="9CBDBC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b="1" i="1" dirty="0">
                <a:solidFill>
                  <a:srgbClr val="92D050"/>
                </a:solidFill>
                <a:latin typeface="Times New Roman"/>
                <a:cs typeface="Times New Roman"/>
              </a:rPr>
              <a:t>Initial</a:t>
            </a:r>
            <a:r>
              <a:rPr sz="2400" b="1" i="1" spc="-30" dirty="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rgbClr val="92D050"/>
                </a:solidFill>
                <a:latin typeface="Times New Roman"/>
                <a:cs typeface="Times New Roman"/>
              </a:rPr>
              <a:t>Context:</a:t>
            </a:r>
            <a:endParaRPr sz="2400">
              <a:latin typeface="Times New Roman"/>
              <a:cs typeface="Times New Roman"/>
            </a:endParaRPr>
          </a:p>
          <a:p>
            <a:pPr marL="606425" lvl="1" indent="-227965">
              <a:lnSpc>
                <a:spcPct val="100000"/>
              </a:lnSpc>
              <a:spcBef>
                <a:spcPts val="260"/>
              </a:spcBef>
              <a:buClr>
                <a:srgbClr val="D2CA6C"/>
              </a:buClr>
              <a:buFont typeface="Wingdings"/>
              <a:buChar char=""/>
              <a:tabLst>
                <a:tab pos="606425" algn="l"/>
              </a:tabLst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Describe</a:t>
            </a:r>
            <a:r>
              <a:rPr sz="20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which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pattern</a:t>
            </a:r>
            <a:r>
              <a:rPr sz="20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applies</a:t>
            </a:r>
            <a:endParaRPr sz="2000">
              <a:latin typeface="Times New Roman"/>
              <a:cs typeface="Times New Roman"/>
            </a:endParaRPr>
          </a:p>
          <a:p>
            <a:pPr marL="606425" lvl="1" indent="-227965">
              <a:lnSpc>
                <a:spcPct val="100000"/>
              </a:lnSpc>
              <a:spcBef>
                <a:spcPts val="240"/>
              </a:spcBef>
              <a:buClr>
                <a:srgbClr val="D2CA6C"/>
              </a:buClr>
              <a:buFont typeface="Wingdings"/>
              <a:buChar char=""/>
              <a:tabLst>
                <a:tab pos="606425" algn="l"/>
              </a:tabLst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Prior</a:t>
            </a:r>
            <a:r>
              <a:rPr sz="20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initialization</a:t>
            </a:r>
            <a:r>
              <a:rPr sz="20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pattern.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70"/>
              </a:spcBef>
              <a:buClr>
                <a:srgbClr val="9CBDBC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b="1" i="1" dirty="0">
                <a:solidFill>
                  <a:srgbClr val="92D050"/>
                </a:solidFill>
                <a:latin typeface="Times New Roman"/>
                <a:cs typeface="Times New Roman"/>
              </a:rPr>
              <a:t>Resulting</a:t>
            </a:r>
            <a:r>
              <a:rPr sz="2400" b="1" i="1" spc="-20" dirty="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rgbClr val="92D050"/>
                </a:solidFill>
                <a:latin typeface="Times New Roman"/>
                <a:cs typeface="Times New Roman"/>
              </a:rPr>
              <a:t>Context:</a:t>
            </a:r>
            <a:endParaRPr sz="2400">
              <a:latin typeface="Times New Roman"/>
              <a:cs typeface="Times New Roman"/>
            </a:endParaRPr>
          </a:p>
          <a:p>
            <a:pPr marL="607060" marR="5080" lvl="1" indent="-228600">
              <a:lnSpc>
                <a:spcPts val="2160"/>
              </a:lnSpc>
              <a:spcBef>
                <a:spcPts val="530"/>
              </a:spcBef>
              <a:buClr>
                <a:srgbClr val="D2CA6C"/>
              </a:buClr>
              <a:buFont typeface="Wingdings"/>
              <a:buChar char=""/>
              <a:tabLst>
                <a:tab pos="607060" algn="l"/>
              </a:tabLst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condition</a:t>
            </a:r>
            <a:r>
              <a:rPr sz="20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20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will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result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once</a:t>
            </a:r>
            <a:r>
              <a:rPr sz="20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pattern</a:t>
            </a:r>
            <a:r>
              <a:rPr sz="20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has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been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successfully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implementers</a:t>
            </a:r>
            <a:r>
              <a:rPr sz="20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20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describe.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lr>
                <a:srgbClr val="9CBDBC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b="1" i="1" dirty="0">
                <a:solidFill>
                  <a:srgbClr val="92D050"/>
                </a:solidFill>
                <a:latin typeface="Times New Roman"/>
                <a:cs typeface="Times New Roman"/>
              </a:rPr>
              <a:t>Related</a:t>
            </a:r>
            <a:r>
              <a:rPr sz="2400" b="1" i="1" spc="-25" dirty="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rgbClr val="92D050"/>
                </a:solidFill>
                <a:latin typeface="Times New Roman"/>
                <a:cs typeface="Times New Roman"/>
              </a:rPr>
              <a:t>Pattern:</a:t>
            </a:r>
            <a:endParaRPr sz="2400">
              <a:latin typeface="Times New Roman"/>
              <a:cs typeface="Times New Roman"/>
            </a:endParaRPr>
          </a:p>
          <a:p>
            <a:pPr marL="607060" marR="573405" lvl="1" indent="-228600">
              <a:lnSpc>
                <a:spcPts val="2160"/>
              </a:lnSpc>
              <a:spcBef>
                <a:spcPts val="530"/>
              </a:spcBef>
              <a:buClr>
                <a:srgbClr val="D2CA6C"/>
              </a:buClr>
              <a:buFont typeface="Wingdings"/>
              <a:buChar char=""/>
              <a:tabLst>
                <a:tab pos="607060" algn="l"/>
              </a:tabLst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000" spc="-11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list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pattern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directly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related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this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one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are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provided</a:t>
            </a:r>
            <a:r>
              <a:rPr sz="20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as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hierarchy</a:t>
            </a:r>
            <a:r>
              <a:rPr sz="20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on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some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other</a:t>
            </a:r>
            <a:r>
              <a:rPr sz="20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diagrammatic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form.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6973" y="378714"/>
            <a:ext cx="4746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>
                <a:solidFill>
                  <a:srgbClr val="675E46"/>
                </a:solidFill>
              </a:rPr>
              <a:t>Software</a:t>
            </a:r>
            <a:r>
              <a:rPr spc="-195" dirty="0">
                <a:solidFill>
                  <a:srgbClr val="675E46"/>
                </a:solidFill>
              </a:rPr>
              <a:t> </a:t>
            </a:r>
            <a:r>
              <a:rPr spc="-110" dirty="0">
                <a:solidFill>
                  <a:srgbClr val="675E46"/>
                </a:solidFill>
              </a:rPr>
              <a:t>Process</a:t>
            </a:r>
            <a:r>
              <a:rPr spc="-170" dirty="0">
                <a:solidFill>
                  <a:srgbClr val="675E46"/>
                </a:solidFill>
              </a:rPr>
              <a:t> </a:t>
            </a:r>
            <a:r>
              <a:rPr spc="-30" dirty="0">
                <a:solidFill>
                  <a:srgbClr val="675E46"/>
                </a:solidFill>
              </a:rPr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678671" y="5683097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17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48714" y="1132332"/>
            <a:ext cx="5424170" cy="165100"/>
            <a:chOff x="2648714" y="1132332"/>
            <a:chExt cx="5424170" cy="16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1132332"/>
              <a:ext cx="5423900" cy="164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666999" y="1214628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42619" y="1418589"/>
            <a:ext cx="7663180" cy="37820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1300" marR="5080" indent="-229235" algn="just">
              <a:lnSpc>
                <a:spcPts val="3460"/>
              </a:lnSpc>
              <a:spcBef>
                <a:spcPts val="535"/>
              </a:spcBef>
              <a:buClr>
                <a:srgbClr val="9CBDBC"/>
              </a:buClr>
              <a:buFont typeface="Wingdings"/>
              <a:buChar char=""/>
              <a:tabLst>
                <a:tab pos="241300" algn="l"/>
              </a:tabLst>
            </a:pP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3200" spc="2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3200" spc="4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3200" spc="4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describes</a:t>
            </a:r>
            <a:r>
              <a:rPr sz="3200" spc="4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3200" spc="4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6FC0"/>
                </a:solidFill>
                <a:latin typeface="Times New Roman"/>
                <a:cs typeface="Times New Roman"/>
              </a:rPr>
              <a:t>sequence</a:t>
            </a:r>
            <a:r>
              <a:rPr sz="3200" spc="4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6FC0"/>
                </a:solidFill>
                <a:latin typeface="Times New Roman"/>
                <a:cs typeface="Times New Roman"/>
              </a:rPr>
              <a:t>of </a:t>
            </a:r>
            <a:r>
              <a:rPr sz="3200" dirty="0">
                <a:solidFill>
                  <a:srgbClr val="006FC0"/>
                </a:solidFill>
                <a:latin typeface="Times New Roman"/>
                <a:cs typeface="Times New Roman"/>
              </a:rPr>
              <a:t>phases</a:t>
            </a:r>
            <a:r>
              <a:rPr sz="32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32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32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entire</a:t>
            </a:r>
            <a:r>
              <a:rPr sz="32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lifetime</a:t>
            </a:r>
            <a:r>
              <a:rPr sz="32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3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a </a:t>
            </a:r>
            <a:r>
              <a:rPr sz="32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product.</a:t>
            </a:r>
            <a:endParaRPr sz="3200">
              <a:latin typeface="Times New Roman"/>
              <a:cs typeface="Times New Roman"/>
            </a:endParaRPr>
          </a:p>
          <a:p>
            <a:pPr marL="241300" marR="8255" indent="-229235" algn="just">
              <a:lnSpc>
                <a:spcPts val="3460"/>
              </a:lnSpc>
              <a:spcBef>
                <a:spcPts val="765"/>
              </a:spcBef>
              <a:buClr>
                <a:srgbClr val="9CBDBC"/>
              </a:buClr>
              <a:buFont typeface="Wingdings"/>
              <a:buChar char=""/>
              <a:tabLst>
                <a:tab pos="241300" algn="l"/>
              </a:tabLst>
            </a:pP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It</a:t>
            </a:r>
            <a:r>
              <a:rPr sz="3200" spc="21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3200" spc="22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sometimes</a:t>
            </a:r>
            <a:r>
              <a:rPr sz="3200" spc="21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also</a:t>
            </a:r>
            <a:r>
              <a:rPr sz="3200" spc="21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called</a:t>
            </a:r>
            <a:r>
              <a:rPr sz="3200" spc="22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Product</a:t>
            </a:r>
            <a:r>
              <a:rPr sz="3200" spc="21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3200" spc="-20" dirty="0">
                <a:solidFill>
                  <a:srgbClr val="2E2B1F"/>
                </a:solidFill>
                <a:latin typeface="Times New Roman"/>
                <a:cs typeface="Times New Roman"/>
              </a:rPr>
              <a:t>Life </a:t>
            </a:r>
            <a:r>
              <a:rPr sz="3200" spc="-10" dirty="0">
                <a:solidFill>
                  <a:srgbClr val="2E2B1F"/>
                </a:solidFill>
                <a:latin typeface="Times New Roman"/>
                <a:cs typeface="Times New Roman"/>
              </a:rPr>
              <a:t>Cycle.</a:t>
            </a:r>
            <a:endParaRPr sz="3200">
              <a:latin typeface="Times New Roman"/>
              <a:cs typeface="Times New Roman"/>
            </a:endParaRPr>
          </a:p>
          <a:p>
            <a:pPr marL="241300" marR="5080" indent="-229235" algn="just">
              <a:lnSpc>
                <a:spcPct val="90000"/>
              </a:lnSpc>
              <a:spcBef>
                <a:spcPts val="710"/>
              </a:spcBef>
              <a:buClr>
                <a:srgbClr val="9CBDBC"/>
              </a:buClr>
              <a:buFont typeface="Wingdings"/>
              <a:buChar char=""/>
              <a:tabLst>
                <a:tab pos="241300" algn="l"/>
              </a:tabLst>
            </a:pP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This</a:t>
            </a:r>
            <a:r>
              <a:rPr sz="3200" spc="47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covers</a:t>
            </a:r>
            <a:r>
              <a:rPr sz="3200" spc="49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everything</a:t>
            </a:r>
            <a:r>
              <a:rPr sz="3200" spc="49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from</a:t>
            </a:r>
            <a:r>
              <a:rPr sz="3200" spc="49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3200" spc="49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3200" spc="-10" dirty="0">
                <a:solidFill>
                  <a:srgbClr val="2E2B1F"/>
                </a:solidFill>
                <a:latin typeface="Times New Roman"/>
                <a:cs typeface="Times New Roman"/>
              </a:rPr>
              <a:t>initial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commercial</a:t>
            </a:r>
            <a:r>
              <a:rPr sz="3200" spc="405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idea</a:t>
            </a:r>
            <a:r>
              <a:rPr sz="3200" spc="405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until</a:t>
            </a:r>
            <a:r>
              <a:rPr sz="3200" spc="400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3200" spc="400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final</a:t>
            </a:r>
            <a:r>
              <a:rPr sz="3200" spc="409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3200" spc="-25" dirty="0">
                <a:solidFill>
                  <a:srgbClr val="2E2B1F"/>
                </a:solidFill>
                <a:latin typeface="Times New Roman"/>
                <a:cs typeface="Times New Roman"/>
              </a:rPr>
              <a:t>de-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installation</a:t>
            </a:r>
            <a:r>
              <a:rPr sz="3200" spc="5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or</a:t>
            </a:r>
            <a:r>
              <a:rPr sz="3200" spc="5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disassembling</a:t>
            </a:r>
            <a:r>
              <a:rPr sz="3200" spc="5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3200" spc="5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3200" spc="5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product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after</a:t>
            </a:r>
            <a:r>
              <a:rPr sz="32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its </a:t>
            </a:r>
            <a:r>
              <a:rPr sz="3200" spc="-25" dirty="0">
                <a:solidFill>
                  <a:srgbClr val="2E2B1F"/>
                </a:solidFill>
                <a:latin typeface="Times New Roman"/>
                <a:cs typeface="Times New Roman"/>
              </a:rPr>
              <a:t>use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2619" y="5223459"/>
            <a:ext cx="2804795" cy="13919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1300" marR="5080" indent="-229235">
              <a:lnSpc>
                <a:spcPts val="3460"/>
              </a:lnSpc>
              <a:spcBef>
                <a:spcPts val="535"/>
              </a:spcBef>
              <a:buClr>
                <a:srgbClr val="9CBDBC"/>
              </a:buClr>
              <a:buFont typeface="Wingdings"/>
              <a:buChar char=""/>
              <a:tabLst>
                <a:tab pos="241300" algn="l"/>
                <a:tab pos="1393190" algn="l"/>
              </a:tabLst>
            </a:pPr>
            <a:r>
              <a:rPr sz="3200" spc="-25" dirty="0">
                <a:solidFill>
                  <a:srgbClr val="2E2B1F"/>
                </a:solidFill>
                <a:latin typeface="Times New Roman"/>
                <a:cs typeface="Times New Roman"/>
              </a:rPr>
              <a:t>All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2E2B1F"/>
                </a:solidFill>
                <a:latin typeface="Times New Roman"/>
                <a:cs typeface="Times New Roman"/>
              </a:rPr>
              <a:t>software accommodate activities.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88207" y="5223459"/>
            <a:ext cx="4615815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indent="365760">
              <a:lnSpc>
                <a:spcPts val="3460"/>
              </a:lnSpc>
              <a:spcBef>
                <a:spcPts val="535"/>
              </a:spcBef>
              <a:tabLst>
                <a:tab pos="1065530" algn="l"/>
                <a:tab pos="2230120" algn="l"/>
                <a:tab pos="2820035" algn="l"/>
                <a:tab pos="4036060" algn="l"/>
              </a:tabLst>
            </a:pPr>
            <a:r>
              <a:rPr sz="32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2E2B1F"/>
                </a:solidFill>
                <a:latin typeface="Times New Roman"/>
                <a:cs typeface="Times New Roman"/>
              </a:rPr>
              <a:t>models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2E2B1F"/>
                </a:solidFill>
                <a:latin typeface="Times New Roman"/>
                <a:cs typeface="Times New Roman"/>
              </a:rPr>
              <a:t>can the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2E2B1F"/>
                </a:solidFill>
                <a:latin typeface="Times New Roman"/>
                <a:cs typeface="Times New Roman"/>
              </a:rPr>
              <a:t>generic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2E2B1F"/>
                </a:solidFill>
                <a:latin typeface="Times New Roman"/>
                <a:cs typeface="Times New Roman"/>
              </a:rPr>
              <a:t>framework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8498" y="378714"/>
            <a:ext cx="3204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>
                <a:solidFill>
                  <a:srgbClr val="675E46"/>
                </a:solidFill>
              </a:rPr>
              <a:t>Waterfall</a:t>
            </a:r>
            <a:r>
              <a:rPr spc="-195" dirty="0">
                <a:solidFill>
                  <a:srgbClr val="675E46"/>
                </a:solidFill>
              </a:rPr>
              <a:t> </a:t>
            </a:r>
            <a:r>
              <a:rPr spc="-50" dirty="0">
                <a:solidFill>
                  <a:srgbClr val="675E46"/>
                </a:solidFill>
              </a:rPr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52400" y="1132332"/>
            <a:ext cx="8153400" cy="5153025"/>
            <a:chOff x="152400" y="1132332"/>
            <a:chExt cx="8153400" cy="51530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1132332"/>
              <a:ext cx="5423900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67000" y="1214628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1295400"/>
              <a:ext cx="8153400" cy="4989406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</a:pPr>
            <a:r>
              <a:rPr spc="-130" dirty="0">
                <a:solidFill>
                  <a:srgbClr val="675E46"/>
                </a:solidFill>
              </a:rPr>
              <a:t>Waterfall</a:t>
            </a:r>
            <a:r>
              <a:rPr spc="-204" dirty="0">
                <a:solidFill>
                  <a:srgbClr val="675E46"/>
                </a:solidFill>
              </a:rPr>
              <a:t> </a:t>
            </a:r>
            <a:r>
              <a:rPr spc="-105" dirty="0">
                <a:solidFill>
                  <a:srgbClr val="675E46"/>
                </a:solidFill>
              </a:rPr>
              <a:t>Model</a:t>
            </a:r>
            <a:r>
              <a:rPr spc="-160" dirty="0">
                <a:solidFill>
                  <a:srgbClr val="675E46"/>
                </a:solidFill>
              </a:rPr>
              <a:t> </a:t>
            </a:r>
            <a:r>
              <a:rPr spc="-55" dirty="0">
                <a:solidFill>
                  <a:srgbClr val="675E46"/>
                </a:solidFill>
              </a:rPr>
              <a:t>(Cont..)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648714" y="1132332"/>
            <a:ext cx="5424170" cy="165100"/>
            <a:chOff x="2648714" y="1132332"/>
            <a:chExt cx="5424170" cy="165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1132332"/>
              <a:ext cx="5423900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66999" y="1214628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0029" marR="5715" indent="-227329" algn="just">
              <a:lnSpc>
                <a:spcPct val="100000"/>
              </a:lnSpc>
              <a:spcBef>
                <a:spcPts val="100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25" dirty="0"/>
              <a:t> </a:t>
            </a:r>
            <a:r>
              <a:rPr i="1" dirty="0">
                <a:solidFill>
                  <a:srgbClr val="006FC0"/>
                </a:solidFill>
                <a:latin typeface="Times New Roman"/>
                <a:cs typeface="Times New Roman"/>
              </a:rPr>
              <a:t>first</a:t>
            </a:r>
            <a:r>
              <a:rPr i="1" spc="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i="1" dirty="0">
                <a:solidFill>
                  <a:srgbClr val="006FC0"/>
                </a:solidFill>
                <a:latin typeface="Times New Roman"/>
                <a:cs typeface="Times New Roman"/>
              </a:rPr>
              <a:t>published</a:t>
            </a:r>
            <a:r>
              <a:rPr i="1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i="1" dirty="0">
                <a:solidFill>
                  <a:srgbClr val="006FC0"/>
                </a:solidFill>
                <a:latin typeface="Times New Roman"/>
                <a:cs typeface="Times New Roman"/>
              </a:rPr>
              <a:t>model</a:t>
            </a:r>
            <a:r>
              <a:rPr i="1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software</a:t>
            </a:r>
            <a:r>
              <a:rPr spc="20" dirty="0"/>
              <a:t> </a:t>
            </a:r>
            <a:r>
              <a:rPr dirty="0"/>
              <a:t>development</a:t>
            </a:r>
            <a:r>
              <a:rPr spc="35" dirty="0"/>
              <a:t> </a:t>
            </a:r>
            <a:r>
              <a:rPr spc="-10" dirty="0"/>
              <a:t>process 	</a:t>
            </a:r>
            <a:r>
              <a:rPr dirty="0"/>
              <a:t>was</a:t>
            </a:r>
            <a:r>
              <a:rPr spc="220" dirty="0"/>
              <a:t> </a:t>
            </a:r>
            <a:r>
              <a:rPr dirty="0"/>
              <a:t>derived</a:t>
            </a:r>
            <a:r>
              <a:rPr spc="220" dirty="0"/>
              <a:t> </a:t>
            </a:r>
            <a:r>
              <a:rPr dirty="0"/>
              <a:t>from</a:t>
            </a:r>
            <a:r>
              <a:rPr spc="220" dirty="0"/>
              <a:t> </a:t>
            </a:r>
            <a:r>
              <a:rPr dirty="0"/>
              <a:t>more</a:t>
            </a:r>
            <a:r>
              <a:rPr spc="245" dirty="0"/>
              <a:t> </a:t>
            </a:r>
            <a:r>
              <a:rPr dirty="0"/>
              <a:t>general</a:t>
            </a:r>
            <a:r>
              <a:rPr spc="235" dirty="0"/>
              <a:t> </a:t>
            </a:r>
            <a:r>
              <a:rPr dirty="0"/>
              <a:t>system</a:t>
            </a:r>
            <a:r>
              <a:rPr spc="195" dirty="0"/>
              <a:t> </a:t>
            </a:r>
            <a:r>
              <a:rPr dirty="0"/>
              <a:t>engineering</a:t>
            </a:r>
            <a:r>
              <a:rPr spc="229" dirty="0"/>
              <a:t> </a:t>
            </a:r>
            <a:r>
              <a:rPr spc="-10" dirty="0"/>
              <a:t>processes 	</a:t>
            </a:r>
            <a:r>
              <a:rPr dirty="0"/>
              <a:t>(Royce,</a:t>
            </a:r>
            <a:r>
              <a:rPr spc="-5" dirty="0"/>
              <a:t> </a:t>
            </a:r>
            <a:r>
              <a:rPr spc="-10" dirty="0"/>
              <a:t>1970).</a:t>
            </a:r>
          </a:p>
          <a:p>
            <a:pPr marL="240029" marR="8890" indent="-227329" algn="just">
              <a:lnSpc>
                <a:spcPct val="100000"/>
              </a:lnSpc>
              <a:spcBef>
                <a:spcPts val="580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</a:tabLst>
            </a:pPr>
            <a:r>
              <a:rPr dirty="0"/>
              <a:t>This</a:t>
            </a:r>
            <a:r>
              <a:rPr spc="165" dirty="0"/>
              <a:t> </a:t>
            </a:r>
            <a:r>
              <a:rPr dirty="0"/>
              <a:t>model</a:t>
            </a:r>
            <a:r>
              <a:rPr spc="180" dirty="0"/>
              <a:t> </a:t>
            </a:r>
            <a:r>
              <a:rPr dirty="0"/>
              <a:t>is</a:t>
            </a:r>
            <a:r>
              <a:rPr spc="165" dirty="0"/>
              <a:t> </a:t>
            </a:r>
            <a:r>
              <a:rPr dirty="0"/>
              <a:t>known</a:t>
            </a:r>
            <a:r>
              <a:rPr spc="165" dirty="0"/>
              <a:t> </a:t>
            </a:r>
            <a:r>
              <a:rPr dirty="0"/>
              <a:t>as</a:t>
            </a:r>
            <a:r>
              <a:rPr spc="165" dirty="0"/>
              <a:t> </a:t>
            </a:r>
            <a:r>
              <a:rPr dirty="0"/>
              <a:t>the</a:t>
            </a:r>
            <a:r>
              <a:rPr spc="180" dirty="0"/>
              <a:t> </a:t>
            </a:r>
            <a:r>
              <a:rPr dirty="0"/>
              <a:t>‘</a:t>
            </a:r>
            <a:r>
              <a:rPr i="1" dirty="0">
                <a:solidFill>
                  <a:srgbClr val="006FC0"/>
                </a:solidFill>
                <a:latin typeface="Times New Roman"/>
                <a:cs typeface="Times New Roman"/>
              </a:rPr>
              <a:t>waterfall</a:t>
            </a:r>
            <a:r>
              <a:rPr i="1" spc="17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i="1" dirty="0">
                <a:solidFill>
                  <a:srgbClr val="006FC0"/>
                </a:solidFill>
                <a:latin typeface="Times New Roman"/>
                <a:cs typeface="Times New Roman"/>
              </a:rPr>
              <a:t>model</a:t>
            </a:r>
            <a:r>
              <a:rPr dirty="0"/>
              <a:t>’</a:t>
            </a:r>
            <a:r>
              <a:rPr spc="-5" dirty="0"/>
              <a:t> </a:t>
            </a:r>
            <a:r>
              <a:rPr dirty="0"/>
              <a:t>or</a:t>
            </a:r>
            <a:r>
              <a:rPr spc="175" dirty="0"/>
              <a:t> </a:t>
            </a:r>
            <a:r>
              <a:rPr dirty="0"/>
              <a:t>software</a:t>
            </a:r>
            <a:r>
              <a:rPr spc="170" dirty="0"/>
              <a:t> </a:t>
            </a:r>
            <a:r>
              <a:rPr spc="-20" dirty="0"/>
              <a:t>life 	</a:t>
            </a:r>
            <a:r>
              <a:rPr spc="-10" dirty="0"/>
              <a:t>cycle</a:t>
            </a:r>
          </a:p>
          <a:p>
            <a:pPr marL="240029" marR="5080" indent="-227329" algn="just">
              <a:lnSpc>
                <a:spcPct val="100000"/>
              </a:lnSpc>
              <a:spcBef>
                <a:spcPts val="57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</a:tabLst>
            </a:pPr>
            <a:r>
              <a:rPr i="1" dirty="0">
                <a:latin typeface="Times New Roman"/>
                <a:cs typeface="Times New Roman"/>
              </a:rPr>
              <a:t>The</a:t>
            </a:r>
            <a:r>
              <a:rPr i="1" spc="195" dirty="0">
                <a:latin typeface="Times New Roman"/>
                <a:cs typeface="Times New Roman"/>
              </a:rPr>
              <a:t>  </a:t>
            </a:r>
            <a:r>
              <a:rPr i="1" dirty="0">
                <a:latin typeface="Times New Roman"/>
                <a:cs typeface="Times New Roman"/>
              </a:rPr>
              <a:t>waterfall</a:t>
            </a:r>
            <a:r>
              <a:rPr i="1" spc="195" dirty="0">
                <a:latin typeface="Times New Roman"/>
                <a:cs typeface="Times New Roman"/>
              </a:rPr>
              <a:t>  </a:t>
            </a:r>
            <a:r>
              <a:rPr i="1" dirty="0">
                <a:latin typeface="Times New Roman"/>
                <a:cs typeface="Times New Roman"/>
              </a:rPr>
              <a:t>model</a:t>
            </a:r>
            <a:r>
              <a:rPr i="1" spc="190" dirty="0">
                <a:latin typeface="Times New Roman"/>
                <a:cs typeface="Times New Roman"/>
              </a:rPr>
              <a:t>  </a:t>
            </a:r>
            <a:r>
              <a:rPr dirty="0"/>
              <a:t>This</a:t>
            </a:r>
            <a:r>
              <a:rPr spc="195" dirty="0"/>
              <a:t>  </a:t>
            </a:r>
            <a:r>
              <a:rPr dirty="0"/>
              <a:t>takes</a:t>
            </a:r>
            <a:r>
              <a:rPr spc="195" dirty="0"/>
              <a:t>  </a:t>
            </a:r>
            <a:r>
              <a:rPr dirty="0"/>
              <a:t>the</a:t>
            </a:r>
            <a:r>
              <a:rPr spc="200" dirty="0"/>
              <a:t>  </a:t>
            </a:r>
            <a:r>
              <a:rPr dirty="0"/>
              <a:t>fundamental</a:t>
            </a:r>
            <a:r>
              <a:rPr spc="204" dirty="0"/>
              <a:t>  </a:t>
            </a:r>
            <a:r>
              <a:rPr spc="-10" dirty="0"/>
              <a:t>process 	</a:t>
            </a:r>
            <a:r>
              <a:rPr dirty="0"/>
              <a:t>activities</a:t>
            </a:r>
            <a:r>
              <a:rPr spc="445" dirty="0"/>
              <a:t>  </a:t>
            </a:r>
            <a:r>
              <a:rPr dirty="0"/>
              <a:t>of</a:t>
            </a:r>
            <a:r>
              <a:rPr spc="440" dirty="0"/>
              <a:t>  </a:t>
            </a:r>
            <a:r>
              <a:rPr dirty="0"/>
              <a:t>specification,</a:t>
            </a:r>
            <a:r>
              <a:rPr spc="445" dirty="0"/>
              <a:t>  </a:t>
            </a:r>
            <a:r>
              <a:rPr dirty="0"/>
              <a:t>development,</a:t>
            </a:r>
            <a:r>
              <a:rPr spc="445" dirty="0"/>
              <a:t>  </a:t>
            </a:r>
            <a:r>
              <a:rPr dirty="0"/>
              <a:t>validation,</a:t>
            </a:r>
            <a:r>
              <a:rPr spc="445" dirty="0"/>
              <a:t>  </a:t>
            </a:r>
            <a:r>
              <a:rPr spc="-25" dirty="0"/>
              <a:t>and 	</a:t>
            </a:r>
            <a:r>
              <a:rPr dirty="0"/>
              <a:t>evolution</a:t>
            </a:r>
            <a:r>
              <a:rPr spc="105" dirty="0"/>
              <a:t> </a:t>
            </a:r>
            <a:r>
              <a:rPr dirty="0"/>
              <a:t>and</a:t>
            </a:r>
            <a:r>
              <a:rPr spc="100" dirty="0"/>
              <a:t> </a:t>
            </a:r>
            <a:r>
              <a:rPr dirty="0"/>
              <a:t>represents</a:t>
            </a:r>
            <a:r>
              <a:rPr spc="110" dirty="0"/>
              <a:t> </a:t>
            </a:r>
            <a:r>
              <a:rPr dirty="0"/>
              <a:t>them</a:t>
            </a:r>
            <a:r>
              <a:rPr spc="90" dirty="0"/>
              <a:t> </a:t>
            </a:r>
            <a:r>
              <a:rPr dirty="0"/>
              <a:t>as</a:t>
            </a:r>
            <a:r>
              <a:rPr spc="100" dirty="0"/>
              <a:t> </a:t>
            </a:r>
            <a:r>
              <a:rPr dirty="0"/>
              <a:t>separate</a:t>
            </a:r>
            <a:r>
              <a:rPr spc="100" dirty="0"/>
              <a:t> </a:t>
            </a:r>
            <a:r>
              <a:rPr dirty="0"/>
              <a:t>process</a:t>
            </a:r>
            <a:r>
              <a:rPr spc="105" dirty="0"/>
              <a:t> </a:t>
            </a:r>
            <a:r>
              <a:rPr dirty="0"/>
              <a:t>phases</a:t>
            </a:r>
            <a:r>
              <a:rPr spc="100" dirty="0"/>
              <a:t> </a:t>
            </a:r>
            <a:r>
              <a:rPr spc="-20" dirty="0"/>
              <a:t>such 	</a:t>
            </a:r>
            <a:r>
              <a:rPr dirty="0"/>
              <a:t>as</a:t>
            </a:r>
            <a:r>
              <a:rPr spc="530" dirty="0"/>
              <a:t>    </a:t>
            </a:r>
            <a:r>
              <a:rPr dirty="0"/>
              <a:t>requirements</a:t>
            </a:r>
            <a:r>
              <a:rPr spc="530" dirty="0"/>
              <a:t>    </a:t>
            </a:r>
            <a:r>
              <a:rPr dirty="0"/>
              <a:t>specification,</a:t>
            </a:r>
            <a:r>
              <a:rPr spc="530" dirty="0"/>
              <a:t>    </a:t>
            </a:r>
            <a:r>
              <a:rPr dirty="0"/>
              <a:t>software</a:t>
            </a:r>
            <a:r>
              <a:rPr spc="530" dirty="0"/>
              <a:t>    </a:t>
            </a:r>
            <a:r>
              <a:rPr spc="-10" dirty="0"/>
              <a:t>design, 	</a:t>
            </a:r>
            <a:r>
              <a:rPr dirty="0"/>
              <a:t>implementation,</a:t>
            </a:r>
            <a:r>
              <a:rPr spc="-45" dirty="0"/>
              <a:t> </a:t>
            </a:r>
            <a:r>
              <a:rPr dirty="0"/>
              <a:t>testing,</a:t>
            </a:r>
            <a:r>
              <a:rPr spc="-5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so</a:t>
            </a:r>
            <a:r>
              <a:rPr spc="-20" dirty="0"/>
              <a:t> </a:t>
            </a:r>
            <a:r>
              <a:rPr spc="-25" dirty="0"/>
              <a:t>on.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</a:pPr>
            <a:r>
              <a:rPr spc="-130" dirty="0">
                <a:solidFill>
                  <a:srgbClr val="675E46"/>
                </a:solidFill>
              </a:rPr>
              <a:t>Waterfall</a:t>
            </a:r>
            <a:r>
              <a:rPr spc="-204" dirty="0">
                <a:solidFill>
                  <a:srgbClr val="675E46"/>
                </a:solidFill>
              </a:rPr>
              <a:t> </a:t>
            </a:r>
            <a:r>
              <a:rPr spc="-105" dirty="0">
                <a:solidFill>
                  <a:srgbClr val="675E46"/>
                </a:solidFill>
              </a:rPr>
              <a:t>Model</a:t>
            </a:r>
            <a:r>
              <a:rPr spc="-160" dirty="0">
                <a:solidFill>
                  <a:srgbClr val="675E46"/>
                </a:solidFill>
              </a:rPr>
              <a:t> </a:t>
            </a:r>
            <a:r>
              <a:rPr spc="-55" dirty="0">
                <a:solidFill>
                  <a:srgbClr val="675E46"/>
                </a:solidFill>
              </a:rPr>
              <a:t>(Cont..)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678671" y="5683097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48714" y="1132332"/>
            <a:ext cx="5424170" cy="165100"/>
            <a:chOff x="2648714" y="1132332"/>
            <a:chExt cx="5424170" cy="16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1132332"/>
              <a:ext cx="5423900" cy="164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666999" y="1214628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45440" y="1333715"/>
            <a:ext cx="7938770" cy="53701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90"/>
              </a:spcBef>
              <a:buClr>
                <a:srgbClr val="A9A47B"/>
              </a:buClr>
              <a:buSzPct val="95000"/>
              <a:buFont typeface="Wingdings"/>
              <a:buChar char=""/>
              <a:tabLst>
                <a:tab pos="240665" algn="l"/>
              </a:tabLst>
            </a:pP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sequential</a:t>
            </a:r>
            <a:r>
              <a:rPr sz="2000" b="1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phases</a:t>
            </a:r>
            <a:r>
              <a:rPr sz="2000" b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2000" b="1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Waterfall</a:t>
            </a:r>
            <a:r>
              <a:rPr sz="2000" b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2000" b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2E2B1F"/>
                </a:solidFill>
                <a:latin typeface="Times New Roman"/>
                <a:cs typeface="Times New Roman"/>
              </a:rPr>
              <a:t>are:</a:t>
            </a:r>
            <a:endParaRPr sz="2000">
              <a:latin typeface="Times New Roman"/>
              <a:cs typeface="Times New Roman"/>
            </a:endParaRPr>
          </a:p>
          <a:p>
            <a:pPr marL="538480" marR="91440" lvl="1" indent="-229235">
              <a:lnSpc>
                <a:spcPct val="100000"/>
              </a:lnSpc>
              <a:spcBef>
                <a:spcPts val="420"/>
              </a:spcBef>
              <a:buClr>
                <a:srgbClr val="9CBDBC"/>
              </a:buClr>
              <a:buFont typeface="Wingdings"/>
              <a:buChar char=""/>
              <a:tabLst>
                <a:tab pos="538480" algn="l"/>
              </a:tabLst>
            </a:pPr>
            <a:r>
              <a:rPr sz="1700" b="1" i="1" dirty="0">
                <a:solidFill>
                  <a:srgbClr val="006FC0"/>
                </a:solidFill>
                <a:latin typeface="Times New Roman"/>
                <a:cs typeface="Times New Roman"/>
              </a:rPr>
              <a:t>Requirement</a:t>
            </a:r>
            <a:r>
              <a:rPr sz="1700" b="1" i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700" b="1" i="1" dirty="0">
                <a:solidFill>
                  <a:srgbClr val="006FC0"/>
                </a:solidFill>
                <a:latin typeface="Times New Roman"/>
                <a:cs typeface="Times New Roman"/>
              </a:rPr>
              <a:t>Gathering</a:t>
            </a:r>
            <a:r>
              <a:rPr sz="1700" b="1" i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700" b="1" i="1" dirty="0">
                <a:solidFill>
                  <a:srgbClr val="006FC0"/>
                </a:solidFill>
                <a:latin typeface="Times New Roman"/>
                <a:cs typeface="Times New Roman"/>
              </a:rPr>
              <a:t>and</a:t>
            </a:r>
            <a:r>
              <a:rPr sz="1700" b="1" i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700" b="1" i="1" dirty="0">
                <a:solidFill>
                  <a:srgbClr val="006FC0"/>
                </a:solidFill>
                <a:latin typeface="Times New Roman"/>
                <a:cs typeface="Times New Roman"/>
              </a:rPr>
              <a:t>analysis:</a:t>
            </a:r>
            <a:r>
              <a:rPr sz="1700" b="1" i="1" spc="-10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All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possible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requirements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system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be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developed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captured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this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phase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documented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requirement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specification 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doc.</a:t>
            </a:r>
            <a:endParaRPr sz="1700">
              <a:latin typeface="Times New Roman"/>
              <a:cs typeface="Times New Roman"/>
            </a:endParaRPr>
          </a:p>
          <a:p>
            <a:pPr marL="537210" marR="295275" lvl="1" indent="-227965" algn="just">
              <a:lnSpc>
                <a:spcPct val="100000"/>
              </a:lnSpc>
              <a:spcBef>
                <a:spcPts val="409"/>
              </a:spcBef>
              <a:buClr>
                <a:srgbClr val="9CBDBC"/>
              </a:buClr>
              <a:buFont typeface="Wingdings"/>
              <a:buChar char=""/>
              <a:tabLst>
                <a:tab pos="538480" algn="l"/>
              </a:tabLst>
            </a:pPr>
            <a:r>
              <a:rPr sz="1700" b="1" i="1" dirty="0">
                <a:solidFill>
                  <a:srgbClr val="006FC0"/>
                </a:solidFill>
                <a:latin typeface="Times New Roman"/>
                <a:cs typeface="Times New Roman"/>
              </a:rPr>
              <a:t>System</a:t>
            </a:r>
            <a:r>
              <a:rPr sz="1700" b="1" i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700" b="1" i="1" dirty="0">
                <a:solidFill>
                  <a:srgbClr val="006FC0"/>
                </a:solidFill>
                <a:latin typeface="Times New Roman"/>
                <a:cs typeface="Times New Roman"/>
              </a:rPr>
              <a:t>Design:</a:t>
            </a:r>
            <a:r>
              <a:rPr sz="1700" b="1" i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requirement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specifications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from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first</a:t>
            </a:r>
            <a:r>
              <a:rPr sz="17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phase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studied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this 	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phase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system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design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prepared.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System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Design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helps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specifying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hardware 	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system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requirements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also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helps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defining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overall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system</a:t>
            </a:r>
            <a:r>
              <a:rPr sz="17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architecture.</a:t>
            </a:r>
            <a:endParaRPr sz="1700">
              <a:latin typeface="Times New Roman"/>
              <a:cs typeface="Times New Roman"/>
            </a:endParaRPr>
          </a:p>
          <a:p>
            <a:pPr marL="538480" marR="316865" lvl="1" indent="-229235">
              <a:lnSpc>
                <a:spcPct val="100000"/>
              </a:lnSpc>
              <a:spcBef>
                <a:spcPts val="409"/>
              </a:spcBef>
              <a:buClr>
                <a:srgbClr val="9CBDBC"/>
              </a:buClr>
              <a:buFont typeface="Wingdings"/>
              <a:buChar char=""/>
              <a:tabLst>
                <a:tab pos="538480" algn="l"/>
              </a:tabLst>
            </a:pPr>
            <a:r>
              <a:rPr sz="1700" b="1" i="1" dirty="0">
                <a:solidFill>
                  <a:srgbClr val="006FC0"/>
                </a:solidFill>
                <a:latin typeface="Times New Roman"/>
                <a:cs typeface="Times New Roman"/>
              </a:rPr>
              <a:t>Implementation:</a:t>
            </a:r>
            <a:r>
              <a:rPr sz="1700" b="1" i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With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inputs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from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system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design,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system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first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developed</a:t>
            </a:r>
            <a:r>
              <a:rPr sz="17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in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small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programs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called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units,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which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integrated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next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phase.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Each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unit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is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developed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tested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its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functionality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which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17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referred</a:t>
            </a:r>
            <a:r>
              <a:rPr sz="17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as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Unit</a:t>
            </a:r>
            <a:r>
              <a:rPr sz="17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Testing.</a:t>
            </a:r>
            <a:endParaRPr sz="1700">
              <a:latin typeface="Times New Roman"/>
              <a:cs typeface="Times New Roman"/>
            </a:endParaRPr>
          </a:p>
          <a:p>
            <a:pPr marL="538480" marR="5080" lvl="1" indent="-229235">
              <a:lnSpc>
                <a:spcPct val="100000"/>
              </a:lnSpc>
              <a:spcBef>
                <a:spcPts val="409"/>
              </a:spcBef>
              <a:buClr>
                <a:srgbClr val="9CBDBC"/>
              </a:buClr>
              <a:buFont typeface="Wingdings"/>
              <a:buChar char=""/>
              <a:tabLst>
                <a:tab pos="538480" algn="l"/>
              </a:tabLst>
            </a:pPr>
            <a:r>
              <a:rPr sz="1700" b="1" i="1" dirty="0">
                <a:solidFill>
                  <a:srgbClr val="006FC0"/>
                </a:solidFill>
                <a:latin typeface="Times New Roman"/>
                <a:cs typeface="Times New Roman"/>
              </a:rPr>
              <a:t>Integration</a:t>
            </a:r>
            <a:r>
              <a:rPr sz="17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700" b="1" i="1" dirty="0">
                <a:solidFill>
                  <a:srgbClr val="006FC0"/>
                </a:solidFill>
                <a:latin typeface="Times New Roman"/>
                <a:cs typeface="Times New Roman"/>
              </a:rPr>
              <a:t>and</a:t>
            </a:r>
            <a:r>
              <a:rPr sz="1700" b="1" i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7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Testing:</a:t>
            </a:r>
            <a:r>
              <a:rPr sz="1700" b="1" i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All</a:t>
            </a:r>
            <a:r>
              <a:rPr sz="17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units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developed</a:t>
            </a:r>
            <a:r>
              <a:rPr sz="17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implementation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phase</a:t>
            </a:r>
            <a:r>
              <a:rPr sz="17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are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integrated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into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system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after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testing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each</a:t>
            </a:r>
            <a:r>
              <a:rPr sz="17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unit.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Post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integration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entire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system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is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tested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any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faults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 failures.</a:t>
            </a:r>
            <a:endParaRPr sz="1700">
              <a:latin typeface="Times New Roman"/>
              <a:cs typeface="Times New Roman"/>
            </a:endParaRPr>
          </a:p>
          <a:p>
            <a:pPr marL="538480" lvl="1" indent="-228600">
              <a:lnSpc>
                <a:spcPct val="100000"/>
              </a:lnSpc>
              <a:spcBef>
                <a:spcPts val="409"/>
              </a:spcBef>
              <a:buClr>
                <a:srgbClr val="9CBDBC"/>
              </a:buClr>
              <a:buFont typeface="Wingdings"/>
              <a:buChar char=""/>
              <a:tabLst>
                <a:tab pos="538480" algn="l"/>
              </a:tabLst>
            </a:pPr>
            <a:r>
              <a:rPr sz="1700" b="1" i="1" dirty="0">
                <a:solidFill>
                  <a:srgbClr val="006FC0"/>
                </a:solidFill>
                <a:latin typeface="Times New Roman"/>
                <a:cs typeface="Times New Roman"/>
              </a:rPr>
              <a:t>Deployment</a:t>
            </a:r>
            <a:r>
              <a:rPr sz="1700" b="1" i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700" b="1" i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17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700" b="1" i="1" dirty="0">
                <a:solidFill>
                  <a:srgbClr val="006FC0"/>
                </a:solidFill>
                <a:latin typeface="Times New Roman"/>
                <a:cs typeface="Times New Roman"/>
              </a:rPr>
              <a:t>system:</a:t>
            </a:r>
            <a:r>
              <a:rPr sz="1700" b="1" i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Once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functional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17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non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functional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testing</a:t>
            </a:r>
            <a:r>
              <a:rPr sz="17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done,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endParaRPr sz="1700">
              <a:latin typeface="Times New Roman"/>
              <a:cs typeface="Times New Roman"/>
            </a:endParaRPr>
          </a:p>
          <a:p>
            <a:pPr marL="538480">
              <a:lnSpc>
                <a:spcPct val="100000"/>
              </a:lnSpc>
            </a:pP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product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deployed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17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customer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environment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or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released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into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market.</a:t>
            </a:r>
            <a:endParaRPr sz="1700">
              <a:latin typeface="Times New Roman"/>
              <a:cs typeface="Times New Roman"/>
            </a:endParaRPr>
          </a:p>
          <a:p>
            <a:pPr marL="538480" marR="201930" lvl="1" indent="-229235">
              <a:lnSpc>
                <a:spcPct val="100000"/>
              </a:lnSpc>
              <a:spcBef>
                <a:spcPts val="409"/>
              </a:spcBef>
              <a:buClr>
                <a:srgbClr val="9CBDBC"/>
              </a:buClr>
              <a:buFont typeface="Wingdings"/>
              <a:buChar char=""/>
              <a:tabLst>
                <a:tab pos="538480" algn="l"/>
              </a:tabLst>
            </a:pPr>
            <a:r>
              <a:rPr sz="1700" b="1" i="1" dirty="0">
                <a:solidFill>
                  <a:srgbClr val="006FC0"/>
                </a:solidFill>
                <a:latin typeface="Times New Roman"/>
                <a:cs typeface="Times New Roman"/>
              </a:rPr>
              <a:t>Maintenance:</a:t>
            </a:r>
            <a:r>
              <a:rPr sz="1700" b="1" i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There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some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issues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which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come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up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client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environment.</a:t>
            </a:r>
            <a:r>
              <a:rPr sz="17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To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fix those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issues patches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 released.</a:t>
            </a:r>
            <a:r>
              <a:rPr sz="1700" spc="-1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Also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enhance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product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some 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better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versions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released.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Maintenance</a:t>
            </a:r>
            <a:r>
              <a:rPr sz="17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17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done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deliver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these</a:t>
            </a:r>
            <a:r>
              <a:rPr sz="17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changes</a:t>
            </a:r>
            <a:r>
              <a:rPr sz="17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17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7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E2B1F"/>
                </a:solidFill>
                <a:latin typeface="Times New Roman"/>
                <a:cs typeface="Times New Roman"/>
              </a:rPr>
              <a:t>customer environment.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</a:pPr>
            <a:r>
              <a:rPr spc="-130" dirty="0">
                <a:solidFill>
                  <a:srgbClr val="675E46"/>
                </a:solidFill>
              </a:rPr>
              <a:t>Waterfall</a:t>
            </a:r>
            <a:r>
              <a:rPr spc="-204" dirty="0">
                <a:solidFill>
                  <a:srgbClr val="675E46"/>
                </a:solidFill>
              </a:rPr>
              <a:t> </a:t>
            </a:r>
            <a:r>
              <a:rPr spc="-105" dirty="0">
                <a:solidFill>
                  <a:srgbClr val="675E46"/>
                </a:solidFill>
              </a:rPr>
              <a:t>Model</a:t>
            </a:r>
            <a:r>
              <a:rPr spc="-160" dirty="0">
                <a:solidFill>
                  <a:srgbClr val="675E46"/>
                </a:solidFill>
              </a:rPr>
              <a:t> </a:t>
            </a:r>
            <a:r>
              <a:rPr spc="-55" dirty="0">
                <a:solidFill>
                  <a:srgbClr val="675E46"/>
                </a:solidFill>
              </a:rPr>
              <a:t>(Cont..)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678671" y="5683097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48714" y="1132332"/>
            <a:ext cx="5424170" cy="165100"/>
            <a:chOff x="2648714" y="1132332"/>
            <a:chExt cx="5424170" cy="16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1132332"/>
              <a:ext cx="5423900" cy="164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666999" y="1214628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45440" y="1361055"/>
            <a:ext cx="7955915" cy="90296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83210" indent="-273050">
              <a:lnSpc>
                <a:spcPct val="100000"/>
              </a:lnSpc>
              <a:spcBef>
                <a:spcPts val="670"/>
              </a:spcBef>
              <a:buClr>
                <a:srgbClr val="A9A47B"/>
              </a:buClr>
              <a:buSzPct val="95833"/>
              <a:buFont typeface="Wingdings"/>
              <a:buChar char=""/>
              <a:tabLst>
                <a:tab pos="283210" algn="l"/>
              </a:tabLst>
            </a:pPr>
            <a:r>
              <a:rPr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Problems:</a:t>
            </a:r>
            <a:endParaRPr sz="2400">
              <a:latin typeface="Times New Roman"/>
              <a:cs typeface="Times New Roman"/>
            </a:endParaRPr>
          </a:p>
          <a:p>
            <a:pPr marL="537845" lvl="1" indent="-227965">
              <a:lnSpc>
                <a:spcPct val="100000"/>
              </a:lnSpc>
              <a:spcBef>
                <a:spcPts val="580"/>
              </a:spcBef>
              <a:buClr>
                <a:srgbClr val="9CBDBC"/>
              </a:buClr>
              <a:buFont typeface="Wingdings"/>
              <a:buChar char=""/>
              <a:tabLst>
                <a:tab pos="537845" algn="l"/>
                <a:tab pos="1271270" algn="l"/>
                <a:tab pos="2407285" algn="l"/>
                <a:tab pos="3291204" algn="l"/>
                <a:tab pos="4257040" algn="l"/>
                <a:tab pos="4804410" algn="l"/>
                <a:tab pos="6211570" algn="l"/>
                <a:tab pos="6939915" algn="l"/>
                <a:tab pos="7571105" algn="l"/>
              </a:tabLst>
            </a:pP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Real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projects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rarely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follow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sequential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flow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2619" y="2238883"/>
            <a:ext cx="7663180" cy="419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2400" spc="300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proposes.</a:t>
            </a:r>
            <a:r>
              <a:rPr sz="2400" spc="305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Although</a:t>
            </a:r>
            <a:r>
              <a:rPr sz="2400" spc="305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300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linear</a:t>
            </a:r>
            <a:r>
              <a:rPr sz="2400" spc="305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2400" spc="305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can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accommodate</a:t>
            </a:r>
            <a:r>
              <a:rPr sz="2400" spc="5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iteration,</a:t>
            </a:r>
            <a:r>
              <a:rPr sz="2400" spc="50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it</a:t>
            </a:r>
            <a:r>
              <a:rPr sz="2400" spc="5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does</a:t>
            </a:r>
            <a:r>
              <a:rPr sz="2400" spc="5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so</a:t>
            </a:r>
            <a:r>
              <a:rPr sz="2400" spc="509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indirectly.</a:t>
            </a:r>
            <a:r>
              <a:rPr sz="2400" spc="5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As</a:t>
            </a:r>
            <a:r>
              <a:rPr sz="2400" spc="5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5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result,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changes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can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cause confusion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as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project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team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proceeds.</a:t>
            </a:r>
            <a:endParaRPr sz="2400">
              <a:latin typeface="Times New Roman"/>
              <a:cs typeface="Times New Roman"/>
            </a:endParaRPr>
          </a:p>
          <a:p>
            <a:pPr marL="240029" marR="5715" indent="-227965" algn="just">
              <a:lnSpc>
                <a:spcPct val="100000"/>
              </a:lnSpc>
              <a:spcBef>
                <a:spcPts val="575"/>
              </a:spcBef>
              <a:buClr>
                <a:srgbClr val="9CBDBC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It</a:t>
            </a:r>
            <a:r>
              <a:rPr sz="2400" spc="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400" spc="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often</a:t>
            </a:r>
            <a:r>
              <a:rPr sz="2400" spc="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difficult</a:t>
            </a:r>
            <a:r>
              <a:rPr sz="2400" spc="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2400" spc="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customer</a:t>
            </a:r>
            <a:r>
              <a:rPr sz="2400" spc="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400" spc="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state</a:t>
            </a:r>
            <a:r>
              <a:rPr sz="2400" spc="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all</a:t>
            </a:r>
            <a:r>
              <a:rPr sz="2400" spc="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requirements 	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explicitly.</a:t>
            </a:r>
            <a:r>
              <a:rPr sz="2400" spc="28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29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waterfall</a:t>
            </a:r>
            <a:r>
              <a:rPr sz="2400" spc="29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2400" spc="29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requires</a:t>
            </a:r>
            <a:r>
              <a:rPr sz="2400" spc="29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this</a:t>
            </a:r>
            <a:r>
              <a:rPr sz="2400" spc="29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400" spc="29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has 	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difficulty</a:t>
            </a:r>
            <a:r>
              <a:rPr sz="2400" spc="1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accommodating</a:t>
            </a:r>
            <a:r>
              <a:rPr sz="2400" spc="17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1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natural</a:t>
            </a:r>
            <a:r>
              <a:rPr sz="2400" spc="1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uncertainty</a:t>
            </a:r>
            <a:r>
              <a:rPr sz="2400" spc="1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2400" spc="1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exists 	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at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beginning</a:t>
            </a:r>
            <a:r>
              <a:rPr sz="24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many</a:t>
            </a:r>
            <a:r>
              <a:rPr sz="2400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projects.</a:t>
            </a:r>
            <a:endParaRPr sz="2400">
              <a:latin typeface="Times New Roman"/>
              <a:cs typeface="Times New Roman"/>
            </a:endParaRPr>
          </a:p>
          <a:p>
            <a:pPr marL="240029" marR="5715" indent="-227965" algn="just">
              <a:lnSpc>
                <a:spcPct val="100000"/>
              </a:lnSpc>
              <a:spcBef>
                <a:spcPts val="575"/>
              </a:spcBef>
              <a:buClr>
                <a:srgbClr val="9CBDBC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9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customer</a:t>
            </a:r>
            <a:r>
              <a:rPr sz="2400" spc="1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must</a:t>
            </a:r>
            <a:r>
              <a:rPr sz="2400" spc="10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have</a:t>
            </a:r>
            <a:r>
              <a:rPr sz="2400" spc="10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patience.</a:t>
            </a:r>
            <a:r>
              <a:rPr sz="2400" spc="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working</a:t>
            </a:r>
            <a:r>
              <a:rPr sz="2400" spc="1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version</a:t>
            </a:r>
            <a:r>
              <a:rPr sz="2400" spc="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400" spc="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 	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program(s)</a:t>
            </a:r>
            <a:r>
              <a:rPr sz="2400" spc="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will</a:t>
            </a:r>
            <a:r>
              <a:rPr sz="2400" spc="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not</a:t>
            </a:r>
            <a:r>
              <a:rPr sz="2400" spc="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2400" spc="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available</a:t>
            </a:r>
            <a:r>
              <a:rPr sz="2400" spc="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until</a:t>
            </a:r>
            <a:r>
              <a:rPr sz="2400" spc="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late</a:t>
            </a:r>
            <a:r>
              <a:rPr sz="2400" spc="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2400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project</a:t>
            </a:r>
            <a:r>
              <a:rPr sz="2400" spc="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time 	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span.</a:t>
            </a:r>
            <a:r>
              <a:rPr sz="2400" spc="7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2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major</a:t>
            </a:r>
            <a:r>
              <a:rPr sz="2400" spc="8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blunder,</a:t>
            </a:r>
            <a:r>
              <a:rPr sz="2400" spc="8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if</a:t>
            </a:r>
            <a:r>
              <a:rPr sz="2400" spc="7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undetected</a:t>
            </a:r>
            <a:r>
              <a:rPr sz="2400" spc="8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until</a:t>
            </a:r>
            <a:r>
              <a:rPr sz="2400" spc="7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8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working 	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program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reviewed,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can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disastrous.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</a:pPr>
            <a:r>
              <a:rPr spc="-130" dirty="0">
                <a:solidFill>
                  <a:srgbClr val="675E46"/>
                </a:solidFill>
              </a:rPr>
              <a:t>Waterfall</a:t>
            </a:r>
            <a:r>
              <a:rPr spc="-204" dirty="0">
                <a:solidFill>
                  <a:srgbClr val="675E46"/>
                </a:solidFill>
              </a:rPr>
              <a:t> </a:t>
            </a:r>
            <a:r>
              <a:rPr spc="-105" dirty="0">
                <a:solidFill>
                  <a:srgbClr val="675E46"/>
                </a:solidFill>
              </a:rPr>
              <a:t>Model</a:t>
            </a:r>
            <a:r>
              <a:rPr spc="-160" dirty="0">
                <a:solidFill>
                  <a:srgbClr val="675E46"/>
                </a:solidFill>
              </a:rPr>
              <a:t> </a:t>
            </a:r>
            <a:r>
              <a:rPr spc="-55" dirty="0">
                <a:solidFill>
                  <a:srgbClr val="675E46"/>
                </a:solidFill>
              </a:rPr>
              <a:t>(Cont..)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678671" y="5683097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48714" y="1132332"/>
            <a:ext cx="5424170" cy="165100"/>
            <a:chOff x="2648714" y="1132332"/>
            <a:chExt cx="5424170" cy="16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1132332"/>
              <a:ext cx="5423900" cy="164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666999" y="1214628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45440" y="1409891"/>
            <a:ext cx="5646420" cy="126936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50"/>
              </a:spcBef>
              <a:buClr>
                <a:srgbClr val="A9A47B"/>
              </a:buClr>
              <a:buSzPct val="95000"/>
              <a:buFont typeface="Wingdings"/>
              <a:buChar char=""/>
              <a:tabLst>
                <a:tab pos="240665" algn="l"/>
              </a:tabLst>
            </a:pPr>
            <a:r>
              <a:rPr sz="20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Problems:</a:t>
            </a:r>
            <a:endParaRPr sz="2000">
              <a:latin typeface="Times New Roman"/>
              <a:cs typeface="Times New Roman"/>
            </a:endParaRPr>
          </a:p>
          <a:p>
            <a:pPr marL="537845" lvl="1" indent="-227965">
              <a:lnSpc>
                <a:spcPct val="100000"/>
              </a:lnSpc>
              <a:spcBef>
                <a:spcPts val="225"/>
              </a:spcBef>
              <a:buClr>
                <a:srgbClr val="9CBDBC"/>
              </a:buClr>
              <a:buFont typeface="Wingdings"/>
              <a:buChar char=""/>
              <a:tabLst>
                <a:tab pos="537845" algn="l"/>
              </a:tabLst>
            </a:pP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Rarely</a:t>
            </a:r>
            <a:r>
              <a:rPr sz="18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linear,</a:t>
            </a:r>
            <a:r>
              <a:rPr sz="18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iteration</a:t>
            </a:r>
            <a:r>
              <a:rPr sz="18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E2B1F"/>
                </a:solidFill>
                <a:latin typeface="Times New Roman"/>
                <a:cs typeface="Times New Roman"/>
              </a:rPr>
              <a:t>needed.</a:t>
            </a:r>
            <a:endParaRPr sz="1800">
              <a:latin typeface="Times New Roman"/>
              <a:cs typeface="Times New Roman"/>
            </a:endParaRPr>
          </a:p>
          <a:p>
            <a:pPr marL="537845" lvl="1" indent="-227965">
              <a:lnSpc>
                <a:spcPct val="100000"/>
              </a:lnSpc>
              <a:spcBef>
                <a:spcPts val="220"/>
              </a:spcBef>
              <a:buClr>
                <a:srgbClr val="9CBDBC"/>
              </a:buClr>
              <a:buFont typeface="Wingdings"/>
              <a:buChar char=""/>
              <a:tabLst>
                <a:tab pos="537845" algn="l"/>
              </a:tabLst>
            </a:pP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Hard</a:t>
            </a:r>
            <a:r>
              <a:rPr sz="18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18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state</a:t>
            </a:r>
            <a:r>
              <a:rPr sz="18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all</a:t>
            </a:r>
            <a:r>
              <a:rPr sz="1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requirements</a:t>
            </a:r>
            <a:r>
              <a:rPr sz="18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E2B1F"/>
                </a:solidFill>
                <a:latin typeface="Times New Roman"/>
                <a:cs typeface="Times New Roman"/>
              </a:rPr>
              <a:t>explicitly.</a:t>
            </a:r>
            <a:r>
              <a:rPr sz="1800" spc="-7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Blocking</a:t>
            </a:r>
            <a:r>
              <a:rPr sz="1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E2B1F"/>
                </a:solidFill>
                <a:latin typeface="Times New Roman"/>
                <a:cs typeface="Times New Roman"/>
              </a:rPr>
              <a:t>state.</a:t>
            </a:r>
            <a:endParaRPr sz="1800">
              <a:latin typeface="Times New Roman"/>
              <a:cs typeface="Times New Roman"/>
            </a:endParaRPr>
          </a:p>
          <a:p>
            <a:pPr marL="537845" lvl="1" indent="-227965">
              <a:lnSpc>
                <a:spcPct val="100000"/>
              </a:lnSpc>
              <a:spcBef>
                <a:spcPts val="215"/>
              </a:spcBef>
              <a:buClr>
                <a:srgbClr val="9CBDBC"/>
              </a:buClr>
              <a:buFont typeface="Wingdings"/>
              <a:buChar char=""/>
              <a:tabLst>
                <a:tab pos="537845" algn="l"/>
              </a:tabLst>
            </a:pP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Code</a:t>
            </a:r>
            <a:r>
              <a:rPr sz="18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will</a:t>
            </a:r>
            <a:r>
              <a:rPr sz="1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not</a:t>
            </a:r>
            <a:r>
              <a:rPr sz="1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1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released</a:t>
            </a:r>
            <a:r>
              <a:rPr sz="1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until</a:t>
            </a:r>
            <a:r>
              <a:rPr sz="1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very</a:t>
            </a:r>
            <a:r>
              <a:rPr sz="18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E2B1F"/>
                </a:solidFill>
                <a:latin typeface="Times New Roman"/>
                <a:cs typeface="Times New Roman"/>
              </a:rPr>
              <a:t>late.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5440" y="2986448"/>
            <a:ext cx="7867650" cy="324739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90"/>
              </a:spcBef>
              <a:buClr>
                <a:srgbClr val="A9A47B"/>
              </a:buClr>
              <a:buSzPct val="95000"/>
              <a:buFont typeface="Wingdings"/>
              <a:buChar char=""/>
              <a:tabLst>
                <a:tab pos="240665" algn="l"/>
              </a:tabLst>
            </a:pPr>
            <a:r>
              <a:rPr sz="20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Waterfall</a:t>
            </a:r>
            <a:r>
              <a:rPr sz="2000" b="1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2000" b="1" spc="-1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Application</a:t>
            </a:r>
            <a:endParaRPr sz="2000">
              <a:latin typeface="Times New Roman"/>
              <a:cs typeface="Times New Roman"/>
            </a:endParaRPr>
          </a:p>
          <a:p>
            <a:pPr marL="537210" marR="5080" lvl="1" indent="-227965">
              <a:lnSpc>
                <a:spcPct val="100000"/>
              </a:lnSpc>
              <a:spcBef>
                <a:spcPts val="439"/>
              </a:spcBef>
              <a:buClr>
                <a:srgbClr val="9CBDBC"/>
              </a:buClr>
              <a:buFont typeface="Wingdings"/>
              <a:buChar char=""/>
              <a:tabLst>
                <a:tab pos="538480" algn="l"/>
              </a:tabLst>
            </a:pP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Every</a:t>
            </a:r>
            <a:r>
              <a:rPr sz="1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1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developed</a:t>
            </a:r>
            <a:r>
              <a:rPr sz="1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different</a:t>
            </a:r>
            <a:r>
              <a:rPr sz="1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18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requires</a:t>
            </a:r>
            <a:r>
              <a:rPr sz="1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18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suitable</a:t>
            </a:r>
            <a:r>
              <a:rPr sz="1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SDLC</a:t>
            </a:r>
            <a:r>
              <a:rPr sz="18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approach</a:t>
            </a:r>
            <a:r>
              <a:rPr sz="1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E2B1F"/>
                </a:solidFill>
                <a:latin typeface="Times New Roman"/>
                <a:cs typeface="Times New Roman"/>
              </a:rPr>
              <a:t>to 	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1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followed</a:t>
            </a:r>
            <a:r>
              <a:rPr sz="1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based</a:t>
            </a:r>
            <a:r>
              <a:rPr sz="1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on</a:t>
            </a:r>
            <a:r>
              <a:rPr sz="1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internal</a:t>
            </a:r>
            <a:r>
              <a:rPr sz="18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18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external</a:t>
            </a:r>
            <a:r>
              <a:rPr sz="18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factors.</a:t>
            </a:r>
            <a:r>
              <a:rPr sz="18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Some</a:t>
            </a:r>
            <a:r>
              <a:rPr sz="18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situations</a:t>
            </a:r>
            <a:r>
              <a:rPr sz="18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E2B1F"/>
                </a:solidFill>
                <a:latin typeface="Times New Roman"/>
                <a:cs typeface="Times New Roman"/>
              </a:rPr>
              <a:t>where 	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use</a:t>
            </a:r>
            <a:r>
              <a:rPr sz="18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18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E2B1F"/>
                </a:solidFill>
                <a:latin typeface="Times New Roman"/>
                <a:cs typeface="Times New Roman"/>
              </a:rPr>
              <a:t>Waterfall</a:t>
            </a:r>
            <a:r>
              <a:rPr sz="18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1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18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most</a:t>
            </a:r>
            <a:r>
              <a:rPr sz="1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appropriate</a:t>
            </a:r>
            <a:r>
              <a:rPr sz="18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E2B1F"/>
                </a:solidFill>
                <a:latin typeface="Times New Roman"/>
                <a:cs typeface="Times New Roman"/>
              </a:rPr>
              <a:t>are:</a:t>
            </a:r>
            <a:endParaRPr sz="1800">
              <a:latin typeface="Times New Roman"/>
              <a:cs typeface="Times New Roman"/>
            </a:endParaRPr>
          </a:p>
          <a:p>
            <a:pPr marL="537845" lvl="1" indent="-227965">
              <a:lnSpc>
                <a:spcPct val="100000"/>
              </a:lnSpc>
              <a:spcBef>
                <a:spcPts val="430"/>
              </a:spcBef>
              <a:buClr>
                <a:srgbClr val="9CBDBC"/>
              </a:buClr>
              <a:buFont typeface="Wingdings"/>
              <a:buChar char=""/>
              <a:tabLst>
                <a:tab pos="537845" algn="l"/>
              </a:tabLst>
            </a:pP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Requirements</a:t>
            </a:r>
            <a:r>
              <a:rPr sz="18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18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very</a:t>
            </a:r>
            <a:r>
              <a:rPr sz="18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well</a:t>
            </a:r>
            <a:r>
              <a:rPr sz="18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documented,</a:t>
            </a:r>
            <a:r>
              <a:rPr sz="18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clear</a:t>
            </a:r>
            <a:r>
              <a:rPr sz="18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18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E2B1F"/>
                </a:solidFill>
                <a:latin typeface="Times New Roman"/>
                <a:cs typeface="Times New Roman"/>
              </a:rPr>
              <a:t>fixed.</a:t>
            </a:r>
            <a:endParaRPr sz="1800">
              <a:latin typeface="Times New Roman"/>
              <a:cs typeface="Times New Roman"/>
            </a:endParaRPr>
          </a:p>
          <a:p>
            <a:pPr marL="537845" lvl="1" indent="-227965">
              <a:lnSpc>
                <a:spcPct val="100000"/>
              </a:lnSpc>
              <a:spcBef>
                <a:spcPts val="434"/>
              </a:spcBef>
              <a:buClr>
                <a:srgbClr val="9CBDBC"/>
              </a:buClr>
              <a:buFont typeface="Wingdings"/>
              <a:buChar char=""/>
              <a:tabLst>
                <a:tab pos="537845" algn="l"/>
              </a:tabLst>
            </a:pP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Product</a:t>
            </a:r>
            <a:r>
              <a:rPr sz="1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definition</a:t>
            </a:r>
            <a:r>
              <a:rPr sz="1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18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E2B1F"/>
                </a:solidFill>
                <a:latin typeface="Times New Roman"/>
                <a:cs typeface="Times New Roman"/>
              </a:rPr>
              <a:t>stable.</a:t>
            </a:r>
            <a:endParaRPr sz="1800">
              <a:latin typeface="Times New Roman"/>
              <a:cs typeface="Times New Roman"/>
            </a:endParaRPr>
          </a:p>
          <a:p>
            <a:pPr marL="537845" lvl="1" indent="-227965">
              <a:lnSpc>
                <a:spcPct val="100000"/>
              </a:lnSpc>
              <a:spcBef>
                <a:spcPts val="430"/>
              </a:spcBef>
              <a:buClr>
                <a:srgbClr val="9CBDBC"/>
              </a:buClr>
              <a:buFont typeface="Wingdings"/>
              <a:buChar char=""/>
              <a:tabLst>
                <a:tab pos="537845" algn="l"/>
              </a:tabLst>
            </a:pPr>
            <a:r>
              <a:rPr sz="1800" spc="-10" dirty="0">
                <a:solidFill>
                  <a:srgbClr val="2E2B1F"/>
                </a:solidFill>
                <a:latin typeface="Times New Roman"/>
                <a:cs typeface="Times New Roman"/>
              </a:rPr>
              <a:t>Technology</a:t>
            </a:r>
            <a:r>
              <a:rPr sz="18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1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understood</a:t>
            </a:r>
            <a:r>
              <a:rPr sz="18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1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1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not</a:t>
            </a:r>
            <a:r>
              <a:rPr sz="1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E2B1F"/>
                </a:solidFill>
                <a:latin typeface="Times New Roman"/>
                <a:cs typeface="Times New Roman"/>
              </a:rPr>
              <a:t>dynamic.</a:t>
            </a:r>
            <a:endParaRPr sz="1800">
              <a:latin typeface="Times New Roman"/>
              <a:cs typeface="Times New Roman"/>
            </a:endParaRPr>
          </a:p>
          <a:p>
            <a:pPr marL="537845" lvl="1" indent="-227965">
              <a:lnSpc>
                <a:spcPct val="100000"/>
              </a:lnSpc>
              <a:spcBef>
                <a:spcPts val="434"/>
              </a:spcBef>
              <a:buClr>
                <a:srgbClr val="9CBDBC"/>
              </a:buClr>
              <a:buFont typeface="Wingdings"/>
              <a:buChar char=""/>
              <a:tabLst>
                <a:tab pos="537845" algn="l"/>
              </a:tabLst>
            </a:pP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There</a:t>
            </a:r>
            <a:r>
              <a:rPr sz="1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1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no</a:t>
            </a:r>
            <a:r>
              <a:rPr sz="1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ambiguous</a:t>
            </a:r>
            <a:r>
              <a:rPr sz="1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E2B1F"/>
                </a:solidFill>
                <a:latin typeface="Times New Roman"/>
                <a:cs typeface="Times New Roman"/>
              </a:rPr>
              <a:t>requirements.</a:t>
            </a:r>
            <a:endParaRPr sz="1800">
              <a:latin typeface="Times New Roman"/>
              <a:cs typeface="Times New Roman"/>
            </a:endParaRPr>
          </a:p>
          <a:p>
            <a:pPr marL="537845" lvl="1" indent="-227965">
              <a:lnSpc>
                <a:spcPct val="100000"/>
              </a:lnSpc>
              <a:spcBef>
                <a:spcPts val="434"/>
              </a:spcBef>
              <a:buClr>
                <a:srgbClr val="9CBDBC"/>
              </a:buClr>
              <a:buFont typeface="Wingdings"/>
              <a:buChar char=""/>
              <a:tabLst>
                <a:tab pos="537845" algn="l"/>
              </a:tabLst>
            </a:pP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Ample</a:t>
            </a:r>
            <a:r>
              <a:rPr sz="1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resources</a:t>
            </a:r>
            <a:r>
              <a:rPr sz="18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with</a:t>
            </a:r>
            <a:r>
              <a:rPr sz="18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required</a:t>
            </a:r>
            <a:r>
              <a:rPr sz="18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expertise</a:t>
            </a:r>
            <a:r>
              <a:rPr sz="18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18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available</a:t>
            </a:r>
            <a:r>
              <a:rPr sz="18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18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support</a:t>
            </a:r>
            <a:r>
              <a:rPr sz="1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8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product.</a:t>
            </a:r>
            <a:endParaRPr sz="1800">
              <a:latin typeface="Times New Roman"/>
              <a:cs typeface="Times New Roman"/>
            </a:endParaRPr>
          </a:p>
          <a:p>
            <a:pPr marL="537845" lvl="1" indent="-227965">
              <a:lnSpc>
                <a:spcPct val="100000"/>
              </a:lnSpc>
              <a:spcBef>
                <a:spcPts val="430"/>
              </a:spcBef>
              <a:buClr>
                <a:srgbClr val="9CBDBC"/>
              </a:buClr>
              <a:buFont typeface="Wingdings"/>
              <a:buChar char=""/>
              <a:tabLst>
                <a:tab pos="537845" algn="l"/>
              </a:tabLst>
            </a:pP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project</a:t>
            </a:r>
            <a:r>
              <a:rPr sz="18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18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E2B1F"/>
                </a:solidFill>
                <a:latin typeface="Times New Roman"/>
                <a:cs typeface="Times New Roman"/>
              </a:rPr>
              <a:t>short.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3110" y="378714"/>
            <a:ext cx="2557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>
                <a:solidFill>
                  <a:srgbClr val="544E39"/>
                </a:solidFill>
              </a:rPr>
              <a:t>The</a:t>
            </a:r>
            <a:r>
              <a:rPr spc="-185" dirty="0">
                <a:solidFill>
                  <a:srgbClr val="544E39"/>
                </a:solidFill>
              </a:rPr>
              <a:t> </a:t>
            </a:r>
            <a:r>
              <a:rPr spc="-120" dirty="0">
                <a:solidFill>
                  <a:srgbClr val="544E39"/>
                </a:solidFill>
              </a:rPr>
              <a:t>V-</a:t>
            </a:r>
            <a:r>
              <a:rPr spc="-60" dirty="0">
                <a:solidFill>
                  <a:srgbClr val="544E39"/>
                </a:solidFill>
              </a:rPr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648714" y="1132332"/>
            <a:ext cx="5424170" cy="165100"/>
            <a:chOff x="2648714" y="1132332"/>
            <a:chExt cx="5424170" cy="165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1132332"/>
              <a:ext cx="5423900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66999" y="1214628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5986" y="1547486"/>
            <a:ext cx="5938581" cy="502963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1066800">
              <a:lnSpc>
                <a:spcPct val="100000"/>
              </a:lnSpc>
              <a:spcBef>
                <a:spcPts val="100"/>
              </a:spcBef>
            </a:pPr>
            <a:r>
              <a:rPr spc="-85" dirty="0">
                <a:solidFill>
                  <a:srgbClr val="544E39"/>
                </a:solidFill>
              </a:rPr>
              <a:t>The</a:t>
            </a:r>
            <a:r>
              <a:rPr spc="-180" dirty="0">
                <a:solidFill>
                  <a:srgbClr val="544E39"/>
                </a:solidFill>
              </a:rPr>
              <a:t> </a:t>
            </a:r>
            <a:r>
              <a:rPr spc="-125" dirty="0">
                <a:solidFill>
                  <a:srgbClr val="544E39"/>
                </a:solidFill>
              </a:rPr>
              <a:t>V-</a:t>
            </a:r>
            <a:r>
              <a:rPr spc="-85" dirty="0">
                <a:solidFill>
                  <a:srgbClr val="544E39"/>
                </a:solidFill>
              </a:rPr>
              <a:t>Model</a:t>
            </a:r>
            <a:r>
              <a:rPr spc="-85" dirty="0">
                <a:solidFill>
                  <a:srgbClr val="675E46"/>
                </a:solidFill>
              </a:rPr>
              <a:t>(Cont..)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648714" y="1132332"/>
            <a:ext cx="5424170" cy="165100"/>
            <a:chOff x="2648714" y="1132332"/>
            <a:chExt cx="5424170" cy="165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1132332"/>
              <a:ext cx="5423900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66999" y="1214628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345440" y="1394205"/>
            <a:ext cx="7959090" cy="905376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41300" marR="5715" indent="-228600" algn="just">
              <a:lnSpc>
                <a:spcPct val="100000"/>
              </a:lnSpc>
              <a:spcBef>
                <a:spcPts val="100"/>
              </a:spcBef>
              <a:buClr>
                <a:srgbClr val="A9A47B"/>
              </a:buClr>
              <a:buSzPct val="97916"/>
              <a:buFont typeface="Wingdings"/>
              <a:buChar char=""/>
              <a:tabLst>
                <a:tab pos="241300" algn="l"/>
                <a:tab pos="353060" algn="l"/>
              </a:tabLst>
            </a:pPr>
            <a:r>
              <a:rPr lang="en-US" dirty="0"/>
              <a:t>Verification Question it answers: </a:t>
            </a:r>
            <a:r>
              <a:rPr lang="en-US" b="1" dirty="0"/>
              <a:t>Are we building the product right?  </a:t>
            </a:r>
            <a:endParaRPr b="1"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16D889-9544-6D07-6344-8A2BCF74ABCC}"/>
              </a:ext>
            </a:extLst>
          </p:cNvPr>
          <p:cNvSpPr txBox="1"/>
          <p:nvPr/>
        </p:nvSpPr>
        <p:spPr>
          <a:xfrm>
            <a:off x="304800" y="2514600"/>
            <a:ext cx="7848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1300" marR="5715" indent="-228600" algn="just">
              <a:spcBef>
                <a:spcPts val="100"/>
              </a:spcBef>
              <a:buClr>
                <a:srgbClr val="A9A47B"/>
              </a:buClr>
              <a:buSzPct val="97916"/>
              <a:buFont typeface="Wingdings"/>
              <a:buChar char=""/>
              <a:tabLst>
                <a:tab pos="241300" algn="l"/>
                <a:tab pos="353060" algn="l"/>
              </a:tabLst>
            </a:pPr>
            <a:r>
              <a:rPr lang="en-US" sz="2400" dirty="0">
                <a:solidFill>
                  <a:srgbClr val="2E2B1F"/>
                </a:solidFill>
                <a:latin typeface="Times New Roman"/>
                <a:ea typeface="+mn-ea"/>
                <a:cs typeface="Times New Roman"/>
              </a:rPr>
              <a:t>Validation Question it answers:  </a:t>
            </a:r>
            <a:r>
              <a:rPr lang="en-US" sz="2400" b="1" dirty="0">
                <a:solidFill>
                  <a:srgbClr val="2E2B1F"/>
                </a:solidFill>
                <a:latin typeface="Times New Roman"/>
                <a:ea typeface="+mn-ea"/>
                <a:cs typeface="Times New Roman"/>
              </a:rPr>
              <a:t>Are we building the right product?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00C1E18-5ECC-06EA-B013-0D905C284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288123"/>
              </p:ext>
            </p:extLst>
          </p:nvPr>
        </p:nvGraphicFramePr>
        <p:xfrm>
          <a:off x="370775" y="3505200"/>
          <a:ext cx="7958139" cy="2834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52713">
                  <a:extLst>
                    <a:ext uri="{9D8B030D-6E8A-4147-A177-3AD203B41FA5}">
                      <a16:colId xmlns:a16="http://schemas.microsoft.com/office/drawing/2014/main" val="2518468015"/>
                    </a:ext>
                  </a:extLst>
                </a:gridCol>
                <a:gridCol w="2652713">
                  <a:extLst>
                    <a:ext uri="{9D8B030D-6E8A-4147-A177-3AD203B41FA5}">
                      <a16:colId xmlns:a16="http://schemas.microsoft.com/office/drawing/2014/main" val="2668259023"/>
                    </a:ext>
                  </a:extLst>
                </a:gridCol>
                <a:gridCol w="2652713">
                  <a:extLst>
                    <a:ext uri="{9D8B030D-6E8A-4147-A177-3AD203B41FA5}">
                      <a16:colId xmlns:a16="http://schemas.microsoft.com/office/drawing/2014/main" val="25533968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796203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the product correctly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the correct product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0738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Specifications &amp;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needs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0055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804106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process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0229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Performed during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After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7567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Reviews, inspections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37964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F23A6-7CBB-982E-FA32-035F2198E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F031BF-B8D0-79BE-86E0-D2917AF0A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1066800">
              <a:lnSpc>
                <a:spcPct val="100000"/>
              </a:lnSpc>
              <a:spcBef>
                <a:spcPts val="100"/>
              </a:spcBef>
            </a:pPr>
            <a:r>
              <a:rPr spc="-85" dirty="0">
                <a:solidFill>
                  <a:srgbClr val="544E39"/>
                </a:solidFill>
              </a:rPr>
              <a:t>The</a:t>
            </a:r>
            <a:r>
              <a:rPr spc="-180" dirty="0">
                <a:solidFill>
                  <a:srgbClr val="544E39"/>
                </a:solidFill>
              </a:rPr>
              <a:t> </a:t>
            </a:r>
            <a:r>
              <a:rPr spc="-125" dirty="0">
                <a:solidFill>
                  <a:srgbClr val="544E39"/>
                </a:solidFill>
              </a:rPr>
              <a:t>V-</a:t>
            </a:r>
            <a:r>
              <a:rPr spc="-85" dirty="0">
                <a:solidFill>
                  <a:srgbClr val="544E39"/>
                </a:solidFill>
              </a:rPr>
              <a:t>Model</a:t>
            </a:r>
            <a:r>
              <a:rPr spc="-85" dirty="0">
                <a:solidFill>
                  <a:srgbClr val="675E46"/>
                </a:solidFill>
              </a:rPr>
              <a:t>(Cont..)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643EAE9-D3A8-F2E6-5806-6DE56829BD50}"/>
              </a:ext>
            </a:extLst>
          </p:cNvPr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D1313F0-0E60-A55B-2E74-6E0F0573D52F}"/>
              </a:ext>
            </a:extLst>
          </p:cNvPr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488F072B-04FF-E095-CFA0-0BBE110DFA4C}"/>
              </a:ext>
            </a:extLst>
          </p:cNvPr>
          <p:cNvGrpSpPr/>
          <p:nvPr/>
        </p:nvGrpSpPr>
        <p:grpSpPr>
          <a:xfrm>
            <a:off x="2648714" y="1132332"/>
            <a:ext cx="5424170" cy="165100"/>
            <a:chOff x="2648714" y="1132332"/>
            <a:chExt cx="5424170" cy="165100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5F6EF619-A4DF-7E5A-B806-2A4D2EA7C46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1132332"/>
              <a:ext cx="5423900" cy="164592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3DBF6593-AE9F-E8AD-98F4-A06F143FD894}"/>
                </a:ext>
              </a:extLst>
            </p:cNvPr>
            <p:cNvSpPr/>
            <p:nvPr/>
          </p:nvSpPr>
          <p:spPr>
            <a:xfrm>
              <a:off x="2666999" y="1214628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>
            <a:extLst>
              <a:ext uri="{FF2B5EF4-FFF2-40B4-BE49-F238E27FC236}">
                <a16:creationId xmlns:a16="http://schemas.microsoft.com/office/drawing/2014/main" id="{396E33BB-599D-1BE1-E6D0-672FEB2BBF2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A68A5F5B-1E4A-ACCD-371D-373BD79651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41300" marR="5715" indent="-228600" algn="just">
              <a:lnSpc>
                <a:spcPct val="100000"/>
              </a:lnSpc>
              <a:spcBef>
                <a:spcPts val="100"/>
              </a:spcBef>
              <a:buClr>
                <a:srgbClr val="A9A47B"/>
              </a:buClr>
              <a:buSzPct val="97916"/>
              <a:buFont typeface="Wingdings"/>
              <a:buChar char=""/>
              <a:tabLst>
                <a:tab pos="241300" algn="l"/>
                <a:tab pos="353060" algn="l"/>
              </a:tabLst>
            </a:pPr>
            <a:r>
              <a:rPr dirty="0"/>
              <a:t>	The</a:t>
            </a:r>
            <a:r>
              <a:rPr spc="130" dirty="0"/>
              <a:t> </a:t>
            </a:r>
            <a:r>
              <a:rPr dirty="0"/>
              <a:t>V</a:t>
            </a:r>
            <a:r>
              <a:rPr spc="75" dirty="0"/>
              <a:t> </a:t>
            </a:r>
            <a:r>
              <a:rPr dirty="0"/>
              <a:t>-</a:t>
            </a:r>
            <a:r>
              <a:rPr spc="145" dirty="0"/>
              <a:t> </a:t>
            </a:r>
            <a:r>
              <a:rPr dirty="0"/>
              <a:t>model</a:t>
            </a:r>
            <a:r>
              <a:rPr spc="130" dirty="0"/>
              <a:t> </a:t>
            </a:r>
            <a:r>
              <a:rPr dirty="0"/>
              <a:t>is</a:t>
            </a:r>
            <a:r>
              <a:rPr spc="130" dirty="0"/>
              <a:t> </a:t>
            </a:r>
            <a:r>
              <a:rPr dirty="0"/>
              <a:t>SDLC</a:t>
            </a:r>
            <a:r>
              <a:rPr spc="130" dirty="0"/>
              <a:t> </a:t>
            </a:r>
            <a:r>
              <a:rPr dirty="0"/>
              <a:t>model</a:t>
            </a:r>
            <a:r>
              <a:rPr spc="135" dirty="0"/>
              <a:t> </a:t>
            </a:r>
            <a:r>
              <a:rPr dirty="0"/>
              <a:t>where</a:t>
            </a:r>
            <a:r>
              <a:rPr spc="135" dirty="0"/>
              <a:t> </a:t>
            </a:r>
            <a:r>
              <a:rPr dirty="0"/>
              <a:t>execution</a:t>
            </a:r>
            <a:r>
              <a:rPr spc="120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spc="-10" dirty="0"/>
              <a:t>processes </a:t>
            </a:r>
            <a:r>
              <a:rPr dirty="0"/>
              <a:t>happens</a:t>
            </a:r>
            <a:r>
              <a:rPr spc="-2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a sequential</a:t>
            </a:r>
            <a:r>
              <a:rPr spc="-40" dirty="0"/>
              <a:t> </a:t>
            </a:r>
            <a:r>
              <a:rPr dirty="0"/>
              <a:t>manner</a:t>
            </a:r>
            <a:r>
              <a:rPr spc="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spc="-130" dirty="0"/>
              <a:t>V-</a:t>
            </a:r>
            <a:r>
              <a:rPr spc="-10" dirty="0"/>
              <a:t>shape.</a:t>
            </a:r>
          </a:p>
          <a:p>
            <a:pPr marL="359410" indent="-346710" algn="just">
              <a:lnSpc>
                <a:spcPct val="100000"/>
              </a:lnSpc>
              <a:spcBef>
                <a:spcPts val="580"/>
              </a:spcBef>
              <a:buClr>
                <a:srgbClr val="A9A47B"/>
              </a:buClr>
              <a:buSzPct val="97916"/>
              <a:buFont typeface="Wingdings"/>
              <a:buChar char=""/>
              <a:tabLst>
                <a:tab pos="359410" algn="l"/>
              </a:tabLst>
            </a:pPr>
            <a:r>
              <a:rPr dirty="0"/>
              <a:t>It</a:t>
            </a:r>
            <a:r>
              <a:rPr spc="-3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also</a:t>
            </a:r>
            <a:r>
              <a:rPr spc="-35" dirty="0"/>
              <a:t> </a:t>
            </a:r>
            <a:r>
              <a:rPr dirty="0"/>
              <a:t>known</a:t>
            </a:r>
            <a:r>
              <a:rPr spc="-25" dirty="0"/>
              <a:t> </a:t>
            </a:r>
            <a:r>
              <a:rPr dirty="0"/>
              <a:t>as</a:t>
            </a:r>
            <a:r>
              <a:rPr spc="-25" dirty="0"/>
              <a:t> </a:t>
            </a:r>
            <a:r>
              <a:rPr b="1" i="1" spc="-20" dirty="0">
                <a:latin typeface="Times New Roman"/>
                <a:cs typeface="Times New Roman"/>
              </a:rPr>
              <a:t>Verification</a:t>
            </a:r>
            <a:r>
              <a:rPr b="1" i="1" spc="-50" dirty="0">
                <a:latin typeface="Times New Roman"/>
                <a:cs typeface="Times New Roman"/>
              </a:rPr>
              <a:t> </a:t>
            </a:r>
            <a:r>
              <a:rPr b="1" i="1" dirty="0">
                <a:latin typeface="Times New Roman"/>
                <a:cs typeface="Times New Roman"/>
              </a:rPr>
              <a:t>and</a:t>
            </a:r>
            <a:r>
              <a:rPr b="1" i="1" spc="-30" dirty="0">
                <a:latin typeface="Times New Roman"/>
                <a:cs typeface="Times New Roman"/>
              </a:rPr>
              <a:t> </a:t>
            </a:r>
            <a:r>
              <a:rPr b="1" i="1" spc="-25" dirty="0">
                <a:latin typeface="Times New Roman"/>
                <a:cs typeface="Times New Roman"/>
              </a:rPr>
              <a:t>Validation</a:t>
            </a:r>
            <a:r>
              <a:rPr b="1" i="1" spc="-45" dirty="0">
                <a:latin typeface="Times New Roman"/>
                <a:cs typeface="Times New Roman"/>
              </a:rPr>
              <a:t> </a:t>
            </a:r>
            <a:r>
              <a:rPr b="1" i="1" spc="-10" dirty="0">
                <a:latin typeface="Times New Roman"/>
                <a:cs typeface="Times New Roman"/>
              </a:rPr>
              <a:t>model</a:t>
            </a:r>
            <a:r>
              <a:rPr spc="-10" dirty="0"/>
              <a:t>.</a:t>
            </a:r>
          </a:p>
          <a:p>
            <a:pPr marL="241300" marR="6350" indent="-228600" algn="just">
              <a:lnSpc>
                <a:spcPct val="100000"/>
              </a:lnSpc>
              <a:spcBef>
                <a:spcPts val="575"/>
              </a:spcBef>
              <a:buClr>
                <a:srgbClr val="A9A47B"/>
              </a:buClr>
              <a:buSzPct val="97916"/>
              <a:buFont typeface="Wingdings"/>
              <a:buChar char=""/>
              <a:tabLst>
                <a:tab pos="241300" algn="l"/>
                <a:tab pos="354965" algn="l"/>
              </a:tabLst>
            </a:pPr>
            <a:r>
              <a:rPr dirty="0"/>
              <a:t>	V -</a:t>
            </a:r>
            <a:r>
              <a:rPr spc="55" dirty="0"/>
              <a:t> </a:t>
            </a:r>
            <a:r>
              <a:rPr dirty="0"/>
              <a:t>Model</a:t>
            </a:r>
            <a:r>
              <a:rPr spc="40" dirty="0"/>
              <a:t> </a:t>
            </a:r>
            <a:r>
              <a:rPr dirty="0"/>
              <a:t>is</a:t>
            </a:r>
            <a:r>
              <a:rPr spc="55" dirty="0"/>
              <a:t> </a:t>
            </a:r>
            <a:r>
              <a:rPr dirty="0"/>
              <a:t>an</a:t>
            </a:r>
            <a:r>
              <a:rPr spc="40" dirty="0"/>
              <a:t> </a:t>
            </a:r>
            <a:r>
              <a:rPr dirty="0"/>
              <a:t>extension</a:t>
            </a:r>
            <a:r>
              <a:rPr spc="40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dirty="0"/>
              <a:t>the</a:t>
            </a:r>
            <a:r>
              <a:rPr spc="55" dirty="0"/>
              <a:t> </a:t>
            </a:r>
            <a:r>
              <a:rPr dirty="0"/>
              <a:t>waterfall</a:t>
            </a:r>
            <a:r>
              <a:rPr spc="50" dirty="0"/>
              <a:t> </a:t>
            </a:r>
            <a:r>
              <a:rPr dirty="0"/>
              <a:t>model</a:t>
            </a:r>
            <a:r>
              <a:rPr spc="45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is</a:t>
            </a:r>
            <a:r>
              <a:rPr spc="55" dirty="0"/>
              <a:t> </a:t>
            </a:r>
            <a:r>
              <a:rPr spc="-10" dirty="0"/>
              <a:t>based </a:t>
            </a:r>
            <a:r>
              <a:rPr dirty="0"/>
              <a:t>on</a:t>
            </a:r>
            <a:r>
              <a:rPr spc="125" dirty="0"/>
              <a:t>  </a:t>
            </a:r>
            <a:r>
              <a:rPr dirty="0"/>
              <a:t>association</a:t>
            </a:r>
            <a:r>
              <a:rPr spc="130" dirty="0"/>
              <a:t>  </a:t>
            </a:r>
            <a:r>
              <a:rPr dirty="0"/>
              <a:t>of</a:t>
            </a:r>
            <a:r>
              <a:rPr spc="125" dirty="0"/>
              <a:t>  </a:t>
            </a:r>
            <a:r>
              <a:rPr dirty="0"/>
              <a:t>a</a:t>
            </a:r>
            <a:r>
              <a:rPr spc="125" dirty="0"/>
              <a:t>  </a:t>
            </a:r>
            <a:r>
              <a:rPr dirty="0"/>
              <a:t>testing</a:t>
            </a:r>
            <a:r>
              <a:rPr spc="125" dirty="0"/>
              <a:t>  </a:t>
            </a:r>
            <a:r>
              <a:rPr dirty="0"/>
              <a:t>phase</a:t>
            </a:r>
            <a:r>
              <a:rPr spc="125" dirty="0"/>
              <a:t>  </a:t>
            </a:r>
            <a:r>
              <a:rPr dirty="0"/>
              <a:t>for</a:t>
            </a:r>
            <a:r>
              <a:rPr spc="130" dirty="0"/>
              <a:t>  </a:t>
            </a:r>
            <a:r>
              <a:rPr dirty="0"/>
              <a:t>each</a:t>
            </a:r>
            <a:r>
              <a:rPr spc="125" dirty="0"/>
              <a:t>  </a:t>
            </a:r>
            <a:r>
              <a:rPr spc="-10" dirty="0"/>
              <a:t>corresponding </a:t>
            </a:r>
            <a:r>
              <a:rPr dirty="0"/>
              <a:t>development</a:t>
            </a:r>
            <a:r>
              <a:rPr spc="220" dirty="0"/>
              <a:t> </a:t>
            </a:r>
            <a:r>
              <a:rPr dirty="0"/>
              <a:t>stage.</a:t>
            </a:r>
            <a:r>
              <a:rPr spc="220" dirty="0"/>
              <a:t> </a:t>
            </a:r>
            <a:r>
              <a:rPr dirty="0"/>
              <a:t>This</a:t>
            </a:r>
            <a:r>
              <a:rPr spc="240" dirty="0"/>
              <a:t> </a:t>
            </a:r>
            <a:r>
              <a:rPr dirty="0"/>
              <a:t>means</a:t>
            </a:r>
            <a:r>
              <a:rPr spc="229" dirty="0"/>
              <a:t> </a:t>
            </a:r>
            <a:r>
              <a:rPr dirty="0"/>
              <a:t>that</a:t>
            </a:r>
            <a:r>
              <a:rPr spc="215" dirty="0"/>
              <a:t> </a:t>
            </a:r>
            <a:r>
              <a:rPr dirty="0"/>
              <a:t>for</a:t>
            </a:r>
            <a:r>
              <a:rPr spc="229" dirty="0"/>
              <a:t> </a:t>
            </a:r>
            <a:r>
              <a:rPr dirty="0"/>
              <a:t>every</a:t>
            </a:r>
            <a:r>
              <a:rPr spc="229" dirty="0"/>
              <a:t> </a:t>
            </a:r>
            <a:r>
              <a:rPr dirty="0"/>
              <a:t>single</a:t>
            </a:r>
            <a:r>
              <a:rPr spc="220" dirty="0"/>
              <a:t> </a:t>
            </a:r>
            <a:r>
              <a:rPr dirty="0"/>
              <a:t>phase</a:t>
            </a:r>
            <a:r>
              <a:rPr spc="229" dirty="0"/>
              <a:t> </a:t>
            </a:r>
            <a:r>
              <a:rPr spc="-25" dirty="0"/>
              <a:t>in </a:t>
            </a:r>
            <a:r>
              <a:rPr dirty="0"/>
              <a:t>the</a:t>
            </a:r>
            <a:r>
              <a:rPr spc="555" dirty="0"/>
              <a:t> </a:t>
            </a:r>
            <a:r>
              <a:rPr dirty="0"/>
              <a:t>development</a:t>
            </a:r>
            <a:r>
              <a:rPr spc="560" dirty="0"/>
              <a:t> </a:t>
            </a:r>
            <a:r>
              <a:rPr dirty="0"/>
              <a:t>cycle</a:t>
            </a:r>
            <a:r>
              <a:rPr spc="545" dirty="0"/>
              <a:t> </a:t>
            </a:r>
            <a:r>
              <a:rPr dirty="0"/>
              <a:t>there</a:t>
            </a:r>
            <a:r>
              <a:rPr spc="540" dirty="0"/>
              <a:t> </a:t>
            </a:r>
            <a:r>
              <a:rPr dirty="0"/>
              <a:t>is</a:t>
            </a:r>
            <a:r>
              <a:rPr spc="555" dirty="0"/>
              <a:t> </a:t>
            </a:r>
            <a:r>
              <a:rPr dirty="0"/>
              <a:t>a</a:t>
            </a:r>
            <a:r>
              <a:rPr spc="535" dirty="0"/>
              <a:t> </a:t>
            </a:r>
            <a:r>
              <a:rPr dirty="0"/>
              <a:t>directly</a:t>
            </a:r>
            <a:r>
              <a:rPr spc="545" dirty="0"/>
              <a:t> </a:t>
            </a:r>
            <a:r>
              <a:rPr dirty="0"/>
              <a:t>associated</a:t>
            </a:r>
            <a:r>
              <a:rPr spc="550" dirty="0"/>
              <a:t> </a:t>
            </a:r>
            <a:r>
              <a:rPr spc="-10" dirty="0"/>
              <a:t>testing phase.</a:t>
            </a:r>
          </a:p>
          <a:p>
            <a:pPr marL="241300" marR="5080" indent="-237490" algn="just">
              <a:lnSpc>
                <a:spcPct val="100000"/>
              </a:lnSpc>
              <a:spcBef>
                <a:spcPts val="575"/>
              </a:spcBef>
              <a:buClr>
                <a:srgbClr val="A9A47B"/>
              </a:buClr>
              <a:buSzPct val="97916"/>
              <a:buFont typeface="Wingdings"/>
              <a:buChar char=""/>
              <a:tabLst>
                <a:tab pos="241300" algn="l"/>
                <a:tab pos="283210" algn="l"/>
              </a:tabLst>
            </a:pPr>
            <a:r>
              <a:rPr dirty="0"/>
              <a:t>	This</a:t>
            </a:r>
            <a:r>
              <a:rPr spc="210" dirty="0"/>
              <a:t> </a:t>
            </a:r>
            <a:r>
              <a:rPr dirty="0"/>
              <a:t>is</a:t>
            </a:r>
            <a:r>
              <a:rPr spc="229" dirty="0"/>
              <a:t> </a:t>
            </a:r>
            <a:r>
              <a:rPr dirty="0"/>
              <a:t>a</a:t>
            </a:r>
            <a:r>
              <a:rPr spc="225" dirty="0"/>
              <a:t> </a:t>
            </a:r>
            <a:r>
              <a:rPr dirty="0"/>
              <a:t>highly</a:t>
            </a:r>
            <a:r>
              <a:rPr spc="235" dirty="0"/>
              <a:t> </a:t>
            </a:r>
            <a:r>
              <a:rPr dirty="0"/>
              <a:t>disciplined</a:t>
            </a:r>
            <a:r>
              <a:rPr spc="210" dirty="0"/>
              <a:t> </a:t>
            </a:r>
            <a:r>
              <a:rPr dirty="0"/>
              <a:t>model</a:t>
            </a:r>
            <a:r>
              <a:rPr spc="240" dirty="0"/>
              <a:t> </a:t>
            </a:r>
            <a:r>
              <a:rPr dirty="0"/>
              <a:t>and</a:t>
            </a:r>
            <a:r>
              <a:rPr spc="225" dirty="0"/>
              <a:t> </a:t>
            </a:r>
            <a:r>
              <a:rPr dirty="0"/>
              <a:t>next</a:t>
            </a:r>
            <a:r>
              <a:rPr spc="235" dirty="0"/>
              <a:t> </a:t>
            </a:r>
            <a:r>
              <a:rPr dirty="0"/>
              <a:t>phase</a:t>
            </a:r>
            <a:r>
              <a:rPr spc="229" dirty="0"/>
              <a:t> </a:t>
            </a:r>
            <a:r>
              <a:rPr dirty="0"/>
              <a:t>starts</a:t>
            </a:r>
            <a:r>
              <a:rPr spc="235" dirty="0"/>
              <a:t> </a:t>
            </a:r>
            <a:r>
              <a:rPr spc="-20" dirty="0"/>
              <a:t>only </a:t>
            </a:r>
            <a:r>
              <a:rPr dirty="0"/>
              <a:t>after</a:t>
            </a:r>
            <a:r>
              <a:rPr spc="-25" dirty="0"/>
              <a:t> </a:t>
            </a:r>
            <a:r>
              <a:rPr dirty="0"/>
              <a:t>completion</a:t>
            </a:r>
            <a:r>
              <a:rPr spc="-2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previous</a:t>
            </a:r>
            <a:r>
              <a:rPr spc="-15" dirty="0"/>
              <a:t> </a:t>
            </a:r>
            <a:r>
              <a:rPr spc="-10" dirty="0"/>
              <a:t>phase.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4848429-C2B4-211D-70B6-F69A7C08B46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812170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1066800">
              <a:lnSpc>
                <a:spcPct val="100000"/>
              </a:lnSpc>
              <a:spcBef>
                <a:spcPts val="100"/>
              </a:spcBef>
            </a:pPr>
            <a:r>
              <a:rPr spc="-85" dirty="0">
                <a:solidFill>
                  <a:srgbClr val="544E39"/>
                </a:solidFill>
              </a:rPr>
              <a:t>The</a:t>
            </a:r>
            <a:r>
              <a:rPr spc="-180" dirty="0">
                <a:solidFill>
                  <a:srgbClr val="544E39"/>
                </a:solidFill>
              </a:rPr>
              <a:t> </a:t>
            </a:r>
            <a:r>
              <a:rPr spc="-125" dirty="0">
                <a:solidFill>
                  <a:srgbClr val="544E39"/>
                </a:solidFill>
              </a:rPr>
              <a:t>V-</a:t>
            </a:r>
            <a:r>
              <a:rPr spc="-85" dirty="0">
                <a:solidFill>
                  <a:srgbClr val="544E39"/>
                </a:solidFill>
              </a:rPr>
              <a:t>Model</a:t>
            </a:r>
            <a:r>
              <a:rPr spc="-85" dirty="0">
                <a:solidFill>
                  <a:srgbClr val="675E46"/>
                </a:solidFill>
              </a:rPr>
              <a:t>(Cont..)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648714" y="1132332"/>
            <a:ext cx="5424170" cy="165100"/>
            <a:chOff x="2648714" y="1132332"/>
            <a:chExt cx="5424170" cy="165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1132332"/>
              <a:ext cx="5423900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66999" y="1214628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4718" rIns="0" bIns="0" rtlCol="0">
            <a:spAutoFit/>
          </a:bodyPr>
          <a:lstStyle/>
          <a:p>
            <a:pPr marL="241300" marR="5080" indent="-231140" algn="just">
              <a:lnSpc>
                <a:spcPct val="90000"/>
              </a:lnSpc>
              <a:spcBef>
                <a:spcPts val="385"/>
              </a:spcBef>
              <a:buClr>
                <a:srgbClr val="A9A47B"/>
              </a:buClr>
              <a:buSzPct val="95833"/>
              <a:buFont typeface="Wingdings"/>
              <a:buChar char=""/>
              <a:tabLst>
                <a:tab pos="241300" algn="l"/>
                <a:tab pos="283210" algn="l"/>
              </a:tabLst>
            </a:pPr>
            <a:r>
              <a:rPr dirty="0"/>
              <a:t>	A</a:t>
            </a:r>
            <a:r>
              <a:rPr spc="580" dirty="0"/>
              <a:t> </a:t>
            </a:r>
            <a:r>
              <a:rPr dirty="0"/>
              <a:t>variation</a:t>
            </a:r>
            <a:r>
              <a:rPr spc="55" dirty="0"/>
              <a:t>  </a:t>
            </a:r>
            <a:r>
              <a:rPr dirty="0"/>
              <a:t>of</a:t>
            </a:r>
            <a:r>
              <a:rPr spc="60" dirty="0"/>
              <a:t>  </a:t>
            </a:r>
            <a:r>
              <a:rPr dirty="0"/>
              <a:t>waterfall</a:t>
            </a:r>
            <a:r>
              <a:rPr spc="55" dirty="0"/>
              <a:t>  </a:t>
            </a:r>
            <a:r>
              <a:rPr dirty="0"/>
              <a:t>model</a:t>
            </a:r>
            <a:r>
              <a:rPr spc="65" dirty="0"/>
              <a:t>  </a:t>
            </a:r>
            <a:r>
              <a:rPr dirty="0"/>
              <a:t>depicts</a:t>
            </a:r>
            <a:r>
              <a:rPr spc="50" dirty="0"/>
              <a:t>  </a:t>
            </a:r>
            <a:r>
              <a:rPr dirty="0"/>
              <a:t>the</a:t>
            </a:r>
            <a:r>
              <a:rPr spc="65" dirty="0"/>
              <a:t>  </a:t>
            </a:r>
            <a:r>
              <a:rPr dirty="0"/>
              <a:t>relationship</a:t>
            </a:r>
            <a:r>
              <a:rPr spc="50" dirty="0"/>
              <a:t>  </a:t>
            </a:r>
            <a:r>
              <a:rPr spc="-25" dirty="0"/>
              <a:t>of </a:t>
            </a:r>
            <a:r>
              <a:rPr dirty="0"/>
              <a:t>quality</a:t>
            </a:r>
            <a:r>
              <a:rPr spc="260" dirty="0"/>
              <a:t>  </a:t>
            </a:r>
            <a:r>
              <a:rPr dirty="0"/>
              <a:t>assurance</a:t>
            </a:r>
            <a:r>
              <a:rPr spc="260" dirty="0"/>
              <a:t>  </a:t>
            </a:r>
            <a:r>
              <a:rPr dirty="0"/>
              <a:t>actions</a:t>
            </a:r>
            <a:r>
              <a:rPr spc="240" dirty="0"/>
              <a:t>  </a:t>
            </a:r>
            <a:r>
              <a:rPr dirty="0"/>
              <a:t>to</a:t>
            </a:r>
            <a:r>
              <a:rPr spc="260" dirty="0"/>
              <a:t>  </a:t>
            </a:r>
            <a:r>
              <a:rPr dirty="0"/>
              <a:t>the</a:t>
            </a:r>
            <a:r>
              <a:rPr spc="254" dirty="0"/>
              <a:t>  </a:t>
            </a:r>
            <a:r>
              <a:rPr dirty="0"/>
              <a:t>actions</a:t>
            </a:r>
            <a:r>
              <a:rPr spc="254" dirty="0"/>
              <a:t>  </a:t>
            </a:r>
            <a:r>
              <a:rPr dirty="0"/>
              <a:t>associated</a:t>
            </a:r>
            <a:r>
              <a:rPr spc="260" dirty="0"/>
              <a:t>  </a:t>
            </a:r>
            <a:r>
              <a:rPr spc="-20" dirty="0"/>
              <a:t>with </a:t>
            </a:r>
            <a:r>
              <a:rPr dirty="0"/>
              <a:t>communication,</a:t>
            </a:r>
            <a:r>
              <a:rPr spc="540" dirty="0"/>
              <a:t>  </a:t>
            </a:r>
            <a:r>
              <a:rPr dirty="0"/>
              <a:t>modeling</a:t>
            </a:r>
            <a:r>
              <a:rPr spc="540" dirty="0"/>
              <a:t>  </a:t>
            </a:r>
            <a:r>
              <a:rPr dirty="0"/>
              <a:t>and</a:t>
            </a:r>
            <a:r>
              <a:rPr spc="540" dirty="0"/>
              <a:t>  </a:t>
            </a:r>
            <a:r>
              <a:rPr dirty="0"/>
              <a:t>early</a:t>
            </a:r>
            <a:r>
              <a:rPr spc="540" dirty="0"/>
              <a:t>  </a:t>
            </a:r>
            <a:r>
              <a:rPr dirty="0"/>
              <a:t>code</a:t>
            </a:r>
            <a:r>
              <a:rPr spc="535" dirty="0"/>
              <a:t>  </a:t>
            </a:r>
            <a:r>
              <a:rPr spc="-10" dirty="0"/>
              <a:t>construction activates.</a:t>
            </a:r>
          </a:p>
          <a:p>
            <a:pPr>
              <a:lnSpc>
                <a:spcPct val="100000"/>
              </a:lnSpc>
              <a:spcBef>
                <a:spcPts val="985"/>
              </a:spcBef>
              <a:buClr>
                <a:srgbClr val="A9A47B"/>
              </a:buClr>
              <a:buFont typeface="Wingdings"/>
              <a:buChar char=""/>
            </a:pPr>
            <a:endParaRPr spc="-10" dirty="0"/>
          </a:p>
          <a:p>
            <a:pPr marL="241300" marR="5080" indent="-230504" algn="just">
              <a:lnSpc>
                <a:spcPct val="90000"/>
              </a:lnSpc>
              <a:buClr>
                <a:srgbClr val="A9A47B"/>
              </a:buClr>
              <a:buSzPct val="95833"/>
              <a:buFont typeface="Wingdings"/>
              <a:buChar char=""/>
              <a:tabLst>
                <a:tab pos="241300" algn="l"/>
                <a:tab pos="283845" algn="l"/>
              </a:tabLst>
            </a:pPr>
            <a:r>
              <a:rPr dirty="0"/>
              <a:t>	Team</a:t>
            </a:r>
            <a:r>
              <a:rPr spc="405" dirty="0"/>
              <a:t> </a:t>
            </a:r>
            <a:r>
              <a:rPr dirty="0"/>
              <a:t>first</a:t>
            </a:r>
            <a:r>
              <a:rPr spc="425" dirty="0"/>
              <a:t> </a:t>
            </a:r>
            <a:r>
              <a:rPr dirty="0"/>
              <a:t>moves</a:t>
            </a:r>
            <a:r>
              <a:rPr spc="425" dirty="0"/>
              <a:t> </a:t>
            </a:r>
            <a:r>
              <a:rPr dirty="0"/>
              <a:t>down</a:t>
            </a:r>
            <a:r>
              <a:rPr spc="425" dirty="0"/>
              <a:t> </a:t>
            </a:r>
            <a:r>
              <a:rPr dirty="0"/>
              <a:t>the</a:t>
            </a:r>
            <a:r>
              <a:rPr spc="420" dirty="0"/>
              <a:t> </a:t>
            </a:r>
            <a:r>
              <a:rPr dirty="0"/>
              <a:t>left</a:t>
            </a:r>
            <a:r>
              <a:rPr spc="420" dirty="0"/>
              <a:t> </a:t>
            </a:r>
            <a:r>
              <a:rPr dirty="0"/>
              <a:t>side</a:t>
            </a:r>
            <a:r>
              <a:rPr spc="420" dirty="0"/>
              <a:t> </a:t>
            </a:r>
            <a:r>
              <a:rPr dirty="0"/>
              <a:t>of</a:t>
            </a:r>
            <a:r>
              <a:rPr spc="415" dirty="0"/>
              <a:t> </a:t>
            </a:r>
            <a:r>
              <a:rPr dirty="0"/>
              <a:t>the</a:t>
            </a:r>
            <a:r>
              <a:rPr spc="434" dirty="0"/>
              <a:t> </a:t>
            </a:r>
            <a:r>
              <a:rPr dirty="0"/>
              <a:t>V</a:t>
            </a:r>
            <a:r>
              <a:rPr spc="375" dirty="0"/>
              <a:t> </a:t>
            </a:r>
            <a:r>
              <a:rPr dirty="0"/>
              <a:t>to</a:t>
            </a:r>
            <a:r>
              <a:rPr spc="420" dirty="0"/>
              <a:t> </a:t>
            </a:r>
            <a:r>
              <a:rPr dirty="0"/>
              <a:t>refine</a:t>
            </a:r>
            <a:r>
              <a:rPr spc="420" dirty="0"/>
              <a:t> </a:t>
            </a:r>
            <a:r>
              <a:rPr spc="-25" dirty="0"/>
              <a:t>the </a:t>
            </a:r>
            <a:r>
              <a:rPr dirty="0"/>
              <a:t>problem</a:t>
            </a:r>
            <a:r>
              <a:rPr spc="160" dirty="0"/>
              <a:t>  </a:t>
            </a:r>
            <a:r>
              <a:rPr dirty="0"/>
              <a:t>requirements.</a:t>
            </a:r>
            <a:r>
              <a:rPr spc="165" dirty="0"/>
              <a:t>  </a:t>
            </a:r>
            <a:r>
              <a:rPr dirty="0"/>
              <a:t>Once</a:t>
            </a:r>
            <a:r>
              <a:rPr spc="175" dirty="0"/>
              <a:t>  </a:t>
            </a:r>
            <a:r>
              <a:rPr dirty="0"/>
              <a:t>code</a:t>
            </a:r>
            <a:r>
              <a:rPr spc="175" dirty="0"/>
              <a:t>  </a:t>
            </a:r>
            <a:r>
              <a:rPr dirty="0"/>
              <a:t>is</a:t>
            </a:r>
            <a:r>
              <a:rPr spc="175" dirty="0"/>
              <a:t>  </a:t>
            </a:r>
            <a:r>
              <a:rPr dirty="0"/>
              <a:t>generated,</a:t>
            </a:r>
            <a:r>
              <a:rPr spc="170" dirty="0"/>
              <a:t>  </a:t>
            </a:r>
            <a:r>
              <a:rPr dirty="0"/>
              <a:t>the</a:t>
            </a:r>
            <a:r>
              <a:rPr spc="175" dirty="0"/>
              <a:t>  </a:t>
            </a:r>
            <a:r>
              <a:rPr spc="-20" dirty="0"/>
              <a:t>team </a:t>
            </a:r>
            <a:r>
              <a:rPr dirty="0"/>
              <a:t>moves</a:t>
            </a:r>
            <a:r>
              <a:rPr spc="204" dirty="0"/>
              <a:t> </a:t>
            </a:r>
            <a:r>
              <a:rPr dirty="0"/>
              <a:t>up</a:t>
            </a:r>
            <a:r>
              <a:rPr spc="210" dirty="0"/>
              <a:t> </a:t>
            </a:r>
            <a:r>
              <a:rPr dirty="0"/>
              <a:t>the</a:t>
            </a:r>
            <a:r>
              <a:rPr spc="204" dirty="0"/>
              <a:t> </a:t>
            </a:r>
            <a:r>
              <a:rPr dirty="0"/>
              <a:t>right</a:t>
            </a:r>
            <a:r>
              <a:rPr spc="210" dirty="0"/>
              <a:t> </a:t>
            </a:r>
            <a:r>
              <a:rPr dirty="0"/>
              <a:t>side</a:t>
            </a:r>
            <a:r>
              <a:rPr spc="195" dirty="0"/>
              <a:t> </a:t>
            </a:r>
            <a:r>
              <a:rPr dirty="0"/>
              <a:t>of</a:t>
            </a:r>
            <a:r>
              <a:rPr spc="190" dirty="0"/>
              <a:t> </a:t>
            </a:r>
            <a:r>
              <a:rPr dirty="0"/>
              <a:t>the</a:t>
            </a:r>
            <a:r>
              <a:rPr spc="204" dirty="0"/>
              <a:t> </a:t>
            </a:r>
            <a:r>
              <a:rPr dirty="0"/>
              <a:t>V,</a:t>
            </a:r>
            <a:r>
              <a:rPr spc="210" dirty="0"/>
              <a:t> </a:t>
            </a:r>
            <a:r>
              <a:rPr dirty="0"/>
              <a:t>performing</a:t>
            </a:r>
            <a:r>
              <a:rPr spc="204" dirty="0"/>
              <a:t> </a:t>
            </a:r>
            <a:r>
              <a:rPr dirty="0"/>
              <a:t>a</a:t>
            </a:r>
            <a:r>
              <a:rPr spc="204" dirty="0"/>
              <a:t> </a:t>
            </a:r>
            <a:r>
              <a:rPr dirty="0"/>
              <a:t>series</a:t>
            </a:r>
            <a:r>
              <a:rPr spc="204" dirty="0"/>
              <a:t> </a:t>
            </a:r>
            <a:r>
              <a:rPr dirty="0"/>
              <a:t>of</a:t>
            </a:r>
            <a:r>
              <a:rPr spc="190" dirty="0"/>
              <a:t> </a:t>
            </a:r>
            <a:r>
              <a:rPr spc="-10" dirty="0"/>
              <a:t>tests </a:t>
            </a:r>
            <a:r>
              <a:rPr dirty="0"/>
              <a:t>that</a:t>
            </a:r>
            <a:r>
              <a:rPr spc="405" dirty="0"/>
              <a:t> </a:t>
            </a:r>
            <a:r>
              <a:rPr dirty="0"/>
              <a:t>validate</a:t>
            </a:r>
            <a:r>
              <a:rPr spc="395" dirty="0"/>
              <a:t> </a:t>
            </a:r>
            <a:r>
              <a:rPr dirty="0"/>
              <a:t>each</a:t>
            </a:r>
            <a:r>
              <a:rPr spc="409" dirty="0"/>
              <a:t> </a:t>
            </a:r>
            <a:r>
              <a:rPr dirty="0"/>
              <a:t>of</a:t>
            </a:r>
            <a:r>
              <a:rPr spc="400" dirty="0"/>
              <a:t> </a:t>
            </a:r>
            <a:r>
              <a:rPr dirty="0"/>
              <a:t>the</a:t>
            </a:r>
            <a:r>
              <a:rPr spc="409" dirty="0"/>
              <a:t> </a:t>
            </a:r>
            <a:r>
              <a:rPr dirty="0"/>
              <a:t>models</a:t>
            </a:r>
            <a:r>
              <a:rPr spc="420" dirty="0"/>
              <a:t> </a:t>
            </a:r>
            <a:r>
              <a:rPr dirty="0"/>
              <a:t>created</a:t>
            </a:r>
            <a:r>
              <a:rPr spc="415" dirty="0"/>
              <a:t> </a:t>
            </a:r>
            <a:r>
              <a:rPr dirty="0"/>
              <a:t>as</a:t>
            </a:r>
            <a:r>
              <a:rPr spc="400" dirty="0"/>
              <a:t> </a:t>
            </a:r>
            <a:r>
              <a:rPr dirty="0"/>
              <a:t>the</a:t>
            </a:r>
            <a:r>
              <a:rPr spc="405" dirty="0"/>
              <a:t> </a:t>
            </a:r>
            <a:r>
              <a:rPr dirty="0"/>
              <a:t>team</a:t>
            </a:r>
            <a:r>
              <a:rPr spc="390" dirty="0"/>
              <a:t> </a:t>
            </a:r>
            <a:r>
              <a:rPr spc="-10" dirty="0"/>
              <a:t>moved </a:t>
            </a:r>
            <a:r>
              <a:rPr dirty="0"/>
              <a:t>down</a:t>
            </a:r>
            <a:r>
              <a:rPr spc="-1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left</a:t>
            </a:r>
            <a:r>
              <a:rPr spc="-35" dirty="0"/>
              <a:t> </a:t>
            </a:r>
            <a:r>
              <a:rPr spc="-10" dirty="0"/>
              <a:t>side.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9645" y="378714"/>
            <a:ext cx="4662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>
                <a:solidFill>
                  <a:srgbClr val="675E46"/>
                </a:solidFill>
              </a:rPr>
              <a:t>The</a:t>
            </a:r>
            <a:r>
              <a:rPr spc="-185" dirty="0">
                <a:solidFill>
                  <a:srgbClr val="675E46"/>
                </a:solidFill>
              </a:rPr>
              <a:t> </a:t>
            </a:r>
            <a:r>
              <a:rPr spc="-110" dirty="0">
                <a:solidFill>
                  <a:srgbClr val="675E46"/>
                </a:solidFill>
              </a:rPr>
              <a:t>Incremental</a:t>
            </a:r>
            <a:r>
              <a:rPr spc="-200" dirty="0">
                <a:solidFill>
                  <a:srgbClr val="675E46"/>
                </a:solidFill>
              </a:rPr>
              <a:t> </a:t>
            </a:r>
            <a:r>
              <a:rPr spc="-35" dirty="0">
                <a:solidFill>
                  <a:srgbClr val="675E46"/>
                </a:solidFill>
              </a:rPr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648714" y="1132332"/>
            <a:ext cx="5424170" cy="165100"/>
            <a:chOff x="2648714" y="1132332"/>
            <a:chExt cx="5424170" cy="165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714" y="1132332"/>
              <a:ext cx="5423900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66999" y="1214628"/>
              <a:ext cx="5334000" cy="0"/>
            </a:xfrm>
            <a:custGeom>
              <a:avLst/>
              <a:gdLst/>
              <a:ahLst/>
              <a:cxnLst/>
              <a:rect l="l" t="t" r="r" b="b"/>
              <a:pathLst>
                <a:path w="5334000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7363" y="1543365"/>
            <a:ext cx="6996335" cy="488100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85" dirty="0">
                <a:solidFill>
                  <a:srgbClr val="675E46"/>
                </a:solidFill>
              </a:rPr>
              <a:t>The</a:t>
            </a:r>
            <a:r>
              <a:rPr spc="-160" dirty="0">
                <a:solidFill>
                  <a:srgbClr val="675E46"/>
                </a:solidFill>
              </a:rPr>
              <a:t> </a:t>
            </a:r>
            <a:r>
              <a:rPr spc="-114" dirty="0">
                <a:solidFill>
                  <a:srgbClr val="675E46"/>
                </a:solidFill>
              </a:rPr>
              <a:t>Incremental</a:t>
            </a:r>
            <a:r>
              <a:rPr spc="-175" dirty="0">
                <a:solidFill>
                  <a:srgbClr val="675E46"/>
                </a:solidFill>
              </a:rPr>
              <a:t> </a:t>
            </a:r>
            <a:r>
              <a:rPr spc="-75" dirty="0">
                <a:solidFill>
                  <a:srgbClr val="675E46"/>
                </a:solidFill>
              </a:rPr>
              <a:t>Model(Cont..)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678671" y="5683097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27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334767" y="1118616"/>
            <a:ext cx="6164580" cy="182880"/>
            <a:chOff x="2334767" y="1118616"/>
            <a:chExt cx="6164580" cy="1828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4767" y="1118616"/>
              <a:ext cx="6164580" cy="1828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62199" y="1210056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31140" y="1395729"/>
            <a:ext cx="8073390" cy="2202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Wingdings"/>
              <a:buChar char=""/>
              <a:tabLst>
                <a:tab pos="469265" algn="l"/>
                <a:tab pos="1083945" algn="l"/>
                <a:tab pos="2583815" algn="l"/>
                <a:tab pos="3462020" algn="l"/>
                <a:tab pos="4711700" algn="l"/>
                <a:tab pos="5774055" algn="l"/>
                <a:tab pos="6186805" algn="l"/>
                <a:tab pos="7362190" algn="l"/>
              </a:tabLst>
            </a:pP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incremental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combines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element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waterfall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applied</a:t>
            </a:r>
            <a:r>
              <a:rPr sz="22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an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iterative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fashion.</a:t>
            </a:r>
            <a:endParaRPr sz="2200">
              <a:latin typeface="Times New Roman"/>
              <a:cs typeface="Times New Roman"/>
            </a:endParaRPr>
          </a:p>
          <a:p>
            <a:pPr marL="469900" marR="5715" indent="-457200">
              <a:lnSpc>
                <a:spcPct val="100000"/>
              </a:lnSpc>
              <a:spcBef>
                <a:spcPts val="530"/>
              </a:spcBef>
              <a:buClr>
                <a:srgbClr val="A9A47B"/>
              </a:buClr>
              <a:buFont typeface="Wingdings"/>
              <a:buChar char=""/>
              <a:tabLst>
                <a:tab pos="469900" algn="l"/>
                <a:tab pos="1039494" algn="l"/>
                <a:tab pos="2496820" algn="l"/>
                <a:tab pos="3329304" algn="l"/>
                <a:tab pos="4257040" algn="l"/>
                <a:tab pos="5030470" algn="l"/>
                <a:tab pos="6188710" algn="l"/>
                <a:tab pos="6744970" algn="l"/>
                <a:tab pos="7112634" algn="l"/>
              </a:tabLst>
            </a:pP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incremental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applies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linear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sequence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200" spc="-20" dirty="0">
                <a:solidFill>
                  <a:srgbClr val="2E2B1F"/>
                </a:solidFill>
                <a:latin typeface="Times New Roman"/>
                <a:cs typeface="Times New Roman"/>
              </a:rPr>
              <a:t>like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200" spc="-25" dirty="0">
                <a:solidFill>
                  <a:srgbClr val="2E2B1F"/>
                </a:solidFill>
                <a:latin typeface="Times New Roman"/>
                <a:cs typeface="Times New Roman"/>
              </a:rPr>
              <a:t>as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calendar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time</a:t>
            </a:r>
            <a:r>
              <a:rPr sz="22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progresses.</a:t>
            </a:r>
            <a:r>
              <a:rPr sz="22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Each</a:t>
            </a:r>
            <a:r>
              <a:rPr sz="22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E2B1F"/>
                </a:solidFill>
                <a:latin typeface="Times New Roman"/>
                <a:cs typeface="Times New Roman"/>
              </a:rPr>
              <a:t>linear</a:t>
            </a:r>
            <a:r>
              <a:rPr sz="22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Times New Roman"/>
                <a:cs typeface="Times New Roman"/>
              </a:rPr>
              <a:t>sequence.</a:t>
            </a: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30"/>
              </a:spcBef>
              <a:buClr>
                <a:srgbClr val="A9A47B"/>
              </a:buClr>
              <a:buFont typeface="Wingdings"/>
              <a:buChar char=""/>
              <a:tabLst>
                <a:tab pos="469265" algn="l"/>
              </a:tabLst>
            </a:pPr>
            <a:r>
              <a:rPr sz="2200" b="1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2200" b="1" spc="-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Example:-</a:t>
            </a:r>
            <a:endParaRPr sz="2200">
              <a:latin typeface="Times New Roman"/>
              <a:cs typeface="Times New Roman"/>
            </a:endParaRPr>
          </a:p>
          <a:p>
            <a:pPr marL="1132840" lvl="1" indent="-457200">
              <a:lnSpc>
                <a:spcPct val="100000"/>
              </a:lnSpc>
              <a:spcBef>
                <a:spcPts val="484"/>
              </a:spcBef>
              <a:buClr>
                <a:srgbClr val="D2CA6C"/>
              </a:buClr>
              <a:buFont typeface="Wingdings"/>
              <a:buChar char=""/>
              <a:tabLst>
                <a:tab pos="1132840" algn="l"/>
                <a:tab pos="1865630" algn="l"/>
                <a:tab pos="3124835" algn="l"/>
                <a:tab pos="4170679" algn="l"/>
                <a:tab pos="5655310" algn="l"/>
                <a:tab pos="6381115" algn="l"/>
                <a:tab pos="6863715" algn="l"/>
              </a:tabLst>
            </a:pP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Word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processing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development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using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incremental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4384" y="3511462"/>
            <a:ext cx="7409180" cy="246507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580"/>
              </a:spcBef>
            </a:pP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paradigm.</a:t>
            </a:r>
            <a:endParaRPr sz="2000">
              <a:latin typeface="Times New Roman"/>
              <a:cs typeface="Times New Roman"/>
            </a:endParaRPr>
          </a:p>
          <a:p>
            <a:pPr marL="469265" marR="5080" indent="-457200">
              <a:lnSpc>
                <a:spcPct val="100000"/>
              </a:lnSpc>
              <a:spcBef>
                <a:spcPts val="484"/>
              </a:spcBef>
              <a:buClr>
                <a:srgbClr val="D2CA6C"/>
              </a:buClr>
              <a:buFont typeface="Wingdings"/>
              <a:buChar char=""/>
              <a:tabLst>
                <a:tab pos="469265" algn="l"/>
              </a:tabLst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Basic</a:t>
            </a:r>
            <a:r>
              <a:rPr sz="2000" spc="3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file</a:t>
            </a:r>
            <a:r>
              <a:rPr sz="2000" spc="3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management,</a:t>
            </a:r>
            <a:r>
              <a:rPr sz="2000" spc="3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editing,</a:t>
            </a:r>
            <a:r>
              <a:rPr sz="2000" spc="3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document</a:t>
            </a:r>
            <a:r>
              <a:rPr sz="2000" spc="3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production</a:t>
            </a:r>
            <a:r>
              <a:rPr sz="2000" spc="3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function</a:t>
            </a:r>
            <a:r>
              <a:rPr sz="2000" spc="3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in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first</a:t>
            </a:r>
            <a:r>
              <a:rPr sz="20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increment.</a:t>
            </a: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Clr>
                <a:srgbClr val="D2CA6C"/>
              </a:buClr>
              <a:buFont typeface="Wingdings"/>
              <a:buChar char=""/>
              <a:tabLst>
                <a:tab pos="469265" algn="l"/>
              </a:tabLst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More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sophisticated</a:t>
            </a:r>
            <a:r>
              <a:rPr sz="20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editing,</a:t>
            </a:r>
            <a:r>
              <a:rPr sz="2000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and document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production</a:t>
            </a:r>
            <a:r>
              <a:rPr sz="2000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capabilities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second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increment.</a:t>
            </a: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Clr>
                <a:srgbClr val="D2CA6C"/>
              </a:buClr>
              <a:buFont typeface="Wingdings"/>
              <a:buChar char=""/>
              <a:tabLst>
                <a:tab pos="469265" algn="l"/>
              </a:tabLst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Spelling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grammar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checking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third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increment.</a:t>
            </a: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Clr>
                <a:srgbClr val="D2CA6C"/>
              </a:buClr>
              <a:buFont typeface="Wingdings"/>
              <a:buChar char=""/>
              <a:tabLst>
                <a:tab pos="469265" algn="l"/>
              </a:tabLst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Advance</a:t>
            </a:r>
            <a:r>
              <a:rPr sz="20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page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layout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capability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fourth.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6526" y="378714"/>
            <a:ext cx="3389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>
                <a:solidFill>
                  <a:srgbClr val="675E46"/>
                </a:solidFill>
              </a:rPr>
              <a:t>The</a:t>
            </a:r>
            <a:r>
              <a:rPr spc="-200" dirty="0">
                <a:solidFill>
                  <a:srgbClr val="675E46"/>
                </a:solidFill>
              </a:rPr>
              <a:t> </a:t>
            </a:r>
            <a:r>
              <a:rPr spc="-110" dirty="0">
                <a:solidFill>
                  <a:srgbClr val="675E46"/>
                </a:solidFill>
              </a:rPr>
              <a:t>Spiral</a:t>
            </a:r>
            <a:r>
              <a:rPr spc="-180" dirty="0">
                <a:solidFill>
                  <a:srgbClr val="675E46"/>
                </a:solidFill>
              </a:rPr>
              <a:t> </a:t>
            </a:r>
            <a:r>
              <a:rPr spc="-50" dirty="0">
                <a:solidFill>
                  <a:srgbClr val="675E46"/>
                </a:solidFill>
              </a:rPr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962905" y="1132332"/>
            <a:ext cx="6414770" cy="165100"/>
            <a:chOff x="1962905" y="1132332"/>
            <a:chExt cx="6414770" cy="165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2905" y="1132332"/>
              <a:ext cx="6414554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81200" y="1214628"/>
              <a:ext cx="6324600" cy="0"/>
            </a:xfrm>
            <a:custGeom>
              <a:avLst/>
              <a:gdLst/>
              <a:ahLst/>
              <a:cxnLst/>
              <a:rect l="l" t="t" r="r" b="b"/>
              <a:pathLst>
                <a:path w="6324600">
                  <a:moveTo>
                    <a:pt x="0" y="0"/>
                  </a:moveTo>
                  <a:lnTo>
                    <a:pt x="6324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208" y="1783477"/>
            <a:ext cx="7153138" cy="448915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649605">
              <a:lnSpc>
                <a:spcPct val="100000"/>
              </a:lnSpc>
              <a:spcBef>
                <a:spcPts val="100"/>
              </a:spcBef>
            </a:pPr>
            <a:r>
              <a:rPr spc="-85" dirty="0">
                <a:solidFill>
                  <a:srgbClr val="675E46"/>
                </a:solidFill>
              </a:rPr>
              <a:t>The</a:t>
            </a:r>
            <a:r>
              <a:rPr spc="-200" dirty="0">
                <a:solidFill>
                  <a:srgbClr val="675E46"/>
                </a:solidFill>
              </a:rPr>
              <a:t> </a:t>
            </a:r>
            <a:r>
              <a:rPr spc="-110" dirty="0">
                <a:solidFill>
                  <a:srgbClr val="675E46"/>
                </a:solidFill>
              </a:rPr>
              <a:t>Spiral</a:t>
            </a:r>
            <a:r>
              <a:rPr spc="-180" dirty="0">
                <a:solidFill>
                  <a:srgbClr val="675E46"/>
                </a:solidFill>
              </a:rPr>
              <a:t> </a:t>
            </a:r>
            <a:r>
              <a:rPr spc="-80" dirty="0">
                <a:solidFill>
                  <a:srgbClr val="675E46"/>
                </a:solidFill>
              </a:rPr>
              <a:t>Model(Cont..)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334767" y="1118616"/>
            <a:ext cx="6164580" cy="182880"/>
            <a:chOff x="2334767" y="1118616"/>
            <a:chExt cx="6164580" cy="182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4767" y="1118616"/>
              <a:ext cx="6164580" cy="1828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62199" y="1210056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1140" y="1622805"/>
            <a:ext cx="8074025" cy="3903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6350" indent="-457200" algn="just">
              <a:lnSpc>
                <a:spcPct val="100000"/>
              </a:lnSpc>
              <a:spcBef>
                <a:spcPts val="100"/>
              </a:spcBef>
              <a:buClr>
                <a:srgbClr val="A9A47B"/>
              </a:buClr>
              <a:buFont typeface="Wingdings"/>
              <a:buChar char=""/>
              <a:tabLst>
                <a:tab pos="469900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4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spiral</a:t>
            </a:r>
            <a:r>
              <a:rPr sz="2400" spc="4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2400" spc="459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400" spc="4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4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evolutionary</a:t>
            </a:r>
            <a:r>
              <a:rPr sz="2400" spc="43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400" spc="4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400" spc="4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model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2400" spc="12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couples</a:t>
            </a:r>
            <a:r>
              <a:rPr sz="2400" spc="12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12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iterative</a:t>
            </a:r>
            <a:r>
              <a:rPr sz="2400" spc="12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nature</a:t>
            </a:r>
            <a:r>
              <a:rPr sz="2400" spc="12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400" spc="12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prototyping</a:t>
            </a:r>
            <a:r>
              <a:rPr sz="2400" spc="13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with</a:t>
            </a:r>
            <a:r>
              <a:rPr sz="2400" spc="12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controlled</a:t>
            </a:r>
            <a:r>
              <a:rPr sz="24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systematic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aspect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waterfall</a:t>
            </a:r>
            <a:r>
              <a:rPr sz="24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model.</a:t>
            </a:r>
            <a:endParaRPr sz="2400">
              <a:latin typeface="Times New Roman"/>
              <a:cs typeface="Times New Roman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580"/>
              </a:spcBef>
              <a:buClr>
                <a:srgbClr val="A9A47B"/>
              </a:buClr>
              <a:buFont typeface="Wingdings"/>
              <a:buChar char=""/>
              <a:tabLst>
                <a:tab pos="469900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It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provides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potential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rapid</a:t>
            </a:r>
            <a:r>
              <a:rPr sz="24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development of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increasingly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more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complete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version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software.</a:t>
            </a:r>
            <a:endParaRPr sz="2400">
              <a:latin typeface="Times New Roman"/>
              <a:cs typeface="Times New Roman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575"/>
              </a:spcBef>
              <a:buClr>
                <a:srgbClr val="A9A47B"/>
              </a:buClr>
              <a:buFont typeface="Wingdings"/>
              <a:buChar char=""/>
              <a:tabLst>
                <a:tab pos="469900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1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spiral</a:t>
            </a:r>
            <a:r>
              <a:rPr sz="2400" spc="3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2400" spc="3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400" spc="3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divided</a:t>
            </a:r>
            <a:r>
              <a:rPr sz="2400" spc="3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into</a:t>
            </a:r>
            <a:r>
              <a:rPr sz="2400" spc="3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3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set</a:t>
            </a:r>
            <a:r>
              <a:rPr sz="2400" spc="3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400" spc="3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framework</a:t>
            </a:r>
            <a:r>
              <a:rPr sz="2400" spc="3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activities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defined</a:t>
            </a:r>
            <a:r>
              <a:rPr sz="2400" spc="10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by</a:t>
            </a:r>
            <a:r>
              <a:rPr sz="2400" spc="345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400" spc="114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r>
              <a:rPr sz="2400" spc="11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team.</a:t>
            </a:r>
            <a:r>
              <a:rPr sz="2400" spc="11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Each</a:t>
            </a:r>
            <a:r>
              <a:rPr sz="2400" spc="114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framework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activities</a:t>
            </a:r>
            <a:r>
              <a:rPr sz="24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represent</a:t>
            </a:r>
            <a:r>
              <a:rPr sz="24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one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segment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spiral</a:t>
            </a:r>
            <a:r>
              <a:rPr sz="24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path.</a:t>
            </a:r>
            <a:endParaRPr sz="2400">
              <a:latin typeface="Times New Roman"/>
              <a:cs typeface="Times New Roman"/>
            </a:endParaRPr>
          </a:p>
          <a:p>
            <a:pPr marL="469900" marR="6350" indent="-457200" algn="just">
              <a:lnSpc>
                <a:spcPct val="100000"/>
              </a:lnSpc>
              <a:spcBef>
                <a:spcPts val="575"/>
              </a:spcBef>
              <a:buClr>
                <a:srgbClr val="A9A47B"/>
              </a:buClr>
              <a:buFont typeface="Wingdings"/>
              <a:buChar char=""/>
              <a:tabLst>
                <a:tab pos="469900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Activities</a:t>
            </a:r>
            <a:r>
              <a:rPr sz="2400" spc="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2400" spc="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implied</a:t>
            </a:r>
            <a:r>
              <a:rPr sz="2400" spc="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by</a:t>
            </a:r>
            <a:r>
              <a:rPr sz="2400" spc="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circuit</a:t>
            </a:r>
            <a:r>
              <a:rPr sz="2400" spc="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around</a:t>
            </a:r>
            <a:r>
              <a:rPr sz="2400" spc="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spiral</a:t>
            </a:r>
            <a:r>
              <a:rPr sz="2400" spc="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clockwise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direction,</a:t>
            </a:r>
            <a:r>
              <a:rPr sz="24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beginning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at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center.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649605">
              <a:lnSpc>
                <a:spcPct val="100000"/>
              </a:lnSpc>
              <a:spcBef>
                <a:spcPts val="100"/>
              </a:spcBef>
            </a:pPr>
            <a:r>
              <a:rPr spc="-85" dirty="0">
                <a:solidFill>
                  <a:srgbClr val="675E46"/>
                </a:solidFill>
              </a:rPr>
              <a:t>The</a:t>
            </a:r>
            <a:r>
              <a:rPr spc="-200" dirty="0">
                <a:solidFill>
                  <a:srgbClr val="675E46"/>
                </a:solidFill>
              </a:rPr>
              <a:t> </a:t>
            </a:r>
            <a:r>
              <a:rPr spc="-110" dirty="0">
                <a:solidFill>
                  <a:srgbClr val="675E46"/>
                </a:solidFill>
              </a:rPr>
              <a:t>Spiral</a:t>
            </a:r>
            <a:r>
              <a:rPr spc="-180" dirty="0">
                <a:solidFill>
                  <a:srgbClr val="675E46"/>
                </a:solidFill>
              </a:rPr>
              <a:t> </a:t>
            </a:r>
            <a:r>
              <a:rPr spc="-80" dirty="0">
                <a:solidFill>
                  <a:srgbClr val="675E46"/>
                </a:solidFill>
              </a:rPr>
              <a:t>Model(Cont..)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334767" y="1118616"/>
            <a:ext cx="6164580" cy="182880"/>
            <a:chOff x="2334767" y="1118616"/>
            <a:chExt cx="6164580" cy="182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4767" y="1118616"/>
              <a:ext cx="6164580" cy="1828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62199" y="1210056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1140" y="1547518"/>
            <a:ext cx="8073390" cy="303974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90"/>
              </a:spcBef>
              <a:buClr>
                <a:srgbClr val="A9A47B"/>
              </a:buClr>
              <a:buFont typeface="Wingdings"/>
              <a:buChar char=""/>
              <a:tabLst>
                <a:tab pos="469265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Concept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development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project</a:t>
            </a:r>
            <a:endParaRPr sz="2400">
              <a:latin typeface="Times New Roman"/>
              <a:cs typeface="Times New Roman"/>
            </a:endParaRPr>
          </a:p>
          <a:p>
            <a:pPr marL="767080" marR="5080" lvl="1" indent="-457834">
              <a:lnSpc>
                <a:spcPct val="100000"/>
              </a:lnSpc>
              <a:spcBef>
                <a:spcPts val="500"/>
              </a:spcBef>
              <a:buClr>
                <a:srgbClr val="9CBDBC"/>
              </a:buClr>
              <a:buFont typeface="Wingdings"/>
              <a:buChar char=""/>
              <a:tabLst>
                <a:tab pos="767080" algn="l"/>
                <a:tab pos="1588135" algn="l"/>
                <a:tab pos="2266315" algn="l"/>
                <a:tab pos="2594610" algn="l"/>
                <a:tab pos="3050540" algn="l"/>
                <a:tab pos="3630929" algn="l"/>
                <a:tab pos="3987800" algn="l"/>
                <a:tab pos="4441825" algn="l"/>
                <a:tab pos="5149215" algn="l"/>
                <a:tab pos="5661025" algn="l"/>
                <a:tab pos="6775450" algn="l"/>
                <a:tab pos="7217409" algn="l"/>
              </a:tabLst>
            </a:pP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Which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starts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at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core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spiral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continues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multiple iteration.</a:t>
            </a: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60"/>
              </a:spcBef>
              <a:buClr>
                <a:srgbClr val="A9A47B"/>
              </a:buClr>
              <a:buFont typeface="Wingdings"/>
              <a:buChar char=""/>
              <a:tabLst>
                <a:tab pos="469265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New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product</a:t>
            </a:r>
            <a:r>
              <a:rPr sz="24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development</a:t>
            </a:r>
            <a:endParaRPr sz="2400">
              <a:latin typeface="Times New Roman"/>
              <a:cs typeface="Times New Roman"/>
            </a:endParaRPr>
          </a:p>
          <a:p>
            <a:pPr marL="767080" lvl="1" indent="-457200">
              <a:lnSpc>
                <a:spcPct val="100000"/>
              </a:lnSpc>
              <a:spcBef>
                <a:spcPts val="415"/>
              </a:spcBef>
              <a:buClr>
                <a:srgbClr val="9CBDBC"/>
              </a:buClr>
              <a:buFont typeface="Wingdings"/>
              <a:buChar char=""/>
              <a:tabLst>
                <a:tab pos="767080" algn="l"/>
              </a:tabLst>
            </a:pPr>
            <a:r>
              <a:rPr sz="16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6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E2B1F"/>
                </a:solidFill>
                <a:latin typeface="Times New Roman"/>
                <a:cs typeface="Times New Roman"/>
              </a:rPr>
              <a:t>new</a:t>
            </a:r>
            <a:r>
              <a:rPr sz="16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E2B1F"/>
                </a:solidFill>
                <a:latin typeface="Times New Roman"/>
                <a:cs typeface="Times New Roman"/>
              </a:rPr>
              <a:t>product</a:t>
            </a:r>
            <a:r>
              <a:rPr sz="16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E2B1F"/>
                </a:solidFill>
                <a:latin typeface="Times New Roman"/>
                <a:cs typeface="Times New Roman"/>
              </a:rPr>
              <a:t>will</a:t>
            </a:r>
            <a:r>
              <a:rPr sz="16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E2B1F"/>
                </a:solidFill>
                <a:latin typeface="Times New Roman"/>
                <a:cs typeface="Times New Roman"/>
              </a:rPr>
              <a:t>develop</a:t>
            </a:r>
            <a:r>
              <a:rPr sz="16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E2B1F"/>
                </a:solidFill>
                <a:latin typeface="Times New Roman"/>
                <a:cs typeface="Times New Roman"/>
              </a:rPr>
              <a:t>through</a:t>
            </a:r>
            <a:r>
              <a:rPr sz="16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16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E2B1F"/>
                </a:solidFill>
                <a:latin typeface="Times New Roman"/>
                <a:cs typeface="Times New Roman"/>
              </a:rPr>
              <a:t>number</a:t>
            </a:r>
            <a:r>
              <a:rPr sz="16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16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E2B1F"/>
                </a:solidFill>
                <a:latin typeface="Times New Roman"/>
                <a:cs typeface="Times New Roman"/>
              </a:rPr>
              <a:t>iteration around</a:t>
            </a:r>
            <a:r>
              <a:rPr sz="16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16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2B1F"/>
                </a:solidFill>
                <a:latin typeface="Times New Roman"/>
                <a:cs typeface="Times New Roman"/>
              </a:rPr>
              <a:t>spiral.</a:t>
            </a:r>
            <a:endParaRPr sz="1600">
              <a:latin typeface="Times New Roman"/>
              <a:cs typeface="Times New Roman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545"/>
              </a:spcBef>
              <a:buClr>
                <a:srgbClr val="A9A47B"/>
              </a:buClr>
              <a:buFont typeface="Wingdings"/>
              <a:buChar char=""/>
              <a:tabLst>
                <a:tab pos="469900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4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spiral</a:t>
            </a:r>
            <a:r>
              <a:rPr sz="2400" spc="4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2400" spc="43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400" spc="43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4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realistic</a:t>
            </a:r>
            <a:r>
              <a:rPr sz="2400" spc="43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approach</a:t>
            </a:r>
            <a:r>
              <a:rPr sz="2400" spc="4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400" spc="4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development</a:t>
            </a:r>
            <a:r>
              <a:rPr sz="2400" spc="4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of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large</a:t>
            </a:r>
            <a:r>
              <a:rPr sz="2400" spc="225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scale</a:t>
            </a:r>
            <a:r>
              <a:rPr sz="2400" spc="220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system</a:t>
            </a:r>
            <a:r>
              <a:rPr sz="2400" spc="220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400" spc="225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software.</a:t>
            </a:r>
            <a:r>
              <a:rPr sz="2400" spc="220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Because</a:t>
            </a:r>
            <a:r>
              <a:rPr sz="2400" spc="225" dirty="0">
                <a:solidFill>
                  <a:srgbClr val="2E2B1F"/>
                </a:solidFill>
                <a:latin typeface="Times New Roman"/>
                <a:cs typeface="Times New Roman"/>
              </a:rPr>
              <a:t>  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software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development</a:t>
            </a:r>
            <a:r>
              <a:rPr sz="24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progresses.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1162050">
              <a:lnSpc>
                <a:spcPct val="100000"/>
              </a:lnSpc>
              <a:spcBef>
                <a:spcPts val="100"/>
              </a:spcBef>
            </a:pPr>
            <a:r>
              <a:rPr spc="-114" dirty="0">
                <a:solidFill>
                  <a:srgbClr val="675E46"/>
                </a:solidFill>
              </a:rPr>
              <a:t>Concurrent</a:t>
            </a:r>
            <a:r>
              <a:rPr spc="-175" dirty="0">
                <a:solidFill>
                  <a:srgbClr val="675E46"/>
                </a:solidFill>
              </a:rPr>
              <a:t> </a:t>
            </a:r>
            <a:r>
              <a:rPr spc="-60" dirty="0">
                <a:solidFill>
                  <a:srgbClr val="675E46"/>
                </a:solidFill>
              </a:rPr>
              <a:t>Models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334767" y="1118616"/>
            <a:ext cx="6164580" cy="182880"/>
            <a:chOff x="2334767" y="1118616"/>
            <a:chExt cx="6164580" cy="182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4767" y="1118616"/>
              <a:ext cx="6164580" cy="1828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62199" y="1210056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3493" y="1477925"/>
            <a:ext cx="5646906" cy="513906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532130">
              <a:lnSpc>
                <a:spcPct val="100000"/>
              </a:lnSpc>
              <a:spcBef>
                <a:spcPts val="100"/>
              </a:spcBef>
            </a:pPr>
            <a:r>
              <a:rPr spc="-114" dirty="0">
                <a:solidFill>
                  <a:srgbClr val="675E46"/>
                </a:solidFill>
              </a:rPr>
              <a:t>Concurrent</a:t>
            </a:r>
            <a:r>
              <a:rPr spc="-170" dirty="0">
                <a:solidFill>
                  <a:srgbClr val="675E46"/>
                </a:solidFill>
              </a:rPr>
              <a:t> </a:t>
            </a:r>
            <a:r>
              <a:rPr spc="-80" dirty="0">
                <a:solidFill>
                  <a:srgbClr val="675E46"/>
                </a:solidFill>
              </a:rPr>
              <a:t>Model(Cont..)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334767" y="1118616"/>
            <a:ext cx="6164580" cy="182880"/>
            <a:chOff x="2334767" y="1118616"/>
            <a:chExt cx="6164580" cy="182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4767" y="1118616"/>
              <a:ext cx="6164580" cy="1828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62199" y="1210056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45440" y="1470405"/>
            <a:ext cx="7962265" cy="3976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8255" indent="-231140" algn="just">
              <a:lnSpc>
                <a:spcPct val="100000"/>
              </a:lnSpc>
              <a:spcBef>
                <a:spcPts val="100"/>
              </a:spcBef>
              <a:buClr>
                <a:srgbClr val="A9A47B"/>
              </a:buClr>
              <a:buSzPct val="95833"/>
              <a:buFont typeface="Wingdings"/>
              <a:buChar char=""/>
              <a:tabLst>
                <a:tab pos="241300" algn="l"/>
                <a:tab pos="283210" algn="l"/>
              </a:tabLst>
            </a:pP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	The</a:t>
            </a:r>
            <a:r>
              <a:rPr sz="2400" b="1" spc="12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concurrent</a:t>
            </a:r>
            <a:r>
              <a:rPr sz="2400" b="1" spc="12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development</a:t>
            </a:r>
            <a:r>
              <a:rPr sz="2400" b="1" spc="13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2400" b="1" spc="13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-</a:t>
            </a:r>
            <a:r>
              <a:rPr sz="2400" b="1" spc="12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called</a:t>
            </a:r>
            <a:r>
              <a:rPr sz="2400" spc="13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concurrent engineering</a:t>
            </a:r>
            <a:endParaRPr sz="2400">
              <a:latin typeface="Times New Roman"/>
              <a:cs typeface="Times New Roman"/>
            </a:endParaRPr>
          </a:p>
          <a:p>
            <a:pPr marL="580390" lvl="1" indent="-273050" algn="just">
              <a:lnSpc>
                <a:spcPct val="100000"/>
              </a:lnSpc>
              <a:spcBef>
                <a:spcPts val="580"/>
              </a:spcBef>
              <a:buClr>
                <a:srgbClr val="9CBDBC"/>
              </a:buClr>
              <a:buSzPct val="95833"/>
              <a:buFont typeface="Wingdings"/>
              <a:buChar char=""/>
              <a:tabLst>
                <a:tab pos="580390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It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provides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accurate</a:t>
            </a:r>
            <a:r>
              <a:rPr sz="24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state</a:t>
            </a:r>
            <a:r>
              <a:rPr sz="24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 the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current</a:t>
            </a:r>
            <a:r>
              <a:rPr sz="24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state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 a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project.</a:t>
            </a:r>
            <a:endParaRPr sz="2400">
              <a:latin typeface="Times New Roman"/>
              <a:cs typeface="Times New Roman"/>
            </a:endParaRPr>
          </a:p>
          <a:p>
            <a:pPr marL="538480" marR="6985" lvl="1" indent="-231775" algn="just">
              <a:lnSpc>
                <a:spcPct val="100000"/>
              </a:lnSpc>
              <a:spcBef>
                <a:spcPts val="575"/>
              </a:spcBef>
              <a:buClr>
                <a:srgbClr val="9CBDBC"/>
              </a:buClr>
              <a:buSzPct val="95833"/>
              <a:buFont typeface="Wingdings"/>
              <a:buChar char=""/>
              <a:tabLst>
                <a:tab pos="538480" algn="l"/>
                <a:tab pos="579755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Focus</a:t>
            </a:r>
            <a:r>
              <a:rPr sz="2400" spc="5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on</a:t>
            </a:r>
            <a:r>
              <a:rPr sz="2400" spc="59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concurrent</a:t>
            </a:r>
            <a:r>
              <a:rPr sz="2400" spc="5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r>
              <a:rPr sz="2400" spc="5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activities</a:t>
            </a:r>
            <a:r>
              <a:rPr sz="2400" spc="5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2400" spc="5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59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software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r>
              <a:rPr sz="2400" spc="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400" spc="9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such</a:t>
            </a:r>
            <a:r>
              <a:rPr sz="2400" spc="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as</a:t>
            </a:r>
            <a:r>
              <a:rPr sz="2400" spc="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prototyping,</a:t>
            </a:r>
            <a:r>
              <a:rPr sz="2400" spc="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analysis</a:t>
            </a:r>
            <a:r>
              <a:rPr sz="2400" spc="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modeling,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requirements</a:t>
            </a:r>
            <a:r>
              <a:rPr sz="24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specification</a:t>
            </a:r>
            <a:r>
              <a:rPr sz="24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design.</a:t>
            </a:r>
            <a:endParaRPr sz="2400">
              <a:latin typeface="Times New Roman"/>
              <a:cs typeface="Times New Roman"/>
            </a:endParaRPr>
          </a:p>
          <a:p>
            <a:pPr marL="538480" marR="10160" lvl="1" indent="-231775" algn="just">
              <a:lnSpc>
                <a:spcPct val="100000"/>
              </a:lnSpc>
              <a:spcBef>
                <a:spcPts val="575"/>
              </a:spcBef>
              <a:buClr>
                <a:srgbClr val="9CBDBC"/>
              </a:buClr>
              <a:buSzPct val="95833"/>
              <a:buFont typeface="Wingdings"/>
              <a:buChar char=""/>
              <a:tabLst>
                <a:tab pos="538480" algn="l"/>
                <a:tab pos="579755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Represented</a:t>
            </a:r>
            <a:r>
              <a:rPr sz="2400" spc="5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schematically</a:t>
            </a:r>
            <a:r>
              <a:rPr sz="2400" spc="5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as</a:t>
            </a:r>
            <a:r>
              <a:rPr sz="2400" spc="5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5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series</a:t>
            </a:r>
            <a:r>
              <a:rPr sz="2400" spc="5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400" spc="5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major</a:t>
            </a:r>
            <a:r>
              <a:rPr sz="2400" spc="5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technical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activities,</a:t>
            </a:r>
            <a:r>
              <a:rPr sz="24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tasks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4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their</a:t>
            </a:r>
            <a:r>
              <a:rPr sz="24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associated</a:t>
            </a:r>
            <a:r>
              <a:rPr sz="24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states.</a:t>
            </a:r>
            <a:endParaRPr sz="2400">
              <a:latin typeface="Times New Roman"/>
              <a:cs typeface="Times New Roman"/>
            </a:endParaRPr>
          </a:p>
          <a:p>
            <a:pPr marL="538480" marR="5080" lvl="1" indent="-231775" algn="just">
              <a:lnSpc>
                <a:spcPct val="100000"/>
              </a:lnSpc>
              <a:spcBef>
                <a:spcPts val="580"/>
              </a:spcBef>
              <a:buClr>
                <a:srgbClr val="9CBDBC"/>
              </a:buClr>
              <a:buSzPct val="95833"/>
              <a:buFont typeface="Wingdings"/>
              <a:buChar char=""/>
              <a:tabLst>
                <a:tab pos="538480" algn="l"/>
                <a:tab pos="579755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Defined</a:t>
            </a:r>
            <a:r>
              <a:rPr sz="2400" spc="3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as</a:t>
            </a:r>
            <a:r>
              <a:rPr sz="2400" spc="3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3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series</a:t>
            </a:r>
            <a:r>
              <a:rPr sz="2400" spc="3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400" spc="37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events</a:t>
            </a:r>
            <a:r>
              <a:rPr sz="2400" spc="3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2400" spc="3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trigger</a:t>
            </a:r>
            <a:r>
              <a:rPr sz="2400" spc="3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transitions</a:t>
            </a:r>
            <a:r>
              <a:rPr sz="2400" spc="3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from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state</a:t>
            </a:r>
            <a:r>
              <a:rPr sz="24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state</a:t>
            </a:r>
            <a:r>
              <a:rPr sz="24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2400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each</a:t>
            </a:r>
            <a:r>
              <a:rPr sz="24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r>
              <a:rPr sz="24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activities.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532130">
              <a:lnSpc>
                <a:spcPct val="100000"/>
              </a:lnSpc>
              <a:spcBef>
                <a:spcPts val="100"/>
              </a:spcBef>
            </a:pPr>
            <a:r>
              <a:rPr spc="-114" dirty="0">
                <a:solidFill>
                  <a:srgbClr val="675E46"/>
                </a:solidFill>
              </a:rPr>
              <a:t>Concurrent</a:t>
            </a:r>
            <a:r>
              <a:rPr spc="-170" dirty="0">
                <a:solidFill>
                  <a:srgbClr val="675E46"/>
                </a:solidFill>
              </a:rPr>
              <a:t> </a:t>
            </a:r>
            <a:r>
              <a:rPr spc="-80" dirty="0">
                <a:solidFill>
                  <a:srgbClr val="675E46"/>
                </a:solidFill>
              </a:rPr>
              <a:t>Model(Cont..)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334767" y="1118616"/>
            <a:ext cx="6164580" cy="182880"/>
            <a:chOff x="2334767" y="1118616"/>
            <a:chExt cx="6164580" cy="182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4767" y="1118616"/>
              <a:ext cx="6164580" cy="1828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62199" y="1210056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42619" y="1470405"/>
            <a:ext cx="22491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31775">
              <a:lnSpc>
                <a:spcPct val="100000"/>
              </a:lnSpc>
              <a:spcBef>
                <a:spcPts val="100"/>
              </a:spcBef>
              <a:buClr>
                <a:srgbClr val="9CBDBC"/>
              </a:buClr>
              <a:buSzPct val="95833"/>
              <a:buFont typeface="Wingdings"/>
              <a:buChar char=""/>
              <a:tabLst>
                <a:tab pos="241300" algn="l"/>
                <a:tab pos="282575" algn="l"/>
                <a:tab pos="1199515" algn="l"/>
                <a:tab pos="1981835" algn="l"/>
              </a:tabLst>
            </a:pP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	Often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used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as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client/server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2694177" y="1835861"/>
            <a:ext cx="50863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8330" algn="l"/>
                <a:tab pos="2400935" algn="l"/>
                <a:tab pos="4225925" algn="l"/>
              </a:tabLst>
            </a:pP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applications.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5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client/server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system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89275" y="1470405"/>
            <a:ext cx="52152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tabLst>
                <a:tab pos="595630" algn="l"/>
                <a:tab pos="1965960" algn="l"/>
                <a:tab pos="2545080" algn="l"/>
                <a:tab pos="3140710" algn="l"/>
                <a:tab pos="4935220" algn="l"/>
              </a:tabLst>
            </a:pP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paradigm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for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development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2619" y="2129155"/>
            <a:ext cx="7661275" cy="28790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composed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set</a:t>
            </a:r>
            <a:r>
              <a:rPr sz="24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4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functional</a:t>
            </a:r>
            <a:r>
              <a:rPr sz="24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components.</a:t>
            </a:r>
            <a:endParaRPr sz="2400">
              <a:latin typeface="Times New Roman"/>
              <a:cs typeface="Times New Roman"/>
            </a:endParaRPr>
          </a:p>
          <a:p>
            <a:pPr marL="241300" marR="5715" indent="-231775">
              <a:lnSpc>
                <a:spcPct val="100000"/>
              </a:lnSpc>
              <a:spcBef>
                <a:spcPts val="575"/>
              </a:spcBef>
              <a:buClr>
                <a:srgbClr val="9CBDBC"/>
              </a:buClr>
              <a:buSzPct val="95833"/>
              <a:buFont typeface="Wingdings"/>
              <a:buChar char=""/>
              <a:tabLst>
                <a:tab pos="241300" algn="l"/>
                <a:tab pos="282575" algn="l"/>
                <a:tab pos="1235075" algn="l"/>
                <a:tab pos="2355215" algn="l"/>
                <a:tab pos="2816860" algn="l"/>
                <a:tab pos="4609465" algn="l"/>
                <a:tab pos="5205730" algn="l"/>
                <a:tab pos="6732905" algn="l"/>
              </a:tabLst>
            </a:pP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	When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applied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client/server,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concurrent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process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model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defines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activities</a:t>
            </a:r>
            <a:r>
              <a:rPr sz="24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two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dimensions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2E2B1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648970" lvl="1" indent="-273050">
              <a:lnSpc>
                <a:spcPct val="100000"/>
              </a:lnSpc>
              <a:spcBef>
                <a:spcPts val="575"/>
              </a:spcBef>
              <a:buClr>
                <a:srgbClr val="D2CA6C"/>
              </a:buClr>
              <a:buSzPct val="95833"/>
              <a:buFont typeface="Wingdings"/>
              <a:buChar char=""/>
              <a:tabLst>
                <a:tab pos="648970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(i)</a:t>
            </a:r>
            <a:r>
              <a:rPr sz="2400" spc="1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System</a:t>
            </a:r>
            <a:r>
              <a:rPr sz="2400" spc="10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dimension</a:t>
            </a:r>
            <a:r>
              <a:rPr sz="2400" spc="11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-System</a:t>
            </a:r>
            <a:r>
              <a:rPr sz="2400" spc="1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level</a:t>
            </a:r>
            <a:r>
              <a:rPr sz="2400" spc="1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issues</a:t>
            </a:r>
            <a:r>
              <a:rPr sz="2400" spc="1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2400" spc="1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addressed</a:t>
            </a:r>
            <a:endParaRPr sz="2400">
              <a:latin typeface="Times New Roman"/>
              <a:cs typeface="Times New Roman"/>
            </a:endParaRPr>
          </a:p>
          <a:p>
            <a:pPr marL="60706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using</a:t>
            </a:r>
            <a:r>
              <a:rPr sz="24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three</a:t>
            </a:r>
            <a:r>
              <a:rPr sz="24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activities:</a:t>
            </a:r>
            <a:r>
              <a:rPr sz="2400" spc="-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design,</a:t>
            </a:r>
            <a:r>
              <a:rPr sz="24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assembly,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4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use.</a:t>
            </a:r>
            <a:endParaRPr sz="2400">
              <a:latin typeface="Times New Roman"/>
              <a:cs typeface="Times New Roman"/>
            </a:endParaRPr>
          </a:p>
          <a:p>
            <a:pPr marL="607060" marR="5715" lvl="1" indent="-231140">
              <a:lnSpc>
                <a:spcPct val="100000"/>
              </a:lnSpc>
              <a:spcBef>
                <a:spcPts val="575"/>
              </a:spcBef>
              <a:buClr>
                <a:srgbClr val="D2CA6C"/>
              </a:buClr>
              <a:buSzPct val="95833"/>
              <a:buFont typeface="Wingdings"/>
              <a:buChar char=""/>
              <a:tabLst>
                <a:tab pos="607060" algn="l"/>
                <a:tab pos="648970" algn="l"/>
                <a:tab pos="1183005" algn="l"/>
                <a:tab pos="1816735" algn="l"/>
                <a:tab pos="3330575" algn="l"/>
                <a:tab pos="4760595" algn="l"/>
                <a:tab pos="5124450" algn="l"/>
                <a:tab pos="6487795" algn="l"/>
                <a:tab pos="7190105" algn="l"/>
              </a:tabLst>
            </a:pP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	(ii)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component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dimension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addressed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with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two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activities:</a:t>
            </a:r>
            <a:r>
              <a:rPr sz="2400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design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realization.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2422" y="378714"/>
            <a:ext cx="44418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>
                <a:solidFill>
                  <a:srgbClr val="675E46"/>
                </a:solidFill>
              </a:rPr>
              <a:t>Unified</a:t>
            </a:r>
            <a:r>
              <a:rPr spc="-165" dirty="0">
                <a:solidFill>
                  <a:srgbClr val="675E46"/>
                </a:solidFill>
              </a:rPr>
              <a:t> </a:t>
            </a:r>
            <a:r>
              <a:rPr spc="-110" dirty="0">
                <a:solidFill>
                  <a:srgbClr val="675E46"/>
                </a:solidFill>
              </a:rPr>
              <a:t>Process</a:t>
            </a:r>
            <a:r>
              <a:rPr spc="-175" dirty="0">
                <a:solidFill>
                  <a:srgbClr val="675E46"/>
                </a:solidFill>
              </a:rPr>
              <a:t> </a:t>
            </a:r>
            <a:r>
              <a:rPr spc="-25" dirty="0">
                <a:solidFill>
                  <a:srgbClr val="675E46"/>
                </a:solidFill>
              </a:rPr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334767" y="1118616"/>
            <a:ext cx="6164580" cy="182880"/>
            <a:chOff x="2334767" y="1118616"/>
            <a:chExt cx="6164580" cy="182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4767" y="1118616"/>
              <a:ext cx="6164580" cy="1828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62199" y="1210056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1140" y="1622805"/>
            <a:ext cx="8073390" cy="3464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100"/>
              </a:spcBef>
              <a:buClr>
                <a:srgbClr val="A9A47B"/>
              </a:buClr>
              <a:buFont typeface="Wingdings"/>
              <a:buChar char=""/>
              <a:tabLst>
                <a:tab pos="469900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Unified</a:t>
            </a:r>
            <a:r>
              <a:rPr sz="2400" spc="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400" spc="1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(UP)</a:t>
            </a:r>
            <a:r>
              <a:rPr sz="2400" spc="1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400" spc="5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</a:t>
            </a:r>
            <a:r>
              <a:rPr sz="2400" spc="1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architecture-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centric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,</a:t>
            </a:r>
            <a:r>
              <a:rPr sz="2400" spc="10" dirty="0">
                <a:solidFill>
                  <a:srgbClr val="2E2B1F"/>
                </a:solidFill>
                <a:latin typeface="Times New Roman"/>
                <a:cs typeface="Times New Roman"/>
              </a:rPr>
              <a:t>  </a:t>
            </a:r>
            <a:r>
              <a:rPr sz="2400" b="1" spc="-20" dirty="0">
                <a:solidFill>
                  <a:srgbClr val="2E2B1F"/>
                </a:solidFill>
                <a:latin typeface="Times New Roman"/>
                <a:cs typeface="Times New Roman"/>
              </a:rPr>
              <a:t>use-case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driven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,</a:t>
            </a:r>
            <a:r>
              <a:rPr sz="2400" spc="1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iterative</a:t>
            </a:r>
            <a:r>
              <a:rPr sz="2400" b="1" spc="1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400" b="1" spc="1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incremental</a:t>
            </a:r>
            <a:r>
              <a:rPr sz="2400" b="1" spc="1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development</a:t>
            </a:r>
            <a:r>
              <a:rPr sz="2400" spc="1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400" spc="1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that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leverages</a:t>
            </a:r>
            <a:r>
              <a:rPr sz="2400" spc="4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unified</a:t>
            </a:r>
            <a:r>
              <a:rPr sz="2400" spc="43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modeling</a:t>
            </a:r>
            <a:r>
              <a:rPr sz="2400" spc="4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language</a:t>
            </a:r>
            <a:r>
              <a:rPr sz="2400" spc="43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400" spc="4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400" spc="4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compliant</a:t>
            </a:r>
            <a:r>
              <a:rPr sz="2400" spc="4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with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system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r>
              <a:rPr sz="24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meta-model.</a:t>
            </a:r>
            <a:endParaRPr sz="2400">
              <a:latin typeface="Times New Roman"/>
              <a:cs typeface="Times New Roman"/>
            </a:endParaRPr>
          </a:p>
          <a:p>
            <a:pPr marL="469900" marR="6350" indent="-457200" algn="just">
              <a:lnSpc>
                <a:spcPct val="100000"/>
              </a:lnSpc>
              <a:spcBef>
                <a:spcPts val="575"/>
              </a:spcBef>
              <a:buClr>
                <a:srgbClr val="A9A47B"/>
              </a:buClr>
              <a:buFont typeface="Wingdings"/>
              <a:buChar char=""/>
              <a:tabLst>
                <a:tab pos="469900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Unified</a:t>
            </a:r>
            <a:r>
              <a:rPr sz="2400" spc="20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400" spc="2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can</a:t>
            </a:r>
            <a:r>
              <a:rPr sz="2400" spc="20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2400" spc="1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applied</a:t>
            </a:r>
            <a:r>
              <a:rPr sz="2400" spc="2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400" spc="20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different</a:t>
            </a:r>
            <a:r>
              <a:rPr sz="2400" spc="2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400" spc="2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systems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with</a:t>
            </a:r>
            <a:r>
              <a:rPr sz="2400" spc="2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different</a:t>
            </a:r>
            <a:r>
              <a:rPr sz="2400" spc="25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levels</a:t>
            </a:r>
            <a:r>
              <a:rPr sz="2400" spc="2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400" spc="2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technical</a:t>
            </a:r>
            <a:r>
              <a:rPr sz="2400" spc="2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400" spc="2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managerial</a:t>
            </a:r>
            <a:r>
              <a:rPr sz="2400" spc="2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complexity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across</a:t>
            </a:r>
            <a:r>
              <a:rPr sz="24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various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domains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4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organizational</a:t>
            </a:r>
            <a:r>
              <a:rPr sz="2400" spc="-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cultures.</a:t>
            </a:r>
            <a:endParaRPr sz="2400">
              <a:latin typeface="Times New Roman"/>
              <a:cs typeface="Times New Roman"/>
            </a:endParaRPr>
          </a:p>
          <a:p>
            <a:pPr marL="469900" marR="6985" indent="-457200" algn="just">
              <a:lnSpc>
                <a:spcPct val="100000"/>
              </a:lnSpc>
              <a:spcBef>
                <a:spcPts val="580"/>
              </a:spcBef>
              <a:buClr>
                <a:srgbClr val="A9A47B"/>
              </a:buClr>
              <a:buFont typeface="Wingdings"/>
              <a:buChar char=""/>
              <a:tabLst>
                <a:tab pos="469900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UP</a:t>
            </a:r>
            <a:r>
              <a:rPr sz="2400" spc="3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400" spc="4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also</a:t>
            </a:r>
            <a:r>
              <a:rPr sz="2400" spc="43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referred</a:t>
            </a:r>
            <a:r>
              <a:rPr sz="2400" spc="4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400" spc="4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as</a:t>
            </a:r>
            <a:r>
              <a:rPr sz="2400" spc="4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spc="4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unified</a:t>
            </a:r>
            <a:r>
              <a:rPr sz="2400" spc="43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400" spc="4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development process.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591820">
              <a:lnSpc>
                <a:spcPct val="100000"/>
              </a:lnSpc>
              <a:spcBef>
                <a:spcPts val="100"/>
              </a:spcBef>
            </a:pPr>
            <a:r>
              <a:rPr spc="-85" dirty="0">
                <a:solidFill>
                  <a:srgbClr val="544E39"/>
                </a:solidFill>
              </a:rPr>
              <a:t>The</a:t>
            </a:r>
            <a:r>
              <a:rPr spc="-185" dirty="0">
                <a:solidFill>
                  <a:srgbClr val="544E39"/>
                </a:solidFill>
              </a:rPr>
              <a:t> </a:t>
            </a:r>
            <a:r>
              <a:rPr spc="-110" dirty="0">
                <a:solidFill>
                  <a:srgbClr val="544E39"/>
                </a:solidFill>
              </a:rPr>
              <a:t>Unified</a:t>
            </a:r>
            <a:r>
              <a:rPr spc="-170" dirty="0">
                <a:solidFill>
                  <a:srgbClr val="544E39"/>
                </a:solidFill>
              </a:rPr>
              <a:t> </a:t>
            </a:r>
            <a:r>
              <a:rPr spc="-110" dirty="0">
                <a:solidFill>
                  <a:srgbClr val="544E39"/>
                </a:solidFill>
              </a:rPr>
              <a:t>Process</a:t>
            </a:r>
            <a:r>
              <a:rPr spc="-200" dirty="0">
                <a:solidFill>
                  <a:srgbClr val="544E39"/>
                </a:solidFill>
              </a:rPr>
              <a:t> </a:t>
            </a:r>
            <a:r>
              <a:rPr spc="-20" dirty="0">
                <a:solidFill>
                  <a:srgbClr val="544E39"/>
                </a:solidFill>
              </a:rPr>
              <a:t>(UP)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334767" y="1118616"/>
            <a:ext cx="6164580" cy="182880"/>
            <a:chOff x="2334767" y="1118616"/>
            <a:chExt cx="6164580" cy="182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4767" y="1118616"/>
              <a:ext cx="6164580" cy="1828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62199" y="1210056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2879" y="1543210"/>
            <a:ext cx="6620982" cy="473357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591820">
              <a:lnSpc>
                <a:spcPct val="100000"/>
              </a:lnSpc>
              <a:spcBef>
                <a:spcPts val="100"/>
              </a:spcBef>
            </a:pPr>
            <a:r>
              <a:rPr spc="-85" dirty="0">
                <a:solidFill>
                  <a:srgbClr val="544E39"/>
                </a:solidFill>
              </a:rPr>
              <a:t>The</a:t>
            </a:r>
            <a:r>
              <a:rPr spc="-185" dirty="0">
                <a:solidFill>
                  <a:srgbClr val="544E39"/>
                </a:solidFill>
              </a:rPr>
              <a:t> </a:t>
            </a:r>
            <a:r>
              <a:rPr spc="-110" dirty="0">
                <a:solidFill>
                  <a:srgbClr val="544E39"/>
                </a:solidFill>
              </a:rPr>
              <a:t>Unified</a:t>
            </a:r>
            <a:r>
              <a:rPr spc="-170" dirty="0">
                <a:solidFill>
                  <a:srgbClr val="544E39"/>
                </a:solidFill>
              </a:rPr>
              <a:t> </a:t>
            </a:r>
            <a:r>
              <a:rPr spc="-110" dirty="0">
                <a:solidFill>
                  <a:srgbClr val="544E39"/>
                </a:solidFill>
              </a:rPr>
              <a:t>Process</a:t>
            </a:r>
            <a:r>
              <a:rPr spc="-200" dirty="0">
                <a:solidFill>
                  <a:srgbClr val="544E39"/>
                </a:solidFill>
              </a:rPr>
              <a:t> </a:t>
            </a:r>
            <a:r>
              <a:rPr spc="-20" dirty="0">
                <a:solidFill>
                  <a:srgbClr val="544E39"/>
                </a:solidFill>
              </a:rPr>
              <a:t>(UP)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334767" y="1118616"/>
            <a:ext cx="6164580" cy="182880"/>
            <a:chOff x="2334767" y="1118616"/>
            <a:chExt cx="6164580" cy="182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4767" y="1118616"/>
              <a:ext cx="6164580" cy="1828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62199" y="1210056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56687" y="1443805"/>
            <a:ext cx="1760220" cy="4102100"/>
            <a:chOff x="456687" y="1443805"/>
            <a:chExt cx="1760220" cy="4102100"/>
          </a:xfrm>
        </p:grpSpPr>
        <p:sp>
          <p:nvSpPr>
            <p:cNvPr id="10" name="object 10"/>
            <p:cNvSpPr/>
            <p:nvPr/>
          </p:nvSpPr>
          <p:spPr>
            <a:xfrm>
              <a:off x="457199" y="1447792"/>
              <a:ext cx="1758950" cy="4097020"/>
            </a:xfrm>
            <a:custGeom>
              <a:avLst/>
              <a:gdLst/>
              <a:ahLst/>
              <a:cxnLst/>
              <a:rect l="l" t="t" r="r" b="b"/>
              <a:pathLst>
                <a:path w="1758950" h="4097020">
                  <a:moveTo>
                    <a:pt x="0" y="3559"/>
                  </a:moveTo>
                  <a:lnTo>
                    <a:pt x="0" y="3559"/>
                  </a:lnTo>
                  <a:lnTo>
                    <a:pt x="1758678" y="3559"/>
                  </a:lnTo>
                </a:path>
                <a:path w="1758950" h="4097020">
                  <a:moveTo>
                    <a:pt x="1752541" y="0"/>
                  </a:moveTo>
                  <a:lnTo>
                    <a:pt x="1752541" y="10523"/>
                  </a:lnTo>
                </a:path>
                <a:path w="1758950" h="4097020">
                  <a:moveTo>
                    <a:pt x="1752541" y="0"/>
                  </a:moveTo>
                  <a:lnTo>
                    <a:pt x="1752541" y="4097001"/>
                  </a:lnTo>
                </a:path>
                <a:path w="1758950" h="4097020">
                  <a:moveTo>
                    <a:pt x="1752541" y="4081912"/>
                  </a:moveTo>
                  <a:lnTo>
                    <a:pt x="1752541" y="4081912"/>
                  </a:lnTo>
                  <a:lnTo>
                    <a:pt x="1752541" y="4097001"/>
                  </a:lnTo>
                </a:path>
                <a:path w="1758950" h="4097020">
                  <a:moveTo>
                    <a:pt x="0" y="4090037"/>
                  </a:moveTo>
                  <a:lnTo>
                    <a:pt x="0" y="4090037"/>
                  </a:lnTo>
                  <a:lnTo>
                    <a:pt x="1758678" y="4090037"/>
                  </a:lnTo>
                </a:path>
                <a:path w="1758950" h="4097020">
                  <a:moveTo>
                    <a:pt x="6138" y="4081912"/>
                  </a:moveTo>
                  <a:lnTo>
                    <a:pt x="6138" y="4081912"/>
                  </a:lnTo>
                  <a:lnTo>
                    <a:pt x="6138" y="4097001"/>
                  </a:lnTo>
                </a:path>
                <a:path w="1758950" h="4097020">
                  <a:moveTo>
                    <a:pt x="6138" y="0"/>
                  </a:moveTo>
                  <a:lnTo>
                    <a:pt x="6138" y="4097001"/>
                  </a:lnTo>
                </a:path>
                <a:path w="1758950" h="4097020">
                  <a:moveTo>
                    <a:pt x="6138" y="0"/>
                  </a:moveTo>
                  <a:lnTo>
                    <a:pt x="6138" y="10523"/>
                  </a:lnTo>
                </a:path>
              </a:pathLst>
            </a:custGeom>
            <a:ln w="14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2488" y="1589395"/>
              <a:ext cx="975034" cy="14748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697" y="2042217"/>
              <a:ext cx="873743" cy="9873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73824" y="2216327"/>
              <a:ext cx="173990" cy="95250"/>
            </a:xfrm>
            <a:custGeom>
              <a:avLst/>
              <a:gdLst/>
              <a:ahLst/>
              <a:cxnLst/>
              <a:rect l="l" t="t" r="r" b="b"/>
              <a:pathLst>
                <a:path w="173990" h="95250">
                  <a:moveTo>
                    <a:pt x="10236" y="0"/>
                  </a:moveTo>
                  <a:lnTo>
                    <a:pt x="0" y="0"/>
                  </a:lnTo>
                  <a:lnTo>
                    <a:pt x="0" y="92849"/>
                  </a:lnTo>
                  <a:lnTo>
                    <a:pt x="10236" y="92849"/>
                  </a:lnTo>
                  <a:lnTo>
                    <a:pt x="10236" y="0"/>
                  </a:lnTo>
                  <a:close/>
                </a:path>
                <a:path w="173990" h="95250">
                  <a:moveTo>
                    <a:pt x="74688" y="43027"/>
                  </a:moveTo>
                  <a:lnTo>
                    <a:pt x="59347" y="24447"/>
                  </a:lnTo>
                  <a:lnTo>
                    <a:pt x="50139" y="24447"/>
                  </a:lnTo>
                  <a:lnTo>
                    <a:pt x="48094" y="25539"/>
                  </a:lnTo>
                  <a:lnTo>
                    <a:pt x="46050" y="26771"/>
                  </a:lnTo>
                  <a:lnTo>
                    <a:pt x="44005" y="27851"/>
                  </a:lnTo>
                  <a:lnTo>
                    <a:pt x="41960" y="30175"/>
                  </a:lnTo>
                  <a:lnTo>
                    <a:pt x="39916" y="31419"/>
                  </a:lnTo>
                  <a:lnTo>
                    <a:pt x="35814" y="38379"/>
                  </a:lnTo>
                  <a:lnTo>
                    <a:pt x="35814" y="26771"/>
                  </a:lnTo>
                  <a:lnTo>
                    <a:pt x="26606" y="26771"/>
                  </a:lnTo>
                  <a:lnTo>
                    <a:pt x="26606" y="92849"/>
                  </a:lnTo>
                  <a:lnTo>
                    <a:pt x="35814" y="92849"/>
                  </a:lnTo>
                  <a:lnTo>
                    <a:pt x="35814" y="54622"/>
                  </a:lnTo>
                  <a:lnTo>
                    <a:pt x="36842" y="48742"/>
                  </a:lnTo>
                  <a:lnTo>
                    <a:pt x="38887" y="45339"/>
                  </a:lnTo>
                  <a:lnTo>
                    <a:pt x="39916" y="41783"/>
                  </a:lnTo>
                  <a:lnTo>
                    <a:pt x="41960" y="39458"/>
                  </a:lnTo>
                  <a:lnTo>
                    <a:pt x="45021" y="37134"/>
                  </a:lnTo>
                  <a:lnTo>
                    <a:pt x="47066" y="36055"/>
                  </a:lnTo>
                  <a:lnTo>
                    <a:pt x="50139" y="34823"/>
                  </a:lnTo>
                  <a:lnTo>
                    <a:pt x="55257" y="34823"/>
                  </a:lnTo>
                  <a:lnTo>
                    <a:pt x="57302" y="36055"/>
                  </a:lnTo>
                  <a:lnTo>
                    <a:pt x="59347" y="37134"/>
                  </a:lnTo>
                  <a:lnTo>
                    <a:pt x="61391" y="38379"/>
                  </a:lnTo>
                  <a:lnTo>
                    <a:pt x="63436" y="40703"/>
                  </a:lnTo>
                  <a:lnTo>
                    <a:pt x="63436" y="43027"/>
                  </a:lnTo>
                  <a:lnTo>
                    <a:pt x="64465" y="45339"/>
                  </a:lnTo>
                  <a:lnTo>
                    <a:pt x="64465" y="92849"/>
                  </a:lnTo>
                  <a:lnTo>
                    <a:pt x="74688" y="92849"/>
                  </a:lnTo>
                  <a:lnTo>
                    <a:pt x="74688" y="43027"/>
                  </a:lnTo>
                  <a:close/>
                </a:path>
                <a:path w="173990" h="95250">
                  <a:moveTo>
                    <a:pt x="99237" y="26771"/>
                  </a:moveTo>
                  <a:lnTo>
                    <a:pt x="90030" y="26771"/>
                  </a:lnTo>
                  <a:lnTo>
                    <a:pt x="90030" y="92849"/>
                  </a:lnTo>
                  <a:lnTo>
                    <a:pt x="99237" y="92849"/>
                  </a:lnTo>
                  <a:lnTo>
                    <a:pt x="99237" y="26771"/>
                  </a:lnTo>
                  <a:close/>
                </a:path>
                <a:path w="173990" h="95250">
                  <a:moveTo>
                    <a:pt x="99237" y="0"/>
                  </a:moveTo>
                  <a:lnTo>
                    <a:pt x="90030" y="0"/>
                  </a:lnTo>
                  <a:lnTo>
                    <a:pt x="90030" y="11607"/>
                  </a:lnTo>
                  <a:lnTo>
                    <a:pt x="99237" y="11607"/>
                  </a:lnTo>
                  <a:lnTo>
                    <a:pt x="99237" y="0"/>
                  </a:lnTo>
                  <a:close/>
                </a:path>
                <a:path w="173990" h="95250">
                  <a:moveTo>
                    <a:pt x="151422" y="83566"/>
                  </a:moveTo>
                  <a:lnTo>
                    <a:pt x="147332" y="84810"/>
                  </a:lnTo>
                  <a:lnTo>
                    <a:pt x="145288" y="85890"/>
                  </a:lnTo>
                  <a:lnTo>
                    <a:pt x="138125" y="85890"/>
                  </a:lnTo>
                  <a:lnTo>
                    <a:pt x="137109" y="84810"/>
                  </a:lnTo>
                  <a:lnTo>
                    <a:pt x="135064" y="83566"/>
                  </a:lnTo>
                  <a:lnTo>
                    <a:pt x="131991" y="76606"/>
                  </a:lnTo>
                  <a:lnTo>
                    <a:pt x="131991" y="36055"/>
                  </a:lnTo>
                  <a:lnTo>
                    <a:pt x="148361" y="36055"/>
                  </a:lnTo>
                  <a:lnTo>
                    <a:pt x="148361" y="26771"/>
                  </a:lnTo>
                  <a:lnTo>
                    <a:pt x="131991" y="26771"/>
                  </a:lnTo>
                  <a:lnTo>
                    <a:pt x="131991" y="10528"/>
                  </a:lnTo>
                  <a:lnTo>
                    <a:pt x="121754" y="10528"/>
                  </a:lnTo>
                  <a:lnTo>
                    <a:pt x="121754" y="26771"/>
                  </a:lnTo>
                  <a:lnTo>
                    <a:pt x="111531" y="26771"/>
                  </a:lnTo>
                  <a:lnTo>
                    <a:pt x="111531" y="36055"/>
                  </a:lnTo>
                  <a:lnTo>
                    <a:pt x="121754" y="36055"/>
                  </a:lnTo>
                  <a:lnTo>
                    <a:pt x="121754" y="76606"/>
                  </a:lnTo>
                  <a:lnTo>
                    <a:pt x="122783" y="82486"/>
                  </a:lnTo>
                  <a:lnTo>
                    <a:pt x="137109" y="95173"/>
                  </a:lnTo>
                  <a:lnTo>
                    <a:pt x="147332" y="95173"/>
                  </a:lnTo>
                  <a:lnTo>
                    <a:pt x="151422" y="92849"/>
                  </a:lnTo>
                  <a:lnTo>
                    <a:pt x="151422" y="85890"/>
                  </a:lnTo>
                  <a:lnTo>
                    <a:pt x="151422" y="83566"/>
                  </a:lnTo>
                  <a:close/>
                </a:path>
                <a:path w="173990" h="95250">
                  <a:moveTo>
                    <a:pt x="173926" y="26771"/>
                  </a:moveTo>
                  <a:lnTo>
                    <a:pt x="163703" y="26771"/>
                  </a:lnTo>
                  <a:lnTo>
                    <a:pt x="163703" y="92849"/>
                  </a:lnTo>
                  <a:lnTo>
                    <a:pt x="173926" y="92849"/>
                  </a:lnTo>
                  <a:lnTo>
                    <a:pt x="173926" y="26771"/>
                  </a:lnTo>
                  <a:close/>
                </a:path>
                <a:path w="173990" h="95250">
                  <a:moveTo>
                    <a:pt x="173926" y="0"/>
                  </a:moveTo>
                  <a:lnTo>
                    <a:pt x="163703" y="0"/>
                  </a:lnTo>
                  <a:lnTo>
                    <a:pt x="163703" y="11607"/>
                  </a:lnTo>
                  <a:lnTo>
                    <a:pt x="173926" y="11607"/>
                  </a:lnTo>
                  <a:lnTo>
                    <a:pt x="1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1061" y="2212915"/>
              <a:ext cx="901380" cy="985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73824" y="2212924"/>
              <a:ext cx="1112520" cy="269875"/>
            </a:xfrm>
            <a:custGeom>
              <a:avLst/>
              <a:gdLst/>
              <a:ahLst/>
              <a:cxnLst/>
              <a:rect l="l" t="t" r="r" b="b"/>
              <a:pathLst>
                <a:path w="1112520" h="269875">
                  <a:moveTo>
                    <a:pt x="10236" y="174104"/>
                  </a:moveTo>
                  <a:lnTo>
                    <a:pt x="0" y="174104"/>
                  </a:lnTo>
                  <a:lnTo>
                    <a:pt x="0" y="266954"/>
                  </a:lnTo>
                  <a:lnTo>
                    <a:pt x="10236" y="266954"/>
                  </a:lnTo>
                  <a:lnTo>
                    <a:pt x="10236" y="174104"/>
                  </a:lnTo>
                  <a:close/>
                </a:path>
                <a:path w="1112520" h="269875">
                  <a:moveTo>
                    <a:pt x="74688" y="217119"/>
                  </a:moveTo>
                  <a:lnTo>
                    <a:pt x="73672" y="211239"/>
                  </a:lnTo>
                  <a:lnTo>
                    <a:pt x="72644" y="208915"/>
                  </a:lnTo>
                  <a:lnTo>
                    <a:pt x="68554" y="201955"/>
                  </a:lnTo>
                  <a:lnTo>
                    <a:pt x="65481" y="200875"/>
                  </a:lnTo>
                  <a:lnTo>
                    <a:pt x="62420" y="198551"/>
                  </a:lnTo>
                  <a:lnTo>
                    <a:pt x="50139" y="198551"/>
                  </a:lnTo>
                  <a:lnTo>
                    <a:pt x="48094" y="199631"/>
                  </a:lnTo>
                  <a:lnTo>
                    <a:pt x="46050" y="200875"/>
                  </a:lnTo>
                  <a:lnTo>
                    <a:pt x="44005" y="201955"/>
                  </a:lnTo>
                  <a:lnTo>
                    <a:pt x="41960" y="203200"/>
                  </a:lnTo>
                  <a:lnTo>
                    <a:pt x="37858" y="207835"/>
                  </a:lnTo>
                  <a:lnTo>
                    <a:pt x="35814" y="211239"/>
                  </a:lnTo>
                  <a:lnTo>
                    <a:pt x="35814" y="199631"/>
                  </a:lnTo>
                  <a:lnTo>
                    <a:pt x="26606" y="199631"/>
                  </a:lnTo>
                  <a:lnTo>
                    <a:pt x="26606" y="266954"/>
                  </a:lnTo>
                  <a:lnTo>
                    <a:pt x="35814" y="266954"/>
                  </a:lnTo>
                  <a:lnTo>
                    <a:pt x="35814" y="227495"/>
                  </a:lnTo>
                  <a:lnTo>
                    <a:pt x="36842" y="222846"/>
                  </a:lnTo>
                  <a:lnTo>
                    <a:pt x="38887" y="219443"/>
                  </a:lnTo>
                  <a:lnTo>
                    <a:pt x="39916" y="215887"/>
                  </a:lnTo>
                  <a:lnTo>
                    <a:pt x="41960" y="213563"/>
                  </a:lnTo>
                  <a:lnTo>
                    <a:pt x="45021" y="211239"/>
                  </a:lnTo>
                  <a:lnTo>
                    <a:pt x="47066" y="208915"/>
                  </a:lnTo>
                  <a:lnTo>
                    <a:pt x="57302" y="208915"/>
                  </a:lnTo>
                  <a:lnTo>
                    <a:pt x="59347" y="210159"/>
                  </a:lnTo>
                  <a:lnTo>
                    <a:pt x="61391" y="212483"/>
                  </a:lnTo>
                  <a:lnTo>
                    <a:pt x="63436" y="213563"/>
                  </a:lnTo>
                  <a:lnTo>
                    <a:pt x="63436" y="217119"/>
                  </a:lnTo>
                  <a:lnTo>
                    <a:pt x="64465" y="219443"/>
                  </a:lnTo>
                  <a:lnTo>
                    <a:pt x="64465" y="266954"/>
                  </a:lnTo>
                  <a:lnTo>
                    <a:pt x="74688" y="266954"/>
                  </a:lnTo>
                  <a:lnTo>
                    <a:pt x="74688" y="217119"/>
                  </a:lnTo>
                  <a:close/>
                </a:path>
                <a:path w="1112520" h="269875">
                  <a:moveTo>
                    <a:pt x="99237" y="199631"/>
                  </a:moveTo>
                  <a:lnTo>
                    <a:pt x="90030" y="199631"/>
                  </a:lnTo>
                  <a:lnTo>
                    <a:pt x="90030" y="266954"/>
                  </a:lnTo>
                  <a:lnTo>
                    <a:pt x="99237" y="266954"/>
                  </a:lnTo>
                  <a:lnTo>
                    <a:pt x="99237" y="199631"/>
                  </a:lnTo>
                  <a:close/>
                </a:path>
                <a:path w="1112520" h="269875">
                  <a:moveTo>
                    <a:pt x="99237" y="174104"/>
                  </a:moveTo>
                  <a:lnTo>
                    <a:pt x="90030" y="174104"/>
                  </a:lnTo>
                  <a:lnTo>
                    <a:pt x="90030" y="185712"/>
                  </a:lnTo>
                  <a:lnTo>
                    <a:pt x="99237" y="185712"/>
                  </a:lnTo>
                  <a:lnTo>
                    <a:pt x="99237" y="174104"/>
                  </a:lnTo>
                  <a:close/>
                </a:path>
                <a:path w="1112520" h="269875">
                  <a:moveTo>
                    <a:pt x="151422" y="257670"/>
                  </a:moveTo>
                  <a:lnTo>
                    <a:pt x="147332" y="258902"/>
                  </a:lnTo>
                  <a:lnTo>
                    <a:pt x="145288" y="259994"/>
                  </a:lnTo>
                  <a:lnTo>
                    <a:pt x="140169" y="259994"/>
                  </a:lnTo>
                  <a:lnTo>
                    <a:pt x="138125" y="258902"/>
                  </a:lnTo>
                  <a:lnTo>
                    <a:pt x="137109" y="257670"/>
                  </a:lnTo>
                  <a:lnTo>
                    <a:pt x="135064" y="256590"/>
                  </a:lnTo>
                  <a:lnTo>
                    <a:pt x="134035" y="255346"/>
                  </a:lnTo>
                  <a:lnTo>
                    <a:pt x="131991" y="250710"/>
                  </a:lnTo>
                  <a:lnTo>
                    <a:pt x="131991" y="208915"/>
                  </a:lnTo>
                  <a:lnTo>
                    <a:pt x="148361" y="208915"/>
                  </a:lnTo>
                  <a:lnTo>
                    <a:pt x="148361" y="199631"/>
                  </a:lnTo>
                  <a:lnTo>
                    <a:pt x="131991" y="199631"/>
                  </a:lnTo>
                  <a:lnTo>
                    <a:pt x="131991" y="184619"/>
                  </a:lnTo>
                  <a:lnTo>
                    <a:pt x="121754" y="184619"/>
                  </a:lnTo>
                  <a:lnTo>
                    <a:pt x="121754" y="199631"/>
                  </a:lnTo>
                  <a:lnTo>
                    <a:pt x="111531" y="199631"/>
                  </a:lnTo>
                  <a:lnTo>
                    <a:pt x="111531" y="208915"/>
                  </a:lnTo>
                  <a:lnTo>
                    <a:pt x="121754" y="208915"/>
                  </a:lnTo>
                  <a:lnTo>
                    <a:pt x="121754" y="250710"/>
                  </a:lnTo>
                  <a:lnTo>
                    <a:pt x="122783" y="256590"/>
                  </a:lnTo>
                  <a:lnTo>
                    <a:pt x="137109" y="269278"/>
                  </a:lnTo>
                  <a:lnTo>
                    <a:pt x="143243" y="269278"/>
                  </a:lnTo>
                  <a:lnTo>
                    <a:pt x="147332" y="268198"/>
                  </a:lnTo>
                  <a:lnTo>
                    <a:pt x="151422" y="266954"/>
                  </a:lnTo>
                  <a:lnTo>
                    <a:pt x="151422" y="259994"/>
                  </a:lnTo>
                  <a:lnTo>
                    <a:pt x="151422" y="257670"/>
                  </a:lnTo>
                  <a:close/>
                </a:path>
                <a:path w="1112520" h="269875">
                  <a:moveTo>
                    <a:pt x="173926" y="199631"/>
                  </a:moveTo>
                  <a:lnTo>
                    <a:pt x="163703" y="199631"/>
                  </a:lnTo>
                  <a:lnTo>
                    <a:pt x="163703" y="266954"/>
                  </a:lnTo>
                  <a:lnTo>
                    <a:pt x="173926" y="266954"/>
                  </a:lnTo>
                  <a:lnTo>
                    <a:pt x="173926" y="199631"/>
                  </a:lnTo>
                  <a:close/>
                </a:path>
                <a:path w="1112520" h="269875">
                  <a:moveTo>
                    <a:pt x="173926" y="174104"/>
                  </a:moveTo>
                  <a:lnTo>
                    <a:pt x="163703" y="174104"/>
                  </a:lnTo>
                  <a:lnTo>
                    <a:pt x="163703" y="185712"/>
                  </a:lnTo>
                  <a:lnTo>
                    <a:pt x="173926" y="185712"/>
                  </a:lnTo>
                  <a:lnTo>
                    <a:pt x="173926" y="174104"/>
                  </a:lnTo>
                  <a:close/>
                </a:path>
                <a:path w="1112520" h="269875">
                  <a:moveTo>
                    <a:pt x="236347" y="266954"/>
                  </a:moveTo>
                  <a:lnTo>
                    <a:pt x="235318" y="263550"/>
                  </a:lnTo>
                  <a:lnTo>
                    <a:pt x="234302" y="258902"/>
                  </a:lnTo>
                  <a:lnTo>
                    <a:pt x="234302" y="257670"/>
                  </a:lnTo>
                  <a:lnTo>
                    <a:pt x="234302" y="233375"/>
                  </a:lnTo>
                  <a:lnTo>
                    <a:pt x="234302" y="213563"/>
                  </a:lnTo>
                  <a:lnTo>
                    <a:pt x="233273" y="208915"/>
                  </a:lnTo>
                  <a:lnTo>
                    <a:pt x="232257" y="206603"/>
                  </a:lnTo>
                  <a:lnTo>
                    <a:pt x="228168" y="201955"/>
                  </a:lnTo>
                  <a:lnTo>
                    <a:pt x="224066" y="200875"/>
                  </a:lnTo>
                  <a:lnTo>
                    <a:pt x="221005" y="198551"/>
                  </a:lnTo>
                  <a:lnTo>
                    <a:pt x="203606" y="198551"/>
                  </a:lnTo>
                  <a:lnTo>
                    <a:pt x="200545" y="200875"/>
                  </a:lnTo>
                  <a:lnTo>
                    <a:pt x="196456" y="201955"/>
                  </a:lnTo>
                  <a:lnTo>
                    <a:pt x="193382" y="204279"/>
                  </a:lnTo>
                  <a:lnTo>
                    <a:pt x="191325" y="207835"/>
                  </a:lnTo>
                  <a:lnTo>
                    <a:pt x="189280" y="211239"/>
                  </a:lnTo>
                  <a:lnTo>
                    <a:pt x="188252" y="213563"/>
                  </a:lnTo>
                  <a:lnTo>
                    <a:pt x="188252" y="218211"/>
                  </a:lnTo>
                  <a:lnTo>
                    <a:pt x="199517" y="218211"/>
                  </a:lnTo>
                  <a:lnTo>
                    <a:pt x="199517" y="213563"/>
                  </a:lnTo>
                  <a:lnTo>
                    <a:pt x="200545" y="211239"/>
                  </a:lnTo>
                  <a:lnTo>
                    <a:pt x="202590" y="210159"/>
                  </a:lnTo>
                  <a:lnTo>
                    <a:pt x="204635" y="207835"/>
                  </a:lnTo>
                  <a:lnTo>
                    <a:pt x="207708" y="206603"/>
                  </a:lnTo>
                  <a:lnTo>
                    <a:pt x="215887" y="206603"/>
                  </a:lnTo>
                  <a:lnTo>
                    <a:pt x="217932" y="207835"/>
                  </a:lnTo>
                  <a:lnTo>
                    <a:pt x="221005" y="208915"/>
                  </a:lnTo>
                  <a:lnTo>
                    <a:pt x="223050" y="211239"/>
                  </a:lnTo>
                  <a:lnTo>
                    <a:pt x="224066" y="213563"/>
                  </a:lnTo>
                  <a:lnTo>
                    <a:pt x="224066" y="225171"/>
                  </a:lnTo>
                  <a:lnTo>
                    <a:pt x="224066" y="233375"/>
                  </a:lnTo>
                  <a:lnTo>
                    <a:pt x="224066" y="247307"/>
                  </a:lnTo>
                  <a:lnTo>
                    <a:pt x="222021" y="250710"/>
                  </a:lnTo>
                  <a:lnTo>
                    <a:pt x="221005" y="254266"/>
                  </a:lnTo>
                  <a:lnTo>
                    <a:pt x="218960" y="256590"/>
                  </a:lnTo>
                  <a:lnTo>
                    <a:pt x="215887" y="257670"/>
                  </a:lnTo>
                  <a:lnTo>
                    <a:pt x="213842" y="259994"/>
                  </a:lnTo>
                  <a:lnTo>
                    <a:pt x="210769" y="261226"/>
                  </a:lnTo>
                  <a:lnTo>
                    <a:pt x="206679" y="261226"/>
                  </a:lnTo>
                  <a:lnTo>
                    <a:pt x="204635" y="259994"/>
                  </a:lnTo>
                  <a:lnTo>
                    <a:pt x="202590" y="258902"/>
                  </a:lnTo>
                  <a:lnTo>
                    <a:pt x="201561" y="258902"/>
                  </a:lnTo>
                  <a:lnTo>
                    <a:pt x="200545" y="257670"/>
                  </a:lnTo>
                  <a:lnTo>
                    <a:pt x="199517" y="255346"/>
                  </a:lnTo>
                  <a:lnTo>
                    <a:pt x="198501" y="254266"/>
                  </a:lnTo>
                  <a:lnTo>
                    <a:pt x="198501" y="247307"/>
                  </a:lnTo>
                  <a:lnTo>
                    <a:pt x="199517" y="244983"/>
                  </a:lnTo>
                  <a:lnTo>
                    <a:pt x="202590" y="241414"/>
                  </a:lnTo>
                  <a:lnTo>
                    <a:pt x="204635" y="239102"/>
                  </a:lnTo>
                  <a:lnTo>
                    <a:pt x="211797" y="236778"/>
                  </a:lnTo>
                  <a:lnTo>
                    <a:pt x="222021" y="234454"/>
                  </a:lnTo>
                  <a:lnTo>
                    <a:pt x="224066" y="233375"/>
                  </a:lnTo>
                  <a:lnTo>
                    <a:pt x="224066" y="225171"/>
                  </a:lnTo>
                  <a:lnTo>
                    <a:pt x="211086" y="228333"/>
                  </a:lnTo>
                  <a:lnTo>
                    <a:pt x="187236" y="243738"/>
                  </a:lnTo>
                  <a:lnTo>
                    <a:pt x="187236" y="256590"/>
                  </a:lnTo>
                  <a:lnTo>
                    <a:pt x="189280" y="261226"/>
                  </a:lnTo>
                  <a:lnTo>
                    <a:pt x="192354" y="264629"/>
                  </a:lnTo>
                  <a:lnTo>
                    <a:pt x="196456" y="266954"/>
                  </a:lnTo>
                  <a:lnTo>
                    <a:pt x="199517" y="269278"/>
                  </a:lnTo>
                  <a:lnTo>
                    <a:pt x="207708" y="269278"/>
                  </a:lnTo>
                  <a:lnTo>
                    <a:pt x="210769" y="268198"/>
                  </a:lnTo>
                  <a:lnTo>
                    <a:pt x="213842" y="266954"/>
                  </a:lnTo>
                  <a:lnTo>
                    <a:pt x="216916" y="265874"/>
                  </a:lnTo>
                  <a:lnTo>
                    <a:pt x="220929" y="261226"/>
                  </a:lnTo>
                  <a:lnTo>
                    <a:pt x="224066" y="257670"/>
                  </a:lnTo>
                  <a:lnTo>
                    <a:pt x="224066" y="259994"/>
                  </a:lnTo>
                  <a:lnTo>
                    <a:pt x="225094" y="263550"/>
                  </a:lnTo>
                  <a:lnTo>
                    <a:pt x="226110" y="266954"/>
                  </a:lnTo>
                  <a:lnTo>
                    <a:pt x="236347" y="266954"/>
                  </a:lnTo>
                  <a:close/>
                </a:path>
                <a:path w="1112520" h="269875">
                  <a:moveTo>
                    <a:pt x="1112139" y="0"/>
                  </a:moveTo>
                  <a:lnTo>
                    <a:pt x="1101915" y="0"/>
                  </a:lnTo>
                  <a:lnTo>
                    <a:pt x="1101915" y="96253"/>
                  </a:lnTo>
                  <a:lnTo>
                    <a:pt x="1112139" y="96253"/>
                  </a:lnTo>
                  <a:lnTo>
                    <a:pt x="11121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3835" y="2383613"/>
              <a:ext cx="1147938" cy="25302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73824" y="2712173"/>
              <a:ext cx="173990" cy="95250"/>
            </a:xfrm>
            <a:custGeom>
              <a:avLst/>
              <a:gdLst/>
              <a:ahLst/>
              <a:cxnLst/>
              <a:rect l="l" t="t" r="r" b="b"/>
              <a:pathLst>
                <a:path w="173990" h="95250">
                  <a:moveTo>
                    <a:pt x="10236" y="0"/>
                  </a:moveTo>
                  <a:lnTo>
                    <a:pt x="0" y="0"/>
                  </a:lnTo>
                  <a:lnTo>
                    <a:pt x="0" y="92849"/>
                  </a:lnTo>
                  <a:lnTo>
                    <a:pt x="10236" y="92849"/>
                  </a:lnTo>
                  <a:lnTo>
                    <a:pt x="10236" y="0"/>
                  </a:lnTo>
                  <a:close/>
                </a:path>
                <a:path w="173990" h="95250">
                  <a:moveTo>
                    <a:pt x="74688" y="42862"/>
                  </a:moveTo>
                  <a:lnTo>
                    <a:pt x="73672" y="37134"/>
                  </a:lnTo>
                  <a:lnTo>
                    <a:pt x="72644" y="34823"/>
                  </a:lnTo>
                  <a:lnTo>
                    <a:pt x="68554" y="27851"/>
                  </a:lnTo>
                  <a:lnTo>
                    <a:pt x="65481" y="26619"/>
                  </a:lnTo>
                  <a:lnTo>
                    <a:pt x="62420" y="24295"/>
                  </a:lnTo>
                  <a:lnTo>
                    <a:pt x="50139" y="24295"/>
                  </a:lnTo>
                  <a:lnTo>
                    <a:pt x="48094" y="25527"/>
                  </a:lnTo>
                  <a:lnTo>
                    <a:pt x="46050" y="26619"/>
                  </a:lnTo>
                  <a:lnTo>
                    <a:pt x="44005" y="27851"/>
                  </a:lnTo>
                  <a:lnTo>
                    <a:pt x="41960" y="28943"/>
                  </a:lnTo>
                  <a:lnTo>
                    <a:pt x="37858" y="33578"/>
                  </a:lnTo>
                  <a:lnTo>
                    <a:pt x="35814" y="37134"/>
                  </a:lnTo>
                  <a:lnTo>
                    <a:pt x="35814" y="25527"/>
                  </a:lnTo>
                  <a:lnTo>
                    <a:pt x="26606" y="25527"/>
                  </a:lnTo>
                  <a:lnTo>
                    <a:pt x="26606" y="92849"/>
                  </a:lnTo>
                  <a:lnTo>
                    <a:pt x="35814" y="92849"/>
                  </a:lnTo>
                  <a:lnTo>
                    <a:pt x="35814" y="53390"/>
                  </a:lnTo>
                  <a:lnTo>
                    <a:pt x="36842" y="48742"/>
                  </a:lnTo>
                  <a:lnTo>
                    <a:pt x="38887" y="45186"/>
                  </a:lnTo>
                  <a:lnTo>
                    <a:pt x="39916" y="41783"/>
                  </a:lnTo>
                  <a:lnTo>
                    <a:pt x="41960" y="39458"/>
                  </a:lnTo>
                  <a:lnTo>
                    <a:pt x="45021" y="37134"/>
                  </a:lnTo>
                  <a:lnTo>
                    <a:pt x="47066" y="34823"/>
                  </a:lnTo>
                  <a:lnTo>
                    <a:pt x="57302" y="34823"/>
                  </a:lnTo>
                  <a:lnTo>
                    <a:pt x="59347" y="35902"/>
                  </a:lnTo>
                  <a:lnTo>
                    <a:pt x="61391" y="38227"/>
                  </a:lnTo>
                  <a:lnTo>
                    <a:pt x="63436" y="39458"/>
                  </a:lnTo>
                  <a:lnTo>
                    <a:pt x="63436" y="41783"/>
                  </a:lnTo>
                  <a:lnTo>
                    <a:pt x="64465" y="45186"/>
                  </a:lnTo>
                  <a:lnTo>
                    <a:pt x="64465" y="92849"/>
                  </a:lnTo>
                  <a:lnTo>
                    <a:pt x="74688" y="92849"/>
                  </a:lnTo>
                  <a:lnTo>
                    <a:pt x="74688" y="42862"/>
                  </a:lnTo>
                  <a:close/>
                </a:path>
                <a:path w="173990" h="95250">
                  <a:moveTo>
                    <a:pt x="99237" y="25527"/>
                  </a:moveTo>
                  <a:lnTo>
                    <a:pt x="90030" y="25527"/>
                  </a:lnTo>
                  <a:lnTo>
                    <a:pt x="90030" y="92849"/>
                  </a:lnTo>
                  <a:lnTo>
                    <a:pt x="99237" y="92849"/>
                  </a:lnTo>
                  <a:lnTo>
                    <a:pt x="99237" y="25527"/>
                  </a:lnTo>
                  <a:close/>
                </a:path>
                <a:path w="173990" h="95250">
                  <a:moveTo>
                    <a:pt x="99237" y="0"/>
                  </a:moveTo>
                  <a:lnTo>
                    <a:pt x="90030" y="0"/>
                  </a:lnTo>
                  <a:lnTo>
                    <a:pt x="90030" y="10363"/>
                  </a:lnTo>
                  <a:lnTo>
                    <a:pt x="99237" y="10363"/>
                  </a:lnTo>
                  <a:lnTo>
                    <a:pt x="99237" y="0"/>
                  </a:lnTo>
                  <a:close/>
                </a:path>
                <a:path w="173990" h="95250">
                  <a:moveTo>
                    <a:pt x="151422" y="83566"/>
                  </a:moveTo>
                  <a:lnTo>
                    <a:pt x="147332" y="84645"/>
                  </a:lnTo>
                  <a:lnTo>
                    <a:pt x="145288" y="85890"/>
                  </a:lnTo>
                  <a:lnTo>
                    <a:pt x="140169" y="85890"/>
                  </a:lnTo>
                  <a:lnTo>
                    <a:pt x="138125" y="84645"/>
                  </a:lnTo>
                  <a:lnTo>
                    <a:pt x="137109" y="83566"/>
                  </a:lnTo>
                  <a:lnTo>
                    <a:pt x="135064" y="82334"/>
                  </a:lnTo>
                  <a:lnTo>
                    <a:pt x="134035" y="81241"/>
                  </a:lnTo>
                  <a:lnTo>
                    <a:pt x="131991" y="76606"/>
                  </a:lnTo>
                  <a:lnTo>
                    <a:pt x="131991" y="34823"/>
                  </a:lnTo>
                  <a:lnTo>
                    <a:pt x="148361" y="34823"/>
                  </a:lnTo>
                  <a:lnTo>
                    <a:pt x="148361" y="25527"/>
                  </a:lnTo>
                  <a:lnTo>
                    <a:pt x="131991" y="25527"/>
                  </a:lnTo>
                  <a:lnTo>
                    <a:pt x="131991" y="10363"/>
                  </a:lnTo>
                  <a:lnTo>
                    <a:pt x="121754" y="10363"/>
                  </a:lnTo>
                  <a:lnTo>
                    <a:pt x="121754" y="25527"/>
                  </a:lnTo>
                  <a:lnTo>
                    <a:pt x="111531" y="25527"/>
                  </a:lnTo>
                  <a:lnTo>
                    <a:pt x="111531" y="34823"/>
                  </a:lnTo>
                  <a:lnTo>
                    <a:pt x="121754" y="34823"/>
                  </a:lnTo>
                  <a:lnTo>
                    <a:pt x="121754" y="76606"/>
                  </a:lnTo>
                  <a:lnTo>
                    <a:pt x="122783" y="82334"/>
                  </a:lnTo>
                  <a:lnTo>
                    <a:pt x="134035" y="93929"/>
                  </a:lnTo>
                  <a:lnTo>
                    <a:pt x="137109" y="95173"/>
                  </a:lnTo>
                  <a:lnTo>
                    <a:pt x="143243" y="95173"/>
                  </a:lnTo>
                  <a:lnTo>
                    <a:pt x="147332" y="93929"/>
                  </a:lnTo>
                  <a:lnTo>
                    <a:pt x="151422" y="92849"/>
                  </a:lnTo>
                  <a:lnTo>
                    <a:pt x="151422" y="85890"/>
                  </a:lnTo>
                  <a:lnTo>
                    <a:pt x="151422" y="83566"/>
                  </a:lnTo>
                  <a:close/>
                </a:path>
                <a:path w="173990" h="95250">
                  <a:moveTo>
                    <a:pt x="173926" y="25527"/>
                  </a:moveTo>
                  <a:lnTo>
                    <a:pt x="163703" y="25527"/>
                  </a:lnTo>
                  <a:lnTo>
                    <a:pt x="163703" y="92849"/>
                  </a:lnTo>
                  <a:lnTo>
                    <a:pt x="173926" y="92849"/>
                  </a:lnTo>
                  <a:lnTo>
                    <a:pt x="173926" y="25527"/>
                  </a:lnTo>
                  <a:close/>
                </a:path>
                <a:path w="173990" h="95250">
                  <a:moveTo>
                    <a:pt x="173926" y="0"/>
                  </a:moveTo>
                  <a:lnTo>
                    <a:pt x="163703" y="0"/>
                  </a:lnTo>
                  <a:lnTo>
                    <a:pt x="163703" y="10363"/>
                  </a:lnTo>
                  <a:lnTo>
                    <a:pt x="173926" y="10363"/>
                  </a:lnTo>
                  <a:lnTo>
                    <a:pt x="1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1061" y="2708605"/>
              <a:ext cx="948437" cy="9873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72616" y="2788780"/>
              <a:ext cx="514984" cy="344170"/>
            </a:xfrm>
            <a:custGeom>
              <a:avLst/>
              <a:gdLst/>
              <a:ahLst/>
              <a:cxnLst/>
              <a:rect l="l" t="t" r="r" b="b"/>
              <a:pathLst>
                <a:path w="514985" h="344169">
                  <a:moveTo>
                    <a:pt x="10236" y="273913"/>
                  </a:moveTo>
                  <a:lnTo>
                    <a:pt x="0" y="273913"/>
                  </a:lnTo>
                  <a:lnTo>
                    <a:pt x="0" y="341236"/>
                  </a:lnTo>
                  <a:lnTo>
                    <a:pt x="10236" y="341236"/>
                  </a:lnTo>
                  <a:lnTo>
                    <a:pt x="10236" y="273913"/>
                  </a:lnTo>
                  <a:close/>
                </a:path>
                <a:path w="514985" h="344169">
                  <a:moveTo>
                    <a:pt x="10236" y="248386"/>
                  </a:moveTo>
                  <a:lnTo>
                    <a:pt x="0" y="248386"/>
                  </a:lnTo>
                  <a:lnTo>
                    <a:pt x="0" y="258749"/>
                  </a:lnTo>
                  <a:lnTo>
                    <a:pt x="10236" y="258749"/>
                  </a:lnTo>
                  <a:lnTo>
                    <a:pt x="10236" y="248386"/>
                  </a:lnTo>
                  <a:close/>
                </a:path>
                <a:path w="514985" h="344169">
                  <a:moveTo>
                    <a:pt x="61391" y="331952"/>
                  </a:moveTo>
                  <a:lnTo>
                    <a:pt x="58318" y="333184"/>
                  </a:lnTo>
                  <a:lnTo>
                    <a:pt x="55257" y="334276"/>
                  </a:lnTo>
                  <a:lnTo>
                    <a:pt x="50139" y="334276"/>
                  </a:lnTo>
                  <a:lnTo>
                    <a:pt x="48094" y="333184"/>
                  </a:lnTo>
                  <a:lnTo>
                    <a:pt x="47066" y="331952"/>
                  </a:lnTo>
                  <a:lnTo>
                    <a:pt x="45021" y="330873"/>
                  </a:lnTo>
                  <a:lnTo>
                    <a:pt x="44005" y="329628"/>
                  </a:lnTo>
                  <a:lnTo>
                    <a:pt x="41960" y="324993"/>
                  </a:lnTo>
                  <a:lnTo>
                    <a:pt x="41960" y="283197"/>
                  </a:lnTo>
                  <a:lnTo>
                    <a:pt x="59347" y="283197"/>
                  </a:lnTo>
                  <a:lnTo>
                    <a:pt x="59347" y="273913"/>
                  </a:lnTo>
                  <a:lnTo>
                    <a:pt x="41960" y="273913"/>
                  </a:lnTo>
                  <a:lnTo>
                    <a:pt x="41960" y="258749"/>
                  </a:lnTo>
                  <a:lnTo>
                    <a:pt x="31724" y="258749"/>
                  </a:lnTo>
                  <a:lnTo>
                    <a:pt x="31724" y="273913"/>
                  </a:lnTo>
                  <a:lnTo>
                    <a:pt x="21488" y="273913"/>
                  </a:lnTo>
                  <a:lnTo>
                    <a:pt x="21488" y="283197"/>
                  </a:lnTo>
                  <a:lnTo>
                    <a:pt x="31724" y="283197"/>
                  </a:lnTo>
                  <a:lnTo>
                    <a:pt x="31724" y="324993"/>
                  </a:lnTo>
                  <a:lnTo>
                    <a:pt x="32753" y="330873"/>
                  </a:lnTo>
                  <a:lnTo>
                    <a:pt x="47066" y="343560"/>
                  </a:lnTo>
                  <a:lnTo>
                    <a:pt x="53213" y="343560"/>
                  </a:lnTo>
                  <a:lnTo>
                    <a:pt x="57302" y="342480"/>
                  </a:lnTo>
                  <a:lnTo>
                    <a:pt x="61391" y="341236"/>
                  </a:lnTo>
                  <a:lnTo>
                    <a:pt x="61391" y="334276"/>
                  </a:lnTo>
                  <a:lnTo>
                    <a:pt x="61391" y="331952"/>
                  </a:lnTo>
                  <a:close/>
                </a:path>
                <a:path w="514985" h="344169">
                  <a:moveTo>
                    <a:pt x="122783" y="297129"/>
                  </a:moveTo>
                  <a:lnTo>
                    <a:pt x="113576" y="277075"/>
                  </a:lnTo>
                  <a:lnTo>
                    <a:pt x="113576" y="296049"/>
                  </a:lnTo>
                  <a:lnTo>
                    <a:pt x="113576" y="300685"/>
                  </a:lnTo>
                  <a:lnTo>
                    <a:pt x="81851" y="300685"/>
                  </a:lnTo>
                  <a:lnTo>
                    <a:pt x="82880" y="294805"/>
                  </a:lnTo>
                  <a:lnTo>
                    <a:pt x="84924" y="290169"/>
                  </a:lnTo>
                  <a:lnTo>
                    <a:pt x="87985" y="286766"/>
                  </a:lnTo>
                  <a:lnTo>
                    <a:pt x="91059" y="283197"/>
                  </a:lnTo>
                  <a:lnTo>
                    <a:pt x="94132" y="282117"/>
                  </a:lnTo>
                  <a:lnTo>
                    <a:pt x="103339" y="282117"/>
                  </a:lnTo>
                  <a:lnTo>
                    <a:pt x="106400" y="284441"/>
                  </a:lnTo>
                  <a:lnTo>
                    <a:pt x="108445" y="285521"/>
                  </a:lnTo>
                  <a:lnTo>
                    <a:pt x="110515" y="287845"/>
                  </a:lnTo>
                  <a:lnTo>
                    <a:pt x="111531" y="290169"/>
                  </a:lnTo>
                  <a:lnTo>
                    <a:pt x="112560" y="293725"/>
                  </a:lnTo>
                  <a:lnTo>
                    <a:pt x="113576" y="296049"/>
                  </a:lnTo>
                  <a:lnTo>
                    <a:pt x="113576" y="277075"/>
                  </a:lnTo>
                  <a:lnTo>
                    <a:pt x="111531" y="276237"/>
                  </a:lnTo>
                  <a:lnTo>
                    <a:pt x="107429" y="273913"/>
                  </a:lnTo>
                  <a:lnTo>
                    <a:pt x="103339" y="272834"/>
                  </a:lnTo>
                  <a:lnTo>
                    <a:pt x="91059" y="272834"/>
                  </a:lnTo>
                  <a:lnTo>
                    <a:pt x="71628" y="308737"/>
                  </a:lnTo>
                  <a:lnTo>
                    <a:pt x="72021" y="315645"/>
                  </a:lnTo>
                  <a:lnTo>
                    <a:pt x="73291" y="322237"/>
                  </a:lnTo>
                  <a:lnTo>
                    <a:pt x="75501" y="328193"/>
                  </a:lnTo>
                  <a:lnTo>
                    <a:pt x="78778" y="333184"/>
                  </a:lnTo>
                  <a:lnTo>
                    <a:pt x="82880" y="340156"/>
                  </a:lnTo>
                  <a:lnTo>
                    <a:pt x="90030" y="343560"/>
                  </a:lnTo>
                  <a:lnTo>
                    <a:pt x="103339" y="343560"/>
                  </a:lnTo>
                  <a:lnTo>
                    <a:pt x="122783" y="327304"/>
                  </a:lnTo>
                  <a:lnTo>
                    <a:pt x="122783" y="323900"/>
                  </a:lnTo>
                  <a:lnTo>
                    <a:pt x="112560" y="323900"/>
                  </a:lnTo>
                  <a:lnTo>
                    <a:pt x="112560" y="327304"/>
                  </a:lnTo>
                  <a:lnTo>
                    <a:pt x="111531" y="329628"/>
                  </a:lnTo>
                  <a:lnTo>
                    <a:pt x="109474" y="330873"/>
                  </a:lnTo>
                  <a:lnTo>
                    <a:pt x="107429" y="333184"/>
                  </a:lnTo>
                  <a:lnTo>
                    <a:pt x="104355" y="334276"/>
                  </a:lnTo>
                  <a:lnTo>
                    <a:pt x="94132" y="334276"/>
                  </a:lnTo>
                  <a:lnTo>
                    <a:pt x="89014" y="331952"/>
                  </a:lnTo>
                  <a:lnTo>
                    <a:pt x="82880" y="322668"/>
                  </a:lnTo>
                  <a:lnTo>
                    <a:pt x="80835" y="316941"/>
                  </a:lnTo>
                  <a:lnTo>
                    <a:pt x="80835" y="308737"/>
                  </a:lnTo>
                  <a:lnTo>
                    <a:pt x="122783" y="308737"/>
                  </a:lnTo>
                  <a:lnTo>
                    <a:pt x="122783" y="300685"/>
                  </a:lnTo>
                  <a:lnTo>
                    <a:pt x="122783" y="297129"/>
                  </a:lnTo>
                  <a:close/>
                </a:path>
                <a:path w="514985" h="344169">
                  <a:moveTo>
                    <a:pt x="169837" y="273913"/>
                  </a:moveTo>
                  <a:lnTo>
                    <a:pt x="168821" y="272834"/>
                  </a:lnTo>
                  <a:lnTo>
                    <a:pt x="160629" y="272834"/>
                  </a:lnTo>
                  <a:lnTo>
                    <a:pt x="158584" y="273913"/>
                  </a:lnTo>
                  <a:lnTo>
                    <a:pt x="155524" y="275158"/>
                  </a:lnTo>
                  <a:lnTo>
                    <a:pt x="153479" y="276237"/>
                  </a:lnTo>
                  <a:lnTo>
                    <a:pt x="152450" y="278561"/>
                  </a:lnTo>
                  <a:lnTo>
                    <a:pt x="150406" y="279793"/>
                  </a:lnTo>
                  <a:lnTo>
                    <a:pt x="146316" y="286766"/>
                  </a:lnTo>
                  <a:lnTo>
                    <a:pt x="146316" y="273913"/>
                  </a:lnTo>
                  <a:lnTo>
                    <a:pt x="137109" y="273913"/>
                  </a:lnTo>
                  <a:lnTo>
                    <a:pt x="137109" y="341236"/>
                  </a:lnTo>
                  <a:lnTo>
                    <a:pt x="146316" y="341236"/>
                  </a:lnTo>
                  <a:lnTo>
                    <a:pt x="146316" y="299453"/>
                  </a:lnTo>
                  <a:lnTo>
                    <a:pt x="148361" y="292493"/>
                  </a:lnTo>
                  <a:lnTo>
                    <a:pt x="151422" y="289090"/>
                  </a:lnTo>
                  <a:lnTo>
                    <a:pt x="155524" y="285521"/>
                  </a:lnTo>
                  <a:lnTo>
                    <a:pt x="158584" y="283197"/>
                  </a:lnTo>
                  <a:lnTo>
                    <a:pt x="165747" y="283197"/>
                  </a:lnTo>
                  <a:lnTo>
                    <a:pt x="167792" y="284441"/>
                  </a:lnTo>
                  <a:lnTo>
                    <a:pt x="169837" y="285521"/>
                  </a:lnTo>
                  <a:lnTo>
                    <a:pt x="169837" y="273913"/>
                  </a:lnTo>
                  <a:close/>
                </a:path>
                <a:path w="514985" h="344169">
                  <a:moveTo>
                    <a:pt x="226123" y="341236"/>
                  </a:moveTo>
                  <a:lnTo>
                    <a:pt x="225094" y="337832"/>
                  </a:lnTo>
                  <a:lnTo>
                    <a:pt x="224066" y="333184"/>
                  </a:lnTo>
                  <a:lnTo>
                    <a:pt x="224066" y="331952"/>
                  </a:lnTo>
                  <a:lnTo>
                    <a:pt x="224066" y="307657"/>
                  </a:lnTo>
                  <a:lnTo>
                    <a:pt x="224066" y="287845"/>
                  </a:lnTo>
                  <a:lnTo>
                    <a:pt x="223050" y="283197"/>
                  </a:lnTo>
                  <a:lnTo>
                    <a:pt x="221005" y="280885"/>
                  </a:lnTo>
                  <a:lnTo>
                    <a:pt x="219976" y="278561"/>
                  </a:lnTo>
                  <a:lnTo>
                    <a:pt x="216916" y="276237"/>
                  </a:lnTo>
                  <a:lnTo>
                    <a:pt x="213842" y="275158"/>
                  </a:lnTo>
                  <a:lnTo>
                    <a:pt x="209753" y="272834"/>
                  </a:lnTo>
                  <a:lnTo>
                    <a:pt x="193370" y="272834"/>
                  </a:lnTo>
                  <a:lnTo>
                    <a:pt x="190296" y="275158"/>
                  </a:lnTo>
                  <a:lnTo>
                    <a:pt x="186207" y="276237"/>
                  </a:lnTo>
                  <a:lnTo>
                    <a:pt x="183134" y="278561"/>
                  </a:lnTo>
                  <a:lnTo>
                    <a:pt x="181089" y="282117"/>
                  </a:lnTo>
                  <a:lnTo>
                    <a:pt x="179044" y="285521"/>
                  </a:lnTo>
                  <a:lnTo>
                    <a:pt x="178028" y="287845"/>
                  </a:lnTo>
                  <a:lnTo>
                    <a:pt x="178028" y="292493"/>
                  </a:lnTo>
                  <a:lnTo>
                    <a:pt x="188252" y="292493"/>
                  </a:lnTo>
                  <a:lnTo>
                    <a:pt x="188252" y="287845"/>
                  </a:lnTo>
                  <a:lnTo>
                    <a:pt x="189280" y="285521"/>
                  </a:lnTo>
                  <a:lnTo>
                    <a:pt x="192341" y="284441"/>
                  </a:lnTo>
                  <a:lnTo>
                    <a:pt x="194386" y="282117"/>
                  </a:lnTo>
                  <a:lnTo>
                    <a:pt x="197459" y="280885"/>
                  </a:lnTo>
                  <a:lnTo>
                    <a:pt x="204635" y="280885"/>
                  </a:lnTo>
                  <a:lnTo>
                    <a:pt x="207708" y="282117"/>
                  </a:lnTo>
                  <a:lnTo>
                    <a:pt x="210769" y="283197"/>
                  </a:lnTo>
                  <a:lnTo>
                    <a:pt x="212813" y="285521"/>
                  </a:lnTo>
                  <a:lnTo>
                    <a:pt x="213842" y="287845"/>
                  </a:lnTo>
                  <a:lnTo>
                    <a:pt x="213842" y="299453"/>
                  </a:lnTo>
                  <a:lnTo>
                    <a:pt x="213842" y="307657"/>
                  </a:lnTo>
                  <a:lnTo>
                    <a:pt x="213842" y="318020"/>
                  </a:lnTo>
                  <a:lnTo>
                    <a:pt x="212813" y="321589"/>
                  </a:lnTo>
                  <a:lnTo>
                    <a:pt x="211797" y="324993"/>
                  </a:lnTo>
                  <a:lnTo>
                    <a:pt x="209753" y="327304"/>
                  </a:lnTo>
                  <a:lnTo>
                    <a:pt x="207708" y="330873"/>
                  </a:lnTo>
                  <a:lnTo>
                    <a:pt x="205663" y="331952"/>
                  </a:lnTo>
                  <a:lnTo>
                    <a:pt x="202590" y="334276"/>
                  </a:lnTo>
                  <a:lnTo>
                    <a:pt x="200545" y="335508"/>
                  </a:lnTo>
                  <a:lnTo>
                    <a:pt x="195414" y="335508"/>
                  </a:lnTo>
                  <a:lnTo>
                    <a:pt x="194386" y="334276"/>
                  </a:lnTo>
                  <a:lnTo>
                    <a:pt x="192341" y="333184"/>
                  </a:lnTo>
                  <a:lnTo>
                    <a:pt x="191325" y="333184"/>
                  </a:lnTo>
                  <a:lnTo>
                    <a:pt x="189280" y="331952"/>
                  </a:lnTo>
                  <a:lnTo>
                    <a:pt x="189280" y="329628"/>
                  </a:lnTo>
                  <a:lnTo>
                    <a:pt x="188252" y="328549"/>
                  </a:lnTo>
                  <a:lnTo>
                    <a:pt x="187236" y="327304"/>
                  </a:lnTo>
                  <a:lnTo>
                    <a:pt x="187236" y="321589"/>
                  </a:lnTo>
                  <a:lnTo>
                    <a:pt x="189280" y="319265"/>
                  </a:lnTo>
                  <a:lnTo>
                    <a:pt x="191325" y="315696"/>
                  </a:lnTo>
                  <a:lnTo>
                    <a:pt x="194386" y="313385"/>
                  </a:lnTo>
                  <a:lnTo>
                    <a:pt x="200545" y="311061"/>
                  </a:lnTo>
                  <a:lnTo>
                    <a:pt x="210769" y="308737"/>
                  </a:lnTo>
                  <a:lnTo>
                    <a:pt x="213842" y="307657"/>
                  </a:lnTo>
                  <a:lnTo>
                    <a:pt x="213842" y="299453"/>
                  </a:lnTo>
                  <a:lnTo>
                    <a:pt x="200850" y="302615"/>
                  </a:lnTo>
                  <a:lnTo>
                    <a:pt x="176999" y="318020"/>
                  </a:lnTo>
                  <a:lnTo>
                    <a:pt x="176999" y="330873"/>
                  </a:lnTo>
                  <a:lnTo>
                    <a:pt x="179044" y="335508"/>
                  </a:lnTo>
                  <a:lnTo>
                    <a:pt x="182118" y="338912"/>
                  </a:lnTo>
                  <a:lnTo>
                    <a:pt x="185191" y="341236"/>
                  </a:lnTo>
                  <a:lnTo>
                    <a:pt x="189280" y="343560"/>
                  </a:lnTo>
                  <a:lnTo>
                    <a:pt x="196443" y="343560"/>
                  </a:lnTo>
                  <a:lnTo>
                    <a:pt x="199517" y="342480"/>
                  </a:lnTo>
                  <a:lnTo>
                    <a:pt x="202590" y="341236"/>
                  </a:lnTo>
                  <a:lnTo>
                    <a:pt x="205663" y="340156"/>
                  </a:lnTo>
                  <a:lnTo>
                    <a:pt x="209753" y="336600"/>
                  </a:lnTo>
                  <a:lnTo>
                    <a:pt x="210705" y="335508"/>
                  </a:lnTo>
                  <a:lnTo>
                    <a:pt x="213842" y="331952"/>
                  </a:lnTo>
                  <a:lnTo>
                    <a:pt x="213842" y="334276"/>
                  </a:lnTo>
                  <a:lnTo>
                    <a:pt x="214871" y="337832"/>
                  </a:lnTo>
                  <a:lnTo>
                    <a:pt x="215887" y="341236"/>
                  </a:lnTo>
                  <a:lnTo>
                    <a:pt x="226123" y="341236"/>
                  </a:lnTo>
                  <a:close/>
                </a:path>
                <a:path w="514985" h="344169">
                  <a:moveTo>
                    <a:pt x="275221" y="331952"/>
                  </a:moveTo>
                  <a:lnTo>
                    <a:pt x="271132" y="333184"/>
                  </a:lnTo>
                  <a:lnTo>
                    <a:pt x="269087" y="334276"/>
                  </a:lnTo>
                  <a:lnTo>
                    <a:pt x="263969" y="334276"/>
                  </a:lnTo>
                  <a:lnTo>
                    <a:pt x="261924" y="333184"/>
                  </a:lnTo>
                  <a:lnTo>
                    <a:pt x="260896" y="331952"/>
                  </a:lnTo>
                  <a:lnTo>
                    <a:pt x="258851" y="330873"/>
                  </a:lnTo>
                  <a:lnTo>
                    <a:pt x="257835" y="329628"/>
                  </a:lnTo>
                  <a:lnTo>
                    <a:pt x="255778" y="324993"/>
                  </a:lnTo>
                  <a:lnTo>
                    <a:pt x="255778" y="283197"/>
                  </a:lnTo>
                  <a:lnTo>
                    <a:pt x="272148" y="283197"/>
                  </a:lnTo>
                  <a:lnTo>
                    <a:pt x="272148" y="273913"/>
                  </a:lnTo>
                  <a:lnTo>
                    <a:pt x="255778" y="273913"/>
                  </a:lnTo>
                  <a:lnTo>
                    <a:pt x="255778" y="258749"/>
                  </a:lnTo>
                  <a:lnTo>
                    <a:pt x="245554" y="258749"/>
                  </a:lnTo>
                  <a:lnTo>
                    <a:pt x="245554" y="273913"/>
                  </a:lnTo>
                  <a:lnTo>
                    <a:pt x="235318" y="273913"/>
                  </a:lnTo>
                  <a:lnTo>
                    <a:pt x="235318" y="283197"/>
                  </a:lnTo>
                  <a:lnTo>
                    <a:pt x="245554" y="283197"/>
                  </a:lnTo>
                  <a:lnTo>
                    <a:pt x="245554" y="324993"/>
                  </a:lnTo>
                  <a:lnTo>
                    <a:pt x="246583" y="330873"/>
                  </a:lnTo>
                  <a:lnTo>
                    <a:pt x="260896" y="343560"/>
                  </a:lnTo>
                  <a:lnTo>
                    <a:pt x="267030" y="343560"/>
                  </a:lnTo>
                  <a:lnTo>
                    <a:pt x="271132" y="342480"/>
                  </a:lnTo>
                  <a:lnTo>
                    <a:pt x="275221" y="341236"/>
                  </a:lnTo>
                  <a:lnTo>
                    <a:pt x="275221" y="334276"/>
                  </a:lnTo>
                  <a:lnTo>
                    <a:pt x="275221" y="331952"/>
                  </a:lnTo>
                  <a:close/>
                </a:path>
                <a:path w="514985" h="344169">
                  <a:moveTo>
                    <a:pt x="297738" y="273913"/>
                  </a:moveTo>
                  <a:lnTo>
                    <a:pt x="287515" y="273913"/>
                  </a:lnTo>
                  <a:lnTo>
                    <a:pt x="287515" y="341236"/>
                  </a:lnTo>
                  <a:lnTo>
                    <a:pt x="297738" y="341236"/>
                  </a:lnTo>
                  <a:lnTo>
                    <a:pt x="297738" y="273913"/>
                  </a:lnTo>
                  <a:close/>
                </a:path>
                <a:path w="514985" h="344169">
                  <a:moveTo>
                    <a:pt x="297738" y="248386"/>
                  </a:moveTo>
                  <a:lnTo>
                    <a:pt x="287515" y="248386"/>
                  </a:lnTo>
                  <a:lnTo>
                    <a:pt x="287515" y="258749"/>
                  </a:lnTo>
                  <a:lnTo>
                    <a:pt x="297738" y="258749"/>
                  </a:lnTo>
                  <a:lnTo>
                    <a:pt x="297738" y="248386"/>
                  </a:lnTo>
                  <a:close/>
                </a:path>
                <a:path w="514985" h="344169">
                  <a:moveTo>
                    <a:pt x="366280" y="307657"/>
                  </a:moveTo>
                  <a:lnTo>
                    <a:pt x="356044" y="278599"/>
                  </a:lnTo>
                  <a:lnTo>
                    <a:pt x="356044" y="299453"/>
                  </a:lnTo>
                  <a:lnTo>
                    <a:pt x="355981" y="315899"/>
                  </a:lnTo>
                  <a:lnTo>
                    <a:pt x="353999" y="321589"/>
                  </a:lnTo>
                  <a:lnTo>
                    <a:pt x="350939" y="327304"/>
                  </a:lnTo>
                  <a:lnTo>
                    <a:pt x="347865" y="331952"/>
                  </a:lnTo>
                  <a:lnTo>
                    <a:pt x="343776" y="334276"/>
                  </a:lnTo>
                  <a:lnTo>
                    <a:pt x="333540" y="334276"/>
                  </a:lnTo>
                  <a:lnTo>
                    <a:pt x="321271" y="299453"/>
                  </a:lnTo>
                  <a:lnTo>
                    <a:pt x="322287" y="293725"/>
                  </a:lnTo>
                  <a:lnTo>
                    <a:pt x="328422" y="284441"/>
                  </a:lnTo>
                  <a:lnTo>
                    <a:pt x="333540" y="282117"/>
                  </a:lnTo>
                  <a:lnTo>
                    <a:pt x="343776" y="282117"/>
                  </a:lnTo>
                  <a:lnTo>
                    <a:pt x="347865" y="284441"/>
                  </a:lnTo>
                  <a:lnTo>
                    <a:pt x="353999" y="293725"/>
                  </a:lnTo>
                  <a:lnTo>
                    <a:pt x="356044" y="299453"/>
                  </a:lnTo>
                  <a:lnTo>
                    <a:pt x="356044" y="278599"/>
                  </a:lnTo>
                  <a:lnTo>
                    <a:pt x="352983" y="275158"/>
                  </a:lnTo>
                  <a:lnTo>
                    <a:pt x="345821" y="272834"/>
                  </a:lnTo>
                  <a:lnTo>
                    <a:pt x="330479" y="272834"/>
                  </a:lnTo>
                  <a:lnTo>
                    <a:pt x="310019" y="307657"/>
                  </a:lnTo>
                  <a:lnTo>
                    <a:pt x="310578" y="315899"/>
                  </a:lnTo>
                  <a:lnTo>
                    <a:pt x="330479" y="343560"/>
                  </a:lnTo>
                  <a:lnTo>
                    <a:pt x="345821" y="343560"/>
                  </a:lnTo>
                  <a:lnTo>
                    <a:pt x="365721" y="315899"/>
                  </a:lnTo>
                  <a:lnTo>
                    <a:pt x="366280" y="307657"/>
                  </a:lnTo>
                  <a:close/>
                </a:path>
                <a:path w="514985" h="344169">
                  <a:moveTo>
                    <a:pt x="427672" y="291401"/>
                  </a:moveTo>
                  <a:lnTo>
                    <a:pt x="426643" y="285521"/>
                  </a:lnTo>
                  <a:lnTo>
                    <a:pt x="425627" y="283197"/>
                  </a:lnTo>
                  <a:lnTo>
                    <a:pt x="421525" y="276237"/>
                  </a:lnTo>
                  <a:lnTo>
                    <a:pt x="418465" y="275158"/>
                  </a:lnTo>
                  <a:lnTo>
                    <a:pt x="415391" y="272834"/>
                  </a:lnTo>
                  <a:lnTo>
                    <a:pt x="404139" y="272834"/>
                  </a:lnTo>
                  <a:lnTo>
                    <a:pt x="401066" y="273913"/>
                  </a:lnTo>
                  <a:lnTo>
                    <a:pt x="399021" y="275158"/>
                  </a:lnTo>
                  <a:lnTo>
                    <a:pt x="396976" y="276237"/>
                  </a:lnTo>
                  <a:lnTo>
                    <a:pt x="394931" y="277482"/>
                  </a:lnTo>
                  <a:lnTo>
                    <a:pt x="393915" y="279793"/>
                  </a:lnTo>
                  <a:lnTo>
                    <a:pt x="391871" y="282117"/>
                  </a:lnTo>
                  <a:lnTo>
                    <a:pt x="389813" y="285521"/>
                  </a:lnTo>
                  <a:lnTo>
                    <a:pt x="389813" y="273913"/>
                  </a:lnTo>
                  <a:lnTo>
                    <a:pt x="379590" y="273913"/>
                  </a:lnTo>
                  <a:lnTo>
                    <a:pt x="379590" y="341236"/>
                  </a:lnTo>
                  <a:lnTo>
                    <a:pt x="389813" y="341236"/>
                  </a:lnTo>
                  <a:lnTo>
                    <a:pt x="389813" y="297129"/>
                  </a:lnTo>
                  <a:lnTo>
                    <a:pt x="391871" y="293725"/>
                  </a:lnTo>
                  <a:lnTo>
                    <a:pt x="392887" y="290169"/>
                  </a:lnTo>
                  <a:lnTo>
                    <a:pt x="394931" y="287845"/>
                  </a:lnTo>
                  <a:lnTo>
                    <a:pt x="401066" y="283197"/>
                  </a:lnTo>
                  <a:lnTo>
                    <a:pt x="411302" y="283197"/>
                  </a:lnTo>
                  <a:lnTo>
                    <a:pt x="413346" y="284441"/>
                  </a:lnTo>
                  <a:lnTo>
                    <a:pt x="416420" y="287845"/>
                  </a:lnTo>
                  <a:lnTo>
                    <a:pt x="417436" y="290169"/>
                  </a:lnTo>
                  <a:lnTo>
                    <a:pt x="417436" y="293725"/>
                  </a:lnTo>
                  <a:lnTo>
                    <a:pt x="418465" y="297129"/>
                  </a:lnTo>
                  <a:lnTo>
                    <a:pt x="418465" y="341236"/>
                  </a:lnTo>
                  <a:lnTo>
                    <a:pt x="427672" y="341236"/>
                  </a:lnTo>
                  <a:lnTo>
                    <a:pt x="427672" y="291401"/>
                  </a:lnTo>
                  <a:close/>
                </a:path>
                <a:path w="514985" h="344169">
                  <a:moveTo>
                    <a:pt x="465531" y="0"/>
                  </a:moveTo>
                  <a:lnTo>
                    <a:pt x="451192" y="0"/>
                  </a:lnTo>
                  <a:lnTo>
                    <a:pt x="451192" y="16243"/>
                  </a:lnTo>
                  <a:lnTo>
                    <a:pt x="465531" y="16243"/>
                  </a:lnTo>
                  <a:lnTo>
                    <a:pt x="465531" y="0"/>
                  </a:lnTo>
                  <a:close/>
                </a:path>
                <a:path w="514985" h="344169">
                  <a:moveTo>
                    <a:pt x="485990" y="318020"/>
                  </a:moveTo>
                  <a:lnTo>
                    <a:pt x="484974" y="315696"/>
                  </a:lnTo>
                  <a:lnTo>
                    <a:pt x="484974" y="313385"/>
                  </a:lnTo>
                  <a:lnTo>
                    <a:pt x="483946" y="311061"/>
                  </a:lnTo>
                  <a:lnTo>
                    <a:pt x="482917" y="309981"/>
                  </a:lnTo>
                  <a:lnTo>
                    <a:pt x="480872" y="308737"/>
                  </a:lnTo>
                  <a:lnTo>
                    <a:pt x="479856" y="307657"/>
                  </a:lnTo>
                  <a:lnTo>
                    <a:pt x="478828" y="306412"/>
                  </a:lnTo>
                  <a:lnTo>
                    <a:pt x="477812" y="306412"/>
                  </a:lnTo>
                  <a:lnTo>
                    <a:pt x="475767" y="305333"/>
                  </a:lnTo>
                  <a:lnTo>
                    <a:pt x="472694" y="304101"/>
                  </a:lnTo>
                  <a:lnTo>
                    <a:pt x="468604" y="303009"/>
                  </a:lnTo>
                  <a:lnTo>
                    <a:pt x="464515" y="301777"/>
                  </a:lnTo>
                  <a:lnTo>
                    <a:pt x="460400" y="299453"/>
                  </a:lnTo>
                  <a:lnTo>
                    <a:pt x="457339" y="299453"/>
                  </a:lnTo>
                  <a:lnTo>
                    <a:pt x="454266" y="298373"/>
                  </a:lnTo>
                  <a:lnTo>
                    <a:pt x="453237" y="296049"/>
                  </a:lnTo>
                  <a:lnTo>
                    <a:pt x="452221" y="294805"/>
                  </a:lnTo>
                  <a:lnTo>
                    <a:pt x="451192" y="293725"/>
                  </a:lnTo>
                  <a:lnTo>
                    <a:pt x="451192" y="289090"/>
                  </a:lnTo>
                  <a:lnTo>
                    <a:pt x="452221" y="286766"/>
                  </a:lnTo>
                  <a:lnTo>
                    <a:pt x="454266" y="284441"/>
                  </a:lnTo>
                  <a:lnTo>
                    <a:pt x="456311" y="283197"/>
                  </a:lnTo>
                  <a:lnTo>
                    <a:pt x="459384" y="282117"/>
                  </a:lnTo>
                  <a:lnTo>
                    <a:pt x="469620" y="282117"/>
                  </a:lnTo>
                  <a:lnTo>
                    <a:pt x="471665" y="283197"/>
                  </a:lnTo>
                  <a:lnTo>
                    <a:pt x="473710" y="285521"/>
                  </a:lnTo>
                  <a:lnTo>
                    <a:pt x="474738" y="286766"/>
                  </a:lnTo>
                  <a:lnTo>
                    <a:pt x="474738" y="289090"/>
                  </a:lnTo>
                  <a:lnTo>
                    <a:pt x="483946" y="289090"/>
                  </a:lnTo>
                  <a:lnTo>
                    <a:pt x="483946" y="284441"/>
                  </a:lnTo>
                  <a:lnTo>
                    <a:pt x="483273" y="282117"/>
                  </a:lnTo>
                  <a:lnTo>
                    <a:pt x="482917" y="280885"/>
                  </a:lnTo>
                  <a:lnTo>
                    <a:pt x="479856" y="277482"/>
                  </a:lnTo>
                  <a:lnTo>
                    <a:pt x="476783" y="273913"/>
                  </a:lnTo>
                  <a:lnTo>
                    <a:pt x="471665" y="272834"/>
                  </a:lnTo>
                  <a:lnTo>
                    <a:pt x="456311" y="272834"/>
                  </a:lnTo>
                  <a:lnTo>
                    <a:pt x="451192" y="273913"/>
                  </a:lnTo>
                  <a:lnTo>
                    <a:pt x="447103" y="278561"/>
                  </a:lnTo>
                  <a:lnTo>
                    <a:pt x="443014" y="282117"/>
                  </a:lnTo>
                  <a:lnTo>
                    <a:pt x="440969" y="286766"/>
                  </a:lnTo>
                  <a:lnTo>
                    <a:pt x="440969" y="299453"/>
                  </a:lnTo>
                  <a:lnTo>
                    <a:pt x="445058" y="305333"/>
                  </a:lnTo>
                  <a:lnTo>
                    <a:pt x="453237" y="308737"/>
                  </a:lnTo>
                  <a:lnTo>
                    <a:pt x="460400" y="311061"/>
                  </a:lnTo>
                  <a:lnTo>
                    <a:pt x="463486" y="312293"/>
                  </a:lnTo>
                  <a:lnTo>
                    <a:pt x="468604" y="313385"/>
                  </a:lnTo>
                  <a:lnTo>
                    <a:pt x="473710" y="315696"/>
                  </a:lnTo>
                  <a:lnTo>
                    <a:pt x="475767" y="318020"/>
                  </a:lnTo>
                  <a:lnTo>
                    <a:pt x="475767" y="326224"/>
                  </a:lnTo>
                  <a:lnTo>
                    <a:pt x="474738" y="328549"/>
                  </a:lnTo>
                  <a:lnTo>
                    <a:pt x="471665" y="330873"/>
                  </a:lnTo>
                  <a:lnTo>
                    <a:pt x="469620" y="333184"/>
                  </a:lnTo>
                  <a:lnTo>
                    <a:pt x="466559" y="334276"/>
                  </a:lnTo>
                  <a:lnTo>
                    <a:pt x="457339" y="334276"/>
                  </a:lnTo>
                  <a:lnTo>
                    <a:pt x="454266" y="333184"/>
                  </a:lnTo>
                  <a:lnTo>
                    <a:pt x="452221" y="330873"/>
                  </a:lnTo>
                  <a:lnTo>
                    <a:pt x="450176" y="329628"/>
                  </a:lnTo>
                  <a:lnTo>
                    <a:pt x="449148" y="327304"/>
                  </a:lnTo>
                  <a:lnTo>
                    <a:pt x="449148" y="323900"/>
                  </a:lnTo>
                  <a:lnTo>
                    <a:pt x="439940" y="323900"/>
                  </a:lnTo>
                  <a:lnTo>
                    <a:pt x="439940" y="330873"/>
                  </a:lnTo>
                  <a:lnTo>
                    <a:pt x="441985" y="334276"/>
                  </a:lnTo>
                  <a:lnTo>
                    <a:pt x="444042" y="336600"/>
                  </a:lnTo>
                  <a:lnTo>
                    <a:pt x="450176" y="341236"/>
                  </a:lnTo>
                  <a:lnTo>
                    <a:pt x="453237" y="342480"/>
                  </a:lnTo>
                  <a:lnTo>
                    <a:pt x="457339" y="343560"/>
                  </a:lnTo>
                  <a:lnTo>
                    <a:pt x="469620" y="343560"/>
                  </a:lnTo>
                  <a:lnTo>
                    <a:pt x="475767" y="341236"/>
                  </a:lnTo>
                  <a:lnTo>
                    <a:pt x="481901" y="334276"/>
                  </a:lnTo>
                  <a:lnTo>
                    <a:pt x="483946" y="331952"/>
                  </a:lnTo>
                  <a:lnTo>
                    <a:pt x="485990" y="327304"/>
                  </a:lnTo>
                  <a:lnTo>
                    <a:pt x="485990" y="318020"/>
                  </a:lnTo>
                  <a:close/>
                </a:path>
                <a:path w="514985" h="344169">
                  <a:moveTo>
                    <a:pt x="514629" y="324993"/>
                  </a:moveTo>
                  <a:lnTo>
                    <a:pt x="500316" y="324993"/>
                  </a:lnTo>
                  <a:lnTo>
                    <a:pt x="500316" y="341236"/>
                  </a:lnTo>
                  <a:lnTo>
                    <a:pt x="514629" y="341236"/>
                  </a:lnTo>
                  <a:lnTo>
                    <a:pt x="514629" y="324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0766" y="2878065"/>
              <a:ext cx="1265660" cy="773171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2502445" y="1736879"/>
            <a:ext cx="1760855" cy="4103370"/>
            <a:chOff x="2502445" y="1736879"/>
            <a:chExt cx="1760855" cy="4103370"/>
          </a:xfrm>
        </p:grpSpPr>
        <p:sp>
          <p:nvSpPr>
            <p:cNvPr id="22" name="object 22"/>
            <p:cNvSpPr/>
            <p:nvPr/>
          </p:nvSpPr>
          <p:spPr>
            <a:xfrm>
              <a:off x="2502445" y="1736879"/>
              <a:ext cx="1746885" cy="4086860"/>
            </a:xfrm>
            <a:custGeom>
              <a:avLst/>
              <a:gdLst/>
              <a:ahLst/>
              <a:cxnLst/>
              <a:rect l="l" t="t" r="r" b="b"/>
              <a:pathLst>
                <a:path w="1746885" h="4086860">
                  <a:moveTo>
                    <a:pt x="1746403" y="0"/>
                  </a:moveTo>
                  <a:lnTo>
                    <a:pt x="0" y="0"/>
                  </a:lnTo>
                  <a:lnTo>
                    <a:pt x="0" y="4086540"/>
                  </a:lnTo>
                  <a:lnTo>
                    <a:pt x="1746403" y="4086540"/>
                  </a:lnTo>
                  <a:lnTo>
                    <a:pt x="174640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02445" y="1736879"/>
              <a:ext cx="1760220" cy="4103370"/>
            </a:xfrm>
            <a:custGeom>
              <a:avLst/>
              <a:gdLst/>
              <a:ahLst/>
              <a:cxnLst/>
              <a:rect l="l" t="t" r="r" b="b"/>
              <a:pathLst>
                <a:path w="1760220" h="4103370">
                  <a:moveTo>
                    <a:pt x="0" y="8202"/>
                  </a:moveTo>
                  <a:lnTo>
                    <a:pt x="0" y="8202"/>
                  </a:lnTo>
                  <a:lnTo>
                    <a:pt x="1759770" y="8202"/>
                  </a:lnTo>
                </a:path>
                <a:path w="1760220" h="4103370">
                  <a:moveTo>
                    <a:pt x="1753632" y="0"/>
                  </a:moveTo>
                  <a:lnTo>
                    <a:pt x="1753632" y="0"/>
                  </a:lnTo>
                  <a:lnTo>
                    <a:pt x="1753632" y="16249"/>
                  </a:lnTo>
                </a:path>
                <a:path w="1760220" h="4103370">
                  <a:moveTo>
                    <a:pt x="1753632" y="0"/>
                  </a:moveTo>
                  <a:lnTo>
                    <a:pt x="1753632" y="0"/>
                  </a:lnTo>
                  <a:lnTo>
                    <a:pt x="1753632" y="4102790"/>
                  </a:lnTo>
                </a:path>
                <a:path w="1760220" h="4103370">
                  <a:moveTo>
                    <a:pt x="1753632" y="4086540"/>
                  </a:moveTo>
                  <a:lnTo>
                    <a:pt x="1753632" y="4086540"/>
                  </a:lnTo>
                  <a:lnTo>
                    <a:pt x="1753632" y="4102790"/>
                  </a:lnTo>
                </a:path>
                <a:path w="1760220" h="4103370">
                  <a:moveTo>
                    <a:pt x="0" y="4094665"/>
                  </a:moveTo>
                  <a:lnTo>
                    <a:pt x="0" y="4094665"/>
                  </a:lnTo>
                  <a:lnTo>
                    <a:pt x="1759770" y="4094665"/>
                  </a:lnTo>
                </a:path>
                <a:path w="1760220" h="4103370">
                  <a:moveTo>
                    <a:pt x="7092" y="4086540"/>
                  </a:moveTo>
                  <a:lnTo>
                    <a:pt x="7092" y="4086540"/>
                  </a:lnTo>
                  <a:lnTo>
                    <a:pt x="7092" y="4102790"/>
                  </a:lnTo>
                </a:path>
                <a:path w="1760220" h="4103370">
                  <a:moveTo>
                    <a:pt x="7092" y="0"/>
                  </a:moveTo>
                  <a:lnTo>
                    <a:pt x="7092" y="0"/>
                  </a:lnTo>
                  <a:lnTo>
                    <a:pt x="7092" y="4102790"/>
                  </a:lnTo>
                </a:path>
                <a:path w="1760220" h="4103370">
                  <a:moveTo>
                    <a:pt x="7092" y="0"/>
                  </a:moveTo>
                  <a:lnTo>
                    <a:pt x="7092" y="0"/>
                  </a:lnTo>
                  <a:lnTo>
                    <a:pt x="7092" y="16249"/>
                  </a:lnTo>
                </a:path>
              </a:pathLst>
            </a:custGeom>
            <a:ln w="14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62027" y="1930791"/>
              <a:ext cx="1101936" cy="14748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73348" y="2413791"/>
              <a:ext cx="786727" cy="9981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473305" y="2413791"/>
              <a:ext cx="10795" cy="97790"/>
            </a:xfrm>
            <a:custGeom>
              <a:avLst/>
              <a:gdLst/>
              <a:ahLst/>
              <a:cxnLst/>
              <a:rect l="l" t="t" r="r" b="b"/>
              <a:pathLst>
                <a:path w="10795" h="97789">
                  <a:moveTo>
                    <a:pt x="10229" y="0"/>
                  </a:moveTo>
                  <a:lnTo>
                    <a:pt x="0" y="0"/>
                  </a:lnTo>
                  <a:lnTo>
                    <a:pt x="0" y="97497"/>
                  </a:lnTo>
                  <a:lnTo>
                    <a:pt x="10229" y="9749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68165" y="2584334"/>
              <a:ext cx="1509075" cy="57941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340320" y="3315721"/>
              <a:ext cx="14604" cy="15240"/>
            </a:xfrm>
            <a:custGeom>
              <a:avLst/>
              <a:gdLst/>
              <a:ahLst/>
              <a:cxnLst/>
              <a:rect l="l" t="t" r="r" b="b"/>
              <a:pathLst>
                <a:path w="14604" h="15239">
                  <a:moveTo>
                    <a:pt x="14321" y="0"/>
                  </a:moveTo>
                  <a:lnTo>
                    <a:pt x="0" y="0"/>
                  </a:lnTo>
                  <a:lnTo>
                    <a:pt x="0" y="15166"/>
                  </a:lnTo>
                  <a:lnTo>
                    <a:pt x="14321" y="15166"/>
                  </a:lnTo>
                  <a:lnTo>
                    <a:pt x="143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74303" y="3238032"/>
              <a:ext cx="1230829" cy="26587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276892" y="3405174"/>
              <a:ext cx="684530" cy="421640"/>
            </a:xfrm>
            <a:custGeom>
              <a:avLst/>
              <a:gdLst/>
              <a:ahLst/>
              <a:cxnLst/>
              <a:rect l="l" t="t" r="r" b="b"/>
              <a:pathLst>
                <a:path w="684529" h="421639">
                  <a:moveTo>
                    <a:pt x="13360" y="235699"/>
                  </a:moveTo>
                  <a:lnTo>
                    <a:pt x="0" y="235699"/>
                  </a:lnTo>
                  <a:lnTo>
                    <a:pt x="0" y="250710"/>
                  </a:lnTo>
                  <a:lnTo>
                    <a:pt x="13360" y="250710"/>
                  </a:lnTo>
                  <a:lnTo>
                    <a:pt x="13360" y="235699"/>
                  </a:lnTo>
                  <a:close/>
                </a:path>
                <a:path w="684529" h="421639">
                  <a:moveTo>
                    <a:pt x="651687" y="0"/>
                  </a:moveTo>
                  <a:lnTo>
                    <a:pt x="641464" y="0"/>
                  </a:lnTo>
                  <a:lnTo>
                    <a:pt x="641464" y="96418"/>
                  </a:lnTo>
                  <a:lnTo>
                    <a:pt x="651687" y="96418"/>
                  </a:lnTo>
                  <a:lnTo>
                    <a:pt x="651687" y="0"/>
                  </a:lnTo>
                  <a:close/>
                </a:path>
                <a:path w="684529" h="421639">
                  <a:moveTo>
                    <a:pt x="684428" y="324993"/>
                  </a:moveTo>
                  <a:lnTo>
                    <a:pt x="674204" y="324993"/>
                  </a:lnTo>
                  <a:lnTo>
                    <a:pt x="674204" y="421411"/>
                  </a:lnTo>
                  <a:lnTo>
                    <a:pt x="684428" y="421411"/>
                  </a:lnTo>
                  <a:lnTo>
                    <a:pt x="684428" y="324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74303" y="3573547"/>
              <a:ext cx="1262473" cy="107494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742908" y="4720463"/>
              <a:ext cx="434975" cy="99060"/>
            </a:xfrm>
            <a:custGeom>
              <a:avLst/>
              <a:gdLst/>
              <a:ahLst/>
              <a:cxnLst/>
              <a:rect l="l" t="t" r="r" b="b"/>
              <a:pathLst>
                <a:path w="434975" h="99060">
                  <a:moveTo>
                    <a:pt x="40919" y="87134"/>
                  </a:moveTo>
                  <a:lnTo>
                    <a:pt x="36817" y="88366"/>
                  </a:lnTo>
                  <a:lnTo>
                    <a:pt x="33680" y="89458"/>
                  </a:lnTo>
                  <a:lnTo>
                    <a:pt x="27546" y="89458"/>
                  </a:lnTo>
                  <a:lnTo>
                    <a:pt x="25501" y="88366"/>
                  </a:lnTo>
                  <a:lnTo>
                    <a:pt x="23456" y="87134"/>
                  </a:lnTo>
                  <a:lnTo>
                    <a:pt x="22504" y="84810"/>
                  </a:lnTo>
                  <a:lnTo>
                    <a:pt x="21412" y="82486"/>
                  </a:lnTo>
                  <a:lnTo>
                    <a:pt x="20459" y="80162"/>
                  </a:lnTo>
                  <a:lnTo>
                    <a:pt x="20459" y="39471"/>
                  </a:lnTo>
                  <a:lnTo>
                    <a:pt x="37782" y="39471"/>
                  </a:lnTo>
                  <a:lnTo>
                    <a:pt x="37782" y="30175"/>
                  </a:lnTo>
                  <a:lnTo>
                    <a:pt x="20459" y="30175"/>
                  </a:lnTo>
                  <a:lnTo>
                    <a:pt x="20459" y="13931"/>
                  </a:lnTo>
                  <a:lnTo>
                    <a:pt x="10223" y="13931"/>
                  </a:lnTo>
                  <a:lnTo>
                    <a:pt x="10223" y="30175"/>
                  </a:lnTo>
                  <a:lnTo>
                    <a:pt x="0" y="30175"/>
                  </a:lnTo>
                  <a:lnTo>
                    <a:pt x="0" y="39471"/>
                  </a:lnTo>
                  <a:lnTo>
                    <a:pt x="10223" y="39471"/>
                  </a:lnTo>
                  <a:lnTo>
                    <a:pt x="10223" y="80162"/>
                  </a:lnTo>
                  <a:lnTo>
                    <a:pt x="11176" y="86042"/>
                  </a:lnTo>
                  <a:lnTo>
                    <a:pt x="13220" y="89458"/>
                  </a:lnTo>
                  <a:lnTo>
                    <a:pt x="14312" y="91770"/>
                  </a:lnTo>
                  <a:lnTo>
                    <a:pt x="16357" y="94094"/>
                  </a:lnTo>
                  <a:lnTo>
                    <a:pt x="19367" y="96418"/>
                  </a:lnTo>
                  <a:lnTo>
                    <a:pt x="22504" y="97650"/>
                  </a:lnTo>
                  <a:lnTo>
                    <a:pt x="25501" y="98742"/>
                  </a:lnTo>
                  <a:lnTo>
                    <a:pt x="31635" y="98742"/>
                  </a:lnTo>
                  <a:lnTo>
                    <a:pt x="35725" y="97650"/>
                  </a:lnTo>
                  <a:lnTo>
                    <a:pt x="40919" y="96418"/>
                  </a:lnTo>
                  <a:lnTo>
                    <a:pt x="40919" y="89458"/>
                  </a:lnTo>
                  <a:lnTo>
                    <a:pt x="40919" y="87134"/>
                  </a:lnTo>
                  <a:close/>
                </a:path>
                <a:path w="434975" h="99060">
                  <a:moveTo>
                    <a:pt x="101206" y="52311"/>
                  </a:moveTo>
                  <a:lnTo>
                    <a:pt x="100241" y="46431"/>
                  </a:lnTo>
                  <a:lnTo>
                    <a:pt x="96151" y="37147"/>
                  </a:lnTo>
                  <a:lnTo>
                    <a:pt x="93014" y="33743"/>
                  </a:lnTo>
                  <a:lnTo>
                    <a:pt x="92062" y="33007"/>
                  </a:lnTo>
                  <a:lnTo>
                    <a:pt x="92062" y="52311"/>
                  </a:lnTo>
                  <a:lnTo>
                    <a:pt x="92062" y="56959"/>
                  </a:lnTo>
                  <a:lnTo>
                    <a:pt x="60286" y="56959"/>
                  </a:lnTo>
                  <a:lnTo>
                    <a:pt x="61379" y="49987"/>
                  </a:lnTo>
                  <a:lnTo>
                    <a:pt x="63423" y="45351"/>
                  </a:lnTo>
                  <a:lnTo>
                    <a:pt x="66421" y="41783"/>
                  </a:lnTo>
                  <a:lnTo>
                    <a:pt x="69557" y="39471"/>
                  </a:lnTo>
                  <a:lnTo>
                    <a:pt x="72555" y="37147"/>
                  </a:lnTo>
                  <a:lnTo>
                    <a:pt x="79781" y="37147"/>
                  </a:lnTo>
                  <a:lnTo>
                    <a:pt x="81838" y="38379"/>
                  </a:lnTo>
                  <a:lnTo>
                    <a:pt x="84836" y="39471"/>
                  </a:lnTo>
                  <a:lnTo>
                    <a:pt x="86880" y="40703"/>
                  </a:lnTo>
                  <a:lnTo>
                    <a:pt x="88925" y="43027"/>
                  </a:lnTo>
                  <a:lnTo>
                    <a:pt x="90017" y="46431"/>
                  </a:lnTo>
                  <a:lnTo>
                    <a:pt x="90970" y="48755"/>
                  </a:lnTo>
                  <a:lnTo>
                    <a:pt x="92062" y="52311"/>
                  </a:lnTo>
                  <a:lnTo>
                    <a:pt x="92062" y="33007"/>
                  </a:lnTo>
                  <a:lnTo>
                    <a:pt x="90017" y="31419"/>
                  </a:lnTo>
                  <a:lnTo>
                    <a:pt x="85928" y="29095"/>
                  </a:lnTo>
                  <a:lnTo>
                    <a:pt x="81838" y="27863"/>
                  </a:lnTo>
                  <a:lnTo>
                    <a:pt x="69557" y="27863"/>
                  </a:lnTo>
                  <a:lnTo>
                    <a:pt x="50050" y="63919"/>
                  </a:lnTo>
                  <a:lnTo>
                    <a:pt x="50457" y="71374"/>
                  </a:lnTo>
                  <a:lnTo>
                    <a:pt x="68465" y="98742"/>
                  </a:lnTo>
                  <a:lnTo>
                    <a:pt x="82791" y="98742"/>
                  </a:lnTo>
                  <a:lnTo>
                    <a:pt x="85928" y="97650"/>
                  </a:lnTo>
                  <a:lnTo>
                    <a:pt x="90017" y="96418"/>
                  </a:lnTo>
                  <a:lnTo>
                    <a:pt x="93014" y="95338"/>
                  </a:lnTo>
                  <a:lnTo>
                    <a:pt x="96151" y="93014"/>
                  </a:lnTo>
                  <a:lnTo>
                    <a:pt x="98196" y="89458"/>
                  </a:lnTo>
                  <a:lnTo>
                    <a:pt x="100241" y="86042"/>
                  </a:lnTo>
                  <a:lnTo>
                    <a:pt x="101092" y="84010"/>
                  </a:lnTo>
                  <a:lnTo>
                    <a:pt x="101206" y="80162"/>
                  </a:lnTo>
                  <a:lnTo>
                    <a:pt x="90970" y="80162"/>
                  </a:lnTo>
                  <a:lnTo>
                    <a:pt x="90970" y="82486"/>
                  </a:lnTo>
                  <a:lnTo>
                    <a:pt x="90017" y="84810"/>
                  </a:lnTo>
                  <a:lnTo>
                    <a:pt x="87972" y="87134"/>
                  </a:lnTo>
                  <a:lnTo>
                    <a:pt x="85928" y="88366"/>
                  </a:lnTo>
                  <a:lnTo>
                    <a:pt x="82791" y="89458"/>
                  </a:lnTo>
                  <a:lnTo>
                    <a:pt x="72555" y="89458"/>
                  </a:lnTo>
                  <a:lnTo>
                    <a:pt x="68465" y="87134"/>
                  </a:lnTo>
                  <a:lnTo>
                    <a:pt x="64376" y="82486"/>
                  </a:lnTo>
                  <a:lnTo>
                    <a:pt x="61379" y="77851"/>
                  </a:lnTo>
                  <a:lnTo>
                    <a:pt x="59321" y="72123"/>
                  </a:lnTo>
                  <a:lnTo>
                    <a:pt x="59321" y="65151"/>
                  </a:lnTo>
                  <a:lnTo>
                    <a:pt x="101206" y="65151"/>
                  </a:lnTo>
                  <a:lnTo>
                    <a:pt x="101206" y="56959"/>
                  </a:lnTo>
                  <a:lnTo>
                    <a:pt x="101206" y="52311"/>
                  </a:lnTo>
                  <a:close/>
                </a:path>
                <a:path w="434975" h="99060">
                  <a:moveTo>
                    <a:pt x="162572" y="47663"/>
                  </a:moveTo>
                  <a:lnTo>
                    <a:pt x="162471" y="42633"/>
                  </a:lnTo>
                  <a:lnTo>
                    <a:pt x="161620" y="39471"/>
                  </a:lnTo>
                  <a:lnTo>
                    <a:pt x="159575" y="37147"/>
                  </a:lnTo>
                  <a:lnTo>
                    <a:pt x="157530" y="33743"/>
                  </a:lnTo>
                  <a:lnTo>
                    <a:pt x="154393" y="32499"/>
                  </a:lnTo>
                  <a:lnTo>
                    <a:pt x="151396" y="30175"/>
                  </a:lnTo>
                  <a:lnTo>
                    <a:pt x="148259" y="29095"/>
                  </a:lnTo>
                  <a:lnTo>
                    <a:pt x="144170" y="27863"/>
                  </a:lnTo>
                  <a:lnTo>
                    <a:pt x="130937" y="27863"/>
                  </a:lnTo>
                  <a:lnTo>
                    <a:pt x="112522" y="63919"/>
                  </a:lnTo>
                  <a:lnTo>
                    <a:pt x="112915" y="71539"/>
                  </a:lnTo>
                  <a:lnTo>
                    <a:pt x="130937" y="98742"/>
                  </a:lnTo>
                  <a:lnTo>
                    <a:pt x="144170" y="98742"/>
                  </a:lnTo>
                  <a:lnTo>
                    <a:pt x="148259" y="97650"/>
                  </a:lnTo>
                  <a:lnTo>
                    <a:pt x="151396" y="96418"/>
                  </a:lnTo>
                  <a:lnTo>
                    <a:pt x="154393" y="95338"/>
                  </a:lnTo>
                  <a:lnTo>
                    <a:pt x="157530" y="93014"/>
                  </a:lnTo>
                  <a:lnTo>
                    <a:pt x="159575" y="89458"/>
                  </a:lnTo>
                  <a:lnTo>
                    <a:pt x="161620" y="86042"/>
                  </a:lnTo>
                  <a:lnTo>
                    <a:pt x="162572" y="83731"/>
                  </a:lnTo>
                  <a:lnTo>
                    <a:pt x="162572" y="80162"/>
                  </a:lnTo>
                  <a:lnTo>
                    <a:pt x="152349" y="80162"/>
                  </a:lnTo>
                  <a:lnTo>
                    <a:pt x="152349" y="82486"/>
                  </a:lnTo>
                  <a:lnTo>
                    <a:pt x="151396" y="84810"/>
                  </a:lnTo>
                  <a:lnTo>
                    <a:pt x="149352" y="87134"/>
                  </a:lnTo>
                  <a:lnTo>
                    <a:pt x="147307" y="88366"/>
                  </a:lnTo>
                  <a:lnTo>
                    <a:pt x="144170" y="89458"/>
                  </a:lnTo>
                  <a:lnTo>
                    <a:pt x="135026" y="89458"/>
                  </a:lnTo>
                  <a:lnTo>
                    <a:pt x="130937" y="87134"/>
                  </a:lnTo>
                  <a:lnTo>
                    <a:pt x="127800" y="83731"/>
                  </a:lnTo>
                  <a:lnTo>
                    <a:pt x="124802" y="79082"/>
                  </a:lnTo>
                  <a:lnTo>
                    <a:pt x="122745" y="72123"/>
                  </a:lnTo>
                  <a:lnTo>
                    <a:pt x="122745" y="54635"/>
                  </a:lnTo>
                  <a:lnTo>
                    <a:pt x="124802" y="47663"/>
                  </a:lnTo>
                  <a:lnTo>
                    <a:pt x="127800" y="43027"/>
                  </a:lnTo>
                  <a:lnTo>
                    <a:pt x="130937" y="39471"/>
                  </a:lnTo>
                  <a:lnTo>
                    <a:pt x="135026" y="37147"/>
                  </a:lnTo>
                  <a:lnTo>
                    <a:pt x="144170" y="37147"/>
                  </a:lnTo>
                  <a:lnTo>
                    <a:pt x="147307" y="38379"/>
                  </a:lnTo>
                  <a:lnTo>
                    <a:pt x="149352" y="39471"/>
                  </a:lnTo>
                  <a:lnTo>
                    <a:pt x="151396" y="41783"/>
                  </a:lnTo>
                  <a:lnTo>
                    <a:pt x="152349" y="44107"/>
                  </a:lnTo>
                  <a:lnTo>
                    <a:pt x="152349" y="47663"/>
                  </a:lnTo>
                  <a:lnTo>
                    <a:pt x="162572" y="47663"/>
                  </a:lnTo>
                  <a:close/>
                </a:path>
                <a:path w="434975" h="99060">
                  <a:moveTo>
                    <a:pt x="222999" y="41783"/>
                  </a:moveTo>
                  <a:lnTo>
                    <a:pt x="218909" y="34823"/>
                  </a:lnTo>
                  <a:lnTo>
                    <a:pt x="216865" y="32499"/>
                  </a:lnTo>
                  <a:lnTo>
                    <a:pt x="213728" y="30175"/>
                  </a:lnTo>
                  <a:lnTo>
                    <a:pt x="207594" y="27863"/>
                  </a:lnTo>
                  <a:lnTo>
                    <a:pt x="199402" y="27863"/>
                  </a:lnTo>
                  <a:lnTo>
                    <a:pt x="193268" y="31419"/>
                  </a:lnTo>
                  <a:lnTo>
                    <a:pt x="191223" y="33743"/>
                  </a:lnTo>
                  <a:lnTo>
                    <a:pt x="189179" y="34823"/>
                  </a:lnTo>
                  <a:lnTo>
                    <a:pt x="185089" y="41783"/>
                  </a:lnTo>
                  <a:lnTo>
                    <a:pt x="185089" y="0"/>
                  </a:lnTo>
                  <a:lnTo>
                    <a:pt x="174853" y="0"/>
                  </a:lnTo>
                  <a:lnTo>
                    <a:pt x="174853" y="96418"/>
                  </a:lnTo>
                  <a:lnTo>
                    <a:pt x="185089" y="96418"/>
                  </a:lnTo>
                  <a:lnTo>
                    <a:pt x="185089" y="52311"/>
                  </a:lnTo>
                  <a:lnTo>
                    <a:pt x="189179" y="45351"/>
                  </a:lnTo>
                  <a:lnTo>
                    <a:pt x="193268" y="40703"/>
                  </a:lnTo>
                  <a:lnTo>
                    <a:pt x="196405" y="39471"/>
                  </a:lnTo>
                  <a:lnTo>
                    <a:pt x="198450" y="38379"/>
                  </a:lnTo>
                  <a:lnTo>
                    <a:pt x="204584" y="38379"/>
                  </a:lnTo>
                  <a:lnTo>
                    <a:pt x="210731" y="41783"/>
                  </a:lnTo>
                  <a:lnTo>
                    <a:pt x="212775" y="46431"/>
                  </a:lnTo>
                  <a:lnTo>
                    <a:pt x="212775" y="48755"/>
                  </a:lnTo>
                  <a:lnTo>
                    <a:pt x="213728" y="53390"/>
                  </a:lnTo>
                  <a:lnTo>
                    <a:pt x="213728" y="96418"/>
                  </a:lnTo>
                  <a:lnTo>
                    <a:pt x="222999" y="96418"/>
                  </a:lnTo>
                  <a:lnTo>
                    <a:pt x="222999" y="41783"/>
                  </a:lnTo>
                  <a:close/>
                </a:path>
                <a:path w="434975" h="99060">
                  <a:moveTo>
                    <a:pt x="287375" y="46431"/>
                  </a:moveTo>
                  <a:lnTo>
                    <a:pt x="286423" y="41783"/>
                  </a:lnTo>
                  <a:lnTo>
                    <a:pt x="284378" y="38379"/>
                  </a:lnTo>
                  <a:lnTo>
                    <a:pt x="283286" y="34823"/>
                  </a:lnTo>
                  <a:lnTo>
                    <a:pt x="280289" y="32499"/>
                  </a:lnTo>
                  <a:lnTo>
                    <a:pt x="278244" y="30175"/>
                  </a:lnTo>
                  <a:lnTo>
                    <a:pt x="275107" y="29095"/>
                  </a:lnTo>
                  <a:lnTo>
                    <a:pt x="271018" y="27863"/>
                  </a:lnTo>
                  <a:lnTo>
                    <a:pt x="262826" y="27863"/>
                  </a:lnTo>
                  <a:lnTo>
                    <a:pt x="260781" y="29095"/>
                  </a:lnTo>
                  <a:lnTo>
                    <a:pt x="258737" y="30175"/>
                  </a:lnTo>
                  <a:lnTo>
                    <a:pt x="256692" y="31419"/>
                  </a:lnTo>
                  <a:lnTo>
                    <a:pt x="254647" y="33743"/>
                  </a:lnTo>
                  <a:lnTo>
                    <a:pt x="252603" y="34823"/>
                  </a:lnTo>
                  <a:lnTo>
                    <a:pt x="248513" y="41783"/>
                  </a:lnTo>
                  <a:lnTo>
                    <a:pt x="248513" y="30175"/>
                  </a:lnTo>
                  <a:lnTo>
                    <a:pt x="238277" y="30175"/>
                  </a:lnTo>
                  <a:lnTo>
                    <a:pt x="238277" y="96418"/>
                  </a:lnTo>
                  <a:lnTo>
                    <a:pt x="248513" y="96418"/>
                  </a:lnTo>
                  <a:lnTo>
                    <a:pt x="248513" y="58039"/>
                  </a:lnTo>
                  <a:lnTo>
                    <a:pt x="249593" y="52311"/>
                  </a:lnTo>
                  <a:lnTo>
                    <a:pt x="250558" y="48755"/>
                  </a:lnTo>
                  <a:lnTo>
                    <a:pt x="252603" y="45351"/>
                  </a:lnTo>
                  <a:lnTo>
                    <a:pt x="256692" y="40703"/>
                  </a:lnTo>
                  <a:lnTo>
                    <a:pt x="262826" y="38379"/>
                  </a:lnTo>
                  <a:lnTo>
                    <a:pt x="268008" y="38379"/>
                  </a:lnTo>
                  <a:lnTo>
                    <a:pt x="270052" y="39471"/>
                  </a:lnTo>
                  <a:lnTo>
                    <a:pt x="272097" y="40703"/>
                  </a:lnTo>
                  <a:lnTo>
                    <a:pt x="274154" y="41783"/>
                  </a:lnTo>
                  <a:lnTo>
                    <a:pt x="275107" y="44107"/>
                  </a:lnTo>
                  <a:lnTo>
                    <a:pt x="276199" y="46431"/>
                  </a:lnTo>
                  <a:lnTo>
                    <a:pt x="277152" y="48755"/>
                  </a:lnTo>
                  <a:lnTo>
                    <a:pt x="277152" y="96418"/>
                  </a:lnTo>
                  <a:lnTo>
                    <a:pt x="287375" y="96418"/>
                  </a:lnTo>
                  <a:lnTo>
                    <a:pt x="287375" y="46431"/>
                  </a:lnTo>
                  <a:close/>
                </a:path>
                <a:path w="434975" h="99060">
                  <a:moveTo>
                    <a:pt x="311937" y="30175"/>
                  </a:moveTo>
                  <a:lnTo>
                    <a:pt x="302793" y="30175"/>
                  </a:lnTo>
                  <a:lnTo>
                    <a:pt x="302793" y="96418"/>
                  </a:lnTo>
                  <a:lnTo>
                    <a:pt x="311937" y="96418"/>
                  </a:lnTo>
                  <a:lnTo>
                    <a:pt x="311937" y="30175"/>
                  </a:lnTo>
                  <a:close/>
                </a:path>
                <a:path w="434975" h="99060">
                  <a:moveTo>
                    <a:pt x="311937" y="3568"/>
                  </a:moveTo>
                  <a:lnTo>
                    <a:pt x="302793" y="3568"/>
                  </a:lnTo>
                  <a:lnTo>
                    <a:pt x="302793" y="15163"/>
                  </a:lnTo>
                  <a:lnTo>
                    <a:pt x="311937" y="15163"/>
                  </a:lnTo>
                  <a:lnTo>
                    <a:pt x="311937" y="3568"/>
                  </a:lnTo>
                  <a:close/>
                </a:path>
                <a:path w="434975" h="99060">
                  <a:moveTo>
                    <a:pt x="374396" y="47663"/>
                  </a:moveTo>
                  <a:lnTo>
                    <a:pt x="374294" y="42633"/>
                  </a:lnTo>
                  <a:lnTo>
                    <a:pt x="373443" y="39471"/>
                  </a:lnTo>
                  <a:lnTo>
                    <a:pt x="371398" y="37147"/>
                  </a:lnTo>
                  <a:lnTo>
                    <a:pt x="370306" y="33743"/>
                  </a:lnTo>
                  <a:lnTo>
                    <a:pt x="367309" y="32499"/>
                  </a:lnTo>
                  <a:lnTo>
                    <a:pt x="364172" y="30175"/>
                  </a:lnTo>
                  <a:lnTo>
                    <a:pt x="361175" y="29095"/>
                  </a:lnTo>
                  <a:lnTo>
                    <a:pt x="356946" y="27863"/>
                  </a:lnTo>
                  <a:lnTo>
                    <a:pt x="343712" y="27863"/>
                  </a:lnTo>
                  <a:lnTo>
                    <a:pt x="325297" y="63919"/>
                  </a:lnTo>
                  <a:lnTo>
                    <a:pt x="325691" y="71539"/>
                  </a:lnTo>
                  <a:lnTo>
                    <a:pt x="343712" y="98742"/>
                  </a:lnTo>
                  <a:lnTo>
                    <a:pt x="356946" y="98742"/>
                  </a:lnTo>
                  <a:lnTo>
                    <a:pt x="361175" y="97650"/>
                  </a:lnTo>
                  <a:lnTo>
                    <a:pt x="364172" y="96418"/>
                  </a:lnTo>
                  <a:lnTo>
                    <a:pt x="367309" y="95338"/>
                  </a:lnTo>
                  <a:lnTo>
                    <a:pt x="370306" y="93014"/>
                  </a:lnTo>
                  <a:lnTo>
                    <a:pt x="371398" y="89458"/>
                  </a:lnTo>
                  <a:lnTo>
                    <a:pt x="373443" y="86042"/>
                  </a:lnTo>
                  <a:lnTo>
                    <a:pt x="374396" y="83731"/>
                  </a:lnTo>
                  <a:lnTo>
                    <a:pt x="374396" y="80162"/>
                  </a:lnTo>
                  <a:lnTo>
                    <a:pt x="365264" y="80162"/>
                  </a:lnTo>
                  <a:lnTo>
                    <a:pt x="365264" y="82486"/>
                  </a:lnTo>
                  <a:lnTo>
                    <a:pt x="364172" y="84810"/>
                  </a:lnTo>
                  <a:lnTo>
                    <a:pt x="362127" y="87134"/>
                  </a:lnTo>
                  <a:lnTo>
                    <a:pt x="360083" y="88366"/>
                  </a:lnTo>
                  <a:lnTo>
                    <a:pt x="356946" y="89458"/>
                  </a:lnTo>
                  <a:lnTo>
                    <a:pt x="347802" y="89458"/>
                  </a:lnTo>
                  <a:lnTo>
                    <a:pt x="343712" y="87134"/>
                  </a:lnTo>
                  <a:lnTo>
                    <a:pt x="340575" y="83731"/>
                  </a:lnTo>
                  <a:lnTo>
                    <a:pt x="336486" y="79082"/>
                  </a:lnTo>
                  <a:lnTo>
                    <a:pt x="335521" y="72123"/>
                  </a:lnTo>
                  <a:lnTo>
                    <a:pt x="335521" y="54635"/>
                  </a:lnTo>
                  <a:lnTo>
                    <a:pt x="336486" y="47663"/>
                  </a:lnTo>
                  <a:lnTo>
                    <a:pt x="343712" y="39471"/>
                  </a:lnTo>
                  <a:lnTo>
                    <a:pt x="347802" y="37147"/>
                  </a:lnTo>
                  <a:lnTo>
                    <a:pt x="356946" y="37147"/>
                  </a:lnTo>
                  <a:lnTo>
                    <a:pt x="360083" y="38379"/>
                  </a:lnTo>
                  <a:lnTo>
                    <a:pt x="362127" y="39471"/>
                  </a:lnTo>
                  <a:lnTo>
                    <a:pt x="364172" y="41783"/>
                  </a:lnTo>
                  <a:lnTo>
                    <a:pt x="365264" y="44107"/>
                  </a:lnTo>
                  <a:lnTo>
                    <a:pt x="365264" y="47663"/>
                  </a:lnTo>
                  <a:lnTo>
                    <a:pt x="374396" y="47663"/>
                  </a:lnTo>
                  <a:close/>
                </a:path>
                <a:path w="434975" h="99060">
                  <a:moveTo>
                    <a:pt x="434822" y="96418"/>
                  </a:moveTo>
                  <a:lnTo>
                    <a:pt x="432777" y="93014"/>
                  </a:lnTo>
                  <a:lnTo>
                    <a:pt x="432777" y="87134"/>
                  </a:lnTo>
                  <a:lnTo>
                    <a:pt x="432777" y="62674"/>
                  </a:lnTo>
                  <a:lnTo>
                    <a:pt x="432777" y="44107"/>
                  </a:lnTo>
                  <a:lnTo>
                    <a:pt x="431685" y="38379"/>
                  </a:lnTo>
                  <a:lnTo>
                    <a:pt x="429641" y="36068"/>
                  </a:lnTo>
                  <a:lnTo>
                    <a:pt x="428688" y="33743"/>
                  </a:lnTo>
                  <a:lnTo>
                    <a:pt x="425551" y="31419"/>
                  </a:lnTo>
                  <a:lnTo>
                    <a:pt x="422541" y="30175"/>
                  </a:lnTo>
                  <a:lnTo>
                    <a:pt x="418452" y="29095"/>
                  </a:lnTo>
                  <a:lnTo>
                    <a:pt x="414362" y="27863"/>
                  </a:lnTo>
                  <a:lnTo>
                    <a:pt x="406184" y="27863"/>
                  </a:lnTo>
                  <a:lnTo>
                    <a:pt x="402082" y="29095"/>
                  </a:lnTo>
                  <a:lnTo>
                    <a:pt x="397992" y="30175"/>
                  </a:lnTo>
                  <a:lnTo>
                    <a:pt x="394855" y="31419"/>
                  </a:lnTo>
                  <a:lnTo>
                    <a:pt x="389813" y="37147"/>
                  </a:lnTo>
                  <a:lnTo>
                    <a:pt x="387769" y="40703"/>
                  </a:lnTo>
                  <a:lnTo>
                    <a:pt x="386676" y="44107"/>
                  </a:lnTo>
                  <a:lnTo>
                    <a:pt x="386676" y="47663"/>
                  </a:lnTo>
                  <a:lnTo>
                    <a:pt x="396900" y="47663"/>
                  </a:lnTo>
                  <a:lnTo>
                    <a:pt x="396900" y="44107"/>
                  </a:lnTo>
                  <a:lnTo>
                    <a:pt x="397992" y="41783"/>
                  </a:lnTo>
                  <a:lnTo>
                    <a:pt x="400037" y="39471"/>
                  </a:lnTo>
                  <a:lnTo>
                    <a:pt x="403047" y="37147"/>
                  </a:lnTo>
                  <a:lnTo>
                    <a:pt x="406184" y="36068"/>
                  </a:lnTo>
                  <a:lnTo>
                    <a:pt x="413270" y="36068"/>
                  </a:lnTo>
                  <a:lnTo>
                    <a:pt x="416407" y="37147"/>
                  </a:lnTo>
                  <a:lnTo>
                    <a:pt x="418452" y="38379"/>
                  </a:lnTo>
                  <a:lnTo>
                    <a:pt x="421462" y="40703"/>
                  </a:lnTo>
                  <a:lnTo>
                    <a:pt x="422541" y="43027"/>
                  </a:lnTo>
                  <a:lnTo>
                    <a:pt x="422541" y="54635"/>
                  </a:lnTo>
                  <a:lnTo>
                    <a:pt x="422541" y="62674"/>
                  </a:lnTo>
                  <a:lnTo>
                    <a:pt x="422541" y="74447"/>
                  </a:lnTo>
                  <a:lnTo>
                    <a:pt x="421462" y="77851"/>
                  </a:lnTo>
                  <a:lnTo>
                    <a:pt x="420497" y="80162"/>
                  </a:lnTo>
                  <a:lnTo>
                    <a:pt x="418452" y="83731"/>
                  </a:lnTo>
                  <a:lnTo>
                    <a:pt x="416407" y="86042"/>
                  </a:lnTo>
                  <a:lnTo>
                    <a:pt x="414362" y="87134"/>
                  </a:lnTo>
                  <a:lnTo>
                    <a:pt x="411226" y="89458"/>
                  </a:lnTo>
                  <a:lnTo>
                    <a:pt x="408228" y="90690"/>
                  </a:lnTo>
                  <a:lnTo>
                    <a:pt x="404139" y="90690"/>
                  </a:lnTo>
                  <a:lnTo>
                    <a:pt x="403047" y="89458"/>
                  </a:lnTo>
                  <a:lnTo>
                    <a:pt x="401002" y="89458"/>
                  </a:lnTo>
                  <a:lnTo>
                    <a:pt x="398945" y="88366"/>
                  </a:lnTo>
                  <a:lnTo>
                    <a:pt x="397992" y="87134"/>
                  </a:lnTo>
                  <a:lnTo>
                    <a:pt x="396900" y="86042"/>
                  </a:lnTo>
                  <a:lnTo>
                    <a:pt x="396900" y="83731"/>
                  </a:lnTo>
                  <a:lnTo>
                    <a:pt x="395947" y="82486"/>
                  </a:lnTo>
                  <a:lnTo>
                    <a:pt x="395947" y="76758"/>
                  </a:lnTo>
                  <a:lnTo>
                    <a:pt x="400037" y="72123"/>
                  </a:lnTo>
                  <a:lnTo>
                    <a:pt x="403047" y="69799"/>
                  </a:lnTo>
                  <a:lnTo>
                    <a:pt x="409181" y="66243"/>
                  </a:lnTo>
                  <a:lnTo>
                    <a:pt x="419404" y="63919"/>
                  </a:lnTo>
                  <a:lnTo>
                    <a:pt x="422541" y="62674"/>
                  </a:lnTo>
                  <a:lnTo>
                    <a:pt x="422541" y="54635"/>
                  </a:lnTo>
                  <a:lnTo>
                    <a:pt x="417360" y="55714"/>
                  </a:lnTo>
                  <a:lnTo>
                    <a:pt x="385724" y="74447"/>
                  </a:lnTo>
                  <a:lnTo>
                    <a:pt x="385724" y="86042"/>
                  </a:lnTo>
                  <a:lnTo>
                    <a:pt x="386676" y="90690"/>
                  </a:lnTo>
                  <a:lnTo>
                    <a:pt x="390766" y="94094"/>
                  </a:lnTo>
                  <a:lnTo>
                    <a:pt x="393903" y="97650"/>
                  </a:lnTo>
                  <a:lnTo>
                    <a:pt x="397992" y="98742"/>
                  </a:lnTo>
                  <a:lnTo>
                    <a:pt x="408228" y="98742"/>
                  </a:lnTo>
                  <a:lnTo>
                    <a:pt x="411226" y="96418"/>
                  </a:lnTo>
                  <a:lnTo>
                    <a:pt x="414362" y="95338"/>
                  </a:lnTo>
                  <a:lnTo>
                    <a:pt x="418452" y="93014"/>
                  </a:lnTo>
                  <a:lnTo>
                    <a:pt x="420065" y="90690"/>
                  </a:lnTo>
                  <a:lnTo>
                    <a:pt x="422541" y="87134"/>
                  </a:lnTo>
                  <a:lnTo>
                    <a:pt x="422541" y="93014"/>
                  </a:lnTo>
                  <a:lnTo>
                    <a:pt x="423506" y="96418"/>
                  </a:lnTo>
                  <a:lnTo>
                    <a:pt x="434822" y="964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90967" y="4720459"/>
              <a:ext cx="804185" cy="12318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674302" y="4894719"/>
              <a:ext cx="154940" cy="95250"/>
            </a:xfrm>
            <a:custGeom>
              <a:avLst/>
              <a:gdLst/>
              <a:ahLst/>
              <a:cxnLst/>
              <a:rect l="l" t="t" r="r" b="b"/>
              <a:pathLst>
                <a:path w="154939" h="95250">
                  <a:moveTo>
                    <a:pt x="52235" y="19659"/>
                  </a:moveTo>
                  <a:lnTo>
                    <a:pt x="51142" y="15011"/>
                  </a:lnTo>
                  <a:lnTo>
                    <a:pt x="49098" y="11607"/>
                  </a:lnTo>
                  <a:lnTo>
                    <a:pt x="48475" y="9283"/>
                  </a:lnTo>
                  <a:lnTo>
                    <a:pt x="48145" y="8051"/>
                  </a:lnTo>
                  <a:lnTo>
                    <a:pt x="45008" y="4648"/>
                  </a:lnTo>
                  <a:lnTo>
                    <a:pt x="40906" y="2324"/>
                  </a:lnTo>
                  <a:lnTo>
                    <a:pt x="40906" y="20891"/>
                  </a:lnTo>
                  <a:lnTo>
                    <a:pt x="40906" y="31267"/>
                  </a:lnTo>
                  <a:lnTo>
                    <a:pt x="39954" y="37147"/>
                  </a:lnTo>
                  <a:lnTo>
                    <a:pt x="36817" y="40551"/>
                  </a:lnTo>
                  <a:lnTo>
                    <a:pt x="33820" y="45199"/>
                  </a:lnTo>
                  <a:lnTo>
                    <a:pt x="27686" y="46431"/>
                  </a:lnTo>
                  <a:lnTo>
                    <a:pt x="11315" y="46431"/>
                  </a:lnTo>
                  <a:lnTo>
                    <a:pt x="11315" y="9283"/>
                  </a:lnTo>
                  <a:lnTo>
                    <a:pt x="30683" y="9283"/>
                  </a:lnTo>
                  <a:lnTo>
                    <a:pt x="34772" y="10375"/>
                  </a:lnTo>
                  <a:lnTo>
                    <a:pt x="39954" y="16256"/>
                  </a:lnTo>
                  <a:lnTo>
                    <a:pt x="40906" y="20891"/>
                  </a:lnTo>
                  <a:lnTo>
                    <a:pt x="40906" y="2324"/>
                  </a:lnTo>
                  <a:lnTo>
                    <a:pt x="37909" y="1092"/>
                  </a:lnTo>
                  <a:lnTo>
                    <a:pt x="31775" y="0"/>
                  </a:lnTo>
                  <a:lnTo>
                    <a:pt x="0" y="0"/>
                  </a:lnTo>
                  <a:lnTo>
                    <a:pt x="0" y="92862"/>
                  </a:lnTo>
                  <a:lnTo>
                    <a:pt x="11315" y="92862"/>
                  </a:lnTo>
                  <a:lnTo>
                    <a:pt x="11315" y="55714"/>
                  </a:lnTo>
                  <a:lnTo>
                    <a:pt x="31775" y="55714"/>
                  </a:lnTo>
                  <a:lnTo>
                    <a:pt x="38862" y="53390"/>
                  </a:lnTo>
                  <a:lnTo>
                    <a:pt x="45008" y="46431"/>
                  </a:lnTo>
                  <a:lnTo>
                    <a:pt x="49098" y="41783"/>
                  </a:lnTo>
                  <a:lnTo>
                    <a:pt x="52235" y="33591"/>
                  </a:lnTo>
                  <a:lnTo>
                    <a:pt x="52235" y="19659"/>
                  </a:lnTo>
                  <a:close/>
                </a:path>
                <a:path w="154939" h="95250">
                  <a:moveTo>
                    <a:pt x="97243" y="25539"/>
                  </a:moveTo>
                  <a:lnTo>
                    <a:pt x="95199" y="24295"/>
                  </a:lnTo>
                  <a:lnTo>
                    <a:pt x="87020" y="24295"/>
                  </a:lnTo>
                  <a:lnTo>
                    <a:pt x="84963" y="25539"/>
                  </a:lnTo>
                  <a:lnTo>
                    <a:pt x="82918" y="26619"/>
                  </a:lnTo>
                  <a:lnTo>
                    <a:pt x="80873" y="27863"/>
                  </a:lnTo>
                  <a:lnTo>
                    <a:pt x="78828" y="30187"/>
                  </a:lnTo>
                  <a:lnTo>
                    <a:pt x="76784" y="31267"/>
                  </a:lnTo>
                  <a:lnTo>
                    <a:pt x="75692" y="34823"/>
                  </a:lnTo>
                  <a:lnTo>
                    <a:pt x="73647" y="38227"/>
                  </a:lnTo>
                  <a:lnTo>
                    <a:pt x="73647" y="25539"/>
                  </a:lnTo>
                  <a:lnTo>
                    <a:pt x="63423" y="25539"/>
                  </a:lnTo>
                  <a:lnTo>
                    <a:pt x="63423" y="92862"/>
                  </a:lnTo>
                  <a:lnTo>
                    <a:pt x="73647" y="92862"/>
                  </a:lnTo>
                  <a:lnTo>
                    <a:pt x="73647" y="49834"/>
                  </a:lnTo>
                  <a:lnTo>
                    <a:pt x="75692" y="44107"/>
                  </a:lnTo>
                  <a:lnTo>
                    <a:pt x="81826" y="37147"/>
                  </a:lnTo>
                  <a:lnTo>
                    <a:pt x="85928" y="34823"/>
                  </a:lnTo>
                  <a:lnTo>
                    <a:pt x="95199" y="34823"/>
                  </a:lnTo>
                  <a:lnTo>
                    <a:pt x="97243" y="37147"/>
                  </a:lnTo>
                  <a:lnTo>
                    <a:pt x="97243" y="25539"/>
                  </a:lnTo>
                  <a:close/>
                </a:path>
                <a:path w="154939" h="95250">
                  <a:moveTo>
                    <a:pt x="154533" y="48755"/>
                  </a:moveTo>
                  <a:lnTo>
                    <a:pt x="153441" y="41783"/>
                  </a:lnTo>
                  <a:lnTo>
                    <a:pt x="149821" y="33591"/>
                  </a:lnTo>
                  <a:lnTo>
                    <a:pt x="149352" y="32499"/>
                  </a:lnTo>
                  <a:lnTo>
                    <a:pt x="146342" y="28943"/>
                  </a:lnTo>
                  <a:lnTo>
                    <a:pt x="145249" y="28575"/>
                  </a:lnTo>
                  <a:lnTo>
                    <a:pt x="145249" y="47510"/>
                  </a:lnTo>
                  <a:lnTo>
                    <a:pt x="145249" y="52158"/>
                  </a:lnTo>
                  <a:lnTo>
                    <a:pt x="113614" y="52158"/>
                  </a:lnTo>
                  <a:lnTo>
                    <a:pt x="114566" y="46431"/>
                  </a:lnTo>
                  <a:lnTo>
                    <a:pt x="116611" y="41783"/>
                  </a:lnTo>
                  <a:lnTo>
                    <a:pt x="122745" y="34823"/>
                  </a:lnTo>
                  <a:lnTo>
                    <a:pt x="125882" y="33591"/>
                  </a:lnTo>
                  <a:lnTo>
                    <a:pt x="135026" y="33591"/>
                  </a:lnTo>
                  <a:lnTo>
                    <a:pt x="138163" y="35902"/>
                  </a:lnTo>
                  <a:lnTo>
                    <a:pt x="140208" y="37147"/>
                  </a:lnTo>
                  <a:lnTo>
                    <a:pt x="142252" y="39471"/>
                  </a:lnTo>
                  <a:lnTo>
                    <a:pt x="143205" y="41783"/>
                  </a:lnTo>
                  <a:lnTo>
                    <a:pt x="144297" y="45199"/>
                  </a:lnTo>
                  <a:lnTo>
                    <a:pt x="145249" y="47510"/>
                  </a:lnTo>
                  <a:lnTo>
                    <a:pt x="145249" y="28575"/>
                  </a:lnTo>
                  <a:lnTo>
                    <a:pt x="143205" y="27863"/>
                  </a:lnTo>
                  <a:lnTo>
                    <a:pt x="139115" y="25539"/>
                  </a:lnTo>
                  <a:lnTo>
                    <a:pt x="135026" y="24295"/>
                  </a:lnTo>
                  <a:lnTo>
                    <a:pt x="122745" y="24295"/>
                  </a:lnTo>
                  <a:lnTo>
                    <a:pt x="103378" y="60363"/>
                  </a:lnTo>
                  <a:lnTo>
                    <a:pt x="103378" y="69646"/>
                  </a:lnTo>
                  <a:lnTo>
                    <a:pt x="105422" y="78930"/>
                  </a:lnTo>
                  <a:lnTo>
                    <a:pt x="110477" y="84658"/>
                  </a:lnTo>
                  <a:lnTo>
                    <a:pt x="115658" y="91617"/>
                  </a:lnTo>
                  <a:lnTo>
                    <a:pt x="121793" y="95173"/>
                  </a:lnTo>
                  <a:lnTo>
                    <a:pt x="136118" y="95173"/>
                  </a:lnTo>
                  <a:lnTo>
                    <a:pt x="139115" y="93941"/>
                  </a:lnTo>
                  <a:lnTo>
                    <a:pt x="143205" y="92862"/>
                  </a:lnTo>
                  <a:lnTo>
                    <a:pt x="154533" y="78930"/>
                  </a:lnTo>
                  <a:lnTo>
                    <a:pt x="154533" y="75374"/>
                  </a:lnTo>
                  <a:lnTo>
                    <a:pt x="144297" y="75374"/>
                  </a:lnTo>
                  <a:lnTo>
                    <a:pt x="144297" y="78930"/>
                  </a:lnTo>
                  <a:lnTo>
                    <a:pt x="143205" y="81254"/>
                  </a:lnTo>
                  <a:lnTo>
                    <a:pt x="141160" y="82334"/>
                  </a:lnTo>
                  <a:lnTo>
                    <a:pt x="139115" y="84658"/>
                  </a:lnTo>
                  <a:lnTo>
                    <a:pt x="136118" y="85890"/>
                  </a:lnTo>
                  <a:lnTo>
                    <a:pt x="125882" y="85890"/>
                  </a:lnTo>
                  <a:lnTo>
                    <a:pt x="121793" y="83578"/>
                  </a:lnTo>
                  <a:lnTo>
                    <a:pt x="117703" y="78930"/>
                  </a:lnTo>
                  <a:lnTo>
                    <a:pt x="114566" y="74282"/>
                  </a:lnTo>
                  <a:lnTo>
                    <a:pt x="112522" y="68402"/>
                  </a:lnTo>
                  <a:lnTo>
                    <a:pt x="112522" y="60363"/>
                  </a:lnTo>
                  <a:lnTo>
                    <a:pt x="154533" y="60363"/>
                  </a:lnTo>
                  <a:lnTo>
                    <a:pt x="154533" y="52158"/>
                  </a:lnTo>
                  <a:lnTo>
                    <a:pt x="154533" y="487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43160" y="4891157"/>
              <a:ext cx="1032238" cy="12303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888765" y="4891157"/>
              <a:ext cx="10795" cy="96520"/>
            </a:xfrm>
            <a:custGeom>
              <a:avLst/>
              <a:gdLst/>
              <a:ahLst/>
              <a:cxnLst/>
              <a:rect l="l" t="t" r="r" b="b"/>
              <a:pathLst>
                <a:path w="10795" h="96520">
                  <a:moveTo>
                    <a:pt x="10229" y="0"/>
                  </a:moveTo>
                  <a:lnTo>
                    <a:pt x="0" y="0"/>
                  </a:lnTo>
                  <a:lnTo>
                    <a:pt x="0" y="96414"/>
                  </a:lnTo>
                  <a:lnTo>
                    <a:pt x="10229" y="9641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4562453" y="2154881"/>
            <a:ext cx="1760855" cy="4117975"/>
            <a:chOff x="4562453" y="2154881"/>
            <a:chExt cx="1760855" cy="4117975"/>
          </a:xfrm>
        </p:grpSpPr>
        <p:sp>
          <p:nvSpPr>
            <p:cNvPr id="38" name="object 38"/>
            <p:cNvSpPr/>
            <p:nvPr/>
          </p:nvSpPr>
          <p:spPr>
            <a:xfrm>
              <a:off x="4562966" y="2154881"/>
              <a:ext cx="1760220" cy="4117975"/>
            </a:xfrm>
            <a:custGeom>
              <a:avLst/>
              <a:gdLst/>
              <a:ahLst/>
              <a:cxnLst/>
              <a:rect l="l" t="t" r="r" b="b"/>
              <a:pathLst>
                <a:path w="1760220" h="4117975">
                  <a:moveTo>
                    <a:pt x="0" y="8047"/>
                  </a:moveTo>
                  <a:lnTo>
                    <a:pt x="0" y="8047"/>
                  </a:lnTo>
                  <a:lnTo>
                    <a:pt x="1759770" y="8047"/>
                  </a:lnTo>
                </a:path>
                <a:path w="1760220" h="4117975">
                  <a:moveTo>
                    <a:pt x="1752677" y="0"/>
                  </a:moveTo>
                  <a:lnTo>
                    <a:pt x="1752677" y="0"/>
                  </a:lnTo>
                  <a:lnTo>
                    <a:pt x="1752677" y="16249"/>
                  </a:lnTo>
                </a:path>
                <a:path w="1760220" h="4117975">
                  <a:moveTo>
                    <a:pt x="1752677" y="0"/>
                  </a:moveTo>
                  <a:lnTo>
                    <a:pt x="1752677" y="0"/>
                  </a:lnTo>
                  <a:lnTo>
                    <a:pt x="1752677" y="4117832"/>
                  </a:lnTo>
                </a:path>
                <a:path w="1760220" h="4117975">
                  <a:moveTo>
                    <a:pt x="1752677" y="4102728"/>
                  </a:moveTo>
                  <a:lnTo>
                    <a:pt x="1752677" y="4102728"/>
                  </a:lnTo>
                  <a:lnTo>
                    <a:pt x="1752677" y="4117832"/>
                  </a:lnTo>
                </a:path>
                <a:path w="1760220" h="4117975">
                  <a:moveTo>
                    <a:pt x="0" y="4109692"/>
                  </a:moveTo>
                  <a:lnTo>
                    <a:pt x="0" y="4109692"/>
                  </a:lnTo>
                  <a:lnTo>
                    <a:pt x="1759770" y="4109692"/>
                  </a:lnTo>
                </a:path>
                <a:path w="1760220" h="4117975">
                  <a:moveTo>
                    <a:pt x="6137" y="4102728"/>
                  </a:moveTo>
                  <a:lnTo>
                    <a:pt x="6137" y="4102728"/>
                  </a:lnTo>
                  <a:lnTo>
                    <a:pt x="6137" y="4117832"/>
                  </a:lnTo>
                </a:path>
                <a:path w="1760220" h="4117975">
                  <a:moveTo>
                    <a:pt x="6137" y="0"/>
                  </a:moveTo>
                  <a:lnTo>
                    <a:pt x="6137" y="0"/>
                  </a:lnTo>
                  <a:lnTo>
                    <a:pt x="6137" y="4117832"/>
                  </a:lnTo>
                </a:path>
                <a:path w="1760220" h="4117975">
                  <a:moveTo>
                    <a:pt x="6137" y="0"/>
                  </a:moveTo>
                  <a:lnTo>
                    <a:pt x="6137" y="0"/>
                  </a:lnTo>
                  <a:lnTo>
                    <a:pt x="6137" y="16249"/>
                  </a:lnTo>
                </a:path>
              </a:pathLst>
            </a:custGeom>
            <a:ln w="14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705226" y="2302210"/>
              <a:ext cx="1208324" cy="14748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399886" y="2770199"/>
              <a:ext cx="10795" cy="96520"/>
            </a:xfrm>
            <a:custGeom>
              <a:avLst/>
              <a:gdLst/>
              <a:ahLst/>
              <a:cxnLst/>
              <a:rect l="l" t="t" r="r" b="b"/>
              <a:pathLst>
                <a:path w="10795" h="96519">
                  <a:moveTo>
                    <a:pt x="10229" y="0"/>
                  </a:moveTo>
                  <a:lnTo>
                    <a:pt x="0" y="0"/>
                  </a:lnTo>
                  <a:lnTo>
                    <a:pt x="0" y="96259"/>
                  </a:lnTo>
                  <a:lnTo>
                    <a:pt x="10229" y="96259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18456" y="2770199"/>
              <a:ext cx="1148037" cy="59427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14364" y="3435349"/>
              <a:ext cx="1273794" cy="44817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792110" y="3931039"/>
              <a:ext cx="675292" cy="9873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790064" y="4101737"/>
              <a:ext cx="1135762" cy="423727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622532" y="2526300"/>
            <a:ext cx="1760220" cy="4103370"/>
            <a:chOff x="6622532" y="2526300"/>
            <a:chExt cx="1760220" cy="4103370"/>
          </a:xfrm>
        </p:grpSpPr>
        <p:sp>
          <p:nvSpPr>
            <p:cNvPr id="46" name="object 46"/>
            <p:cNvSpPr/>
            <p:nvPr/>
          </p:nvSpPr>
          <p:spPr>
            <a:xfrm>
              <a:off x="6622532" y="2526300"/>
              <a:ext cx="1746885" cy="4086860"/>
            </a:xfrm>
            <a:custGeom>
              <a:avLst/>
              <a:gdLst/>
              <a:ahLst/>
              <a:cxnLst/>
              <a:rect l="l" t="t" r="r" b="b"/>
              <a:pathLst>
                <a:path w="1746884" h="4086859">
                  <a:moveTo>
                    <a:pt x="1746403" y="0"/>
                  </a:moveTo>
                  <a:lnTo>
                    <a:pt x="0" y="0"/>
                  </a:lnTo>
                  <a:lnTo>
                    <a:pt x="0" y="4086562"/>
                  </a:lnTo>
                  <a:lnTo>
                    <a:pt x="1746403" y="4086562"/>
                  </a:lnTo>
                  <a:lnTo>
                    <a:pt x="174640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622532" y="2526300"/>
              <a:ext cx="1760220" cy="4103370"/>
            </a:xfrm>
            <a:custGeom>
              <a:avLst/>
              <a:gdLst/>
              <a:ahLst/>
              <a:cxnLst/>
              <a:rect l="l" t="t" r="r" b="b"/>
              <a:pathLst>
                <a:path w="1760220" h="4103370">
                  <a:moveTo>
                    <a:pt x="0" y="8202"/>
                  </a:moveTo>
                  <a:lnTo>
                    <a:pt x="0" y="8202"/>
                  </a:lnTo>
                  <a:lnTo>
                    <a:pt x="1759770" y="8202"/>
                  </a:lnTo>
                </a:path>
                <a:path w="1760220" h="4103370">
                  <a:moveTo>
                    <a:pt x="1752541" y="0"/>
                  </a:moveTo>
                  <a:lnTo>
                    <a:pt x="1752541" y="0"/>
                  </a:lnTo>
                  <a:lnTo>
                    <a:pt x="1752541" y="16249"/>
                  </a:lnTo>
                </a:path>
                <a:path w="1760220" h="4103370">
                  <a:moveTo>
                    <a:pt x="1752541" y="0"/>
                  </a:moveTo>
                  <a:lnTo>
                    <a:pt x="1752541" y="0"/>
                  </a:lnTo>
                  <a:lnTo>
                    <a:pt x="1752541" y="4102815"/>
                  </a:lnTo>
                </a:path>
                <a:path w="1760220" h="4103370">
                  <a:moveTo>
                    <a:pt x="1752541" y="4086562"/>
                  </a:moveTo>
                  <a:lnTo>
                    <a:pt x="1752541" y="4086562"/>
                  </a:lnTo>
                  <a:lnTo>
                    <a:pt x="1752541" y="4102815"/>
                  </a:lnTo>
                </a:path>
                <a:path w="1760220" h="4103370">
                  <a:moveTo>
                    <a:pt x="0" y="4094689"/>
                  </a:moveTo>
                  <a:lnTo>
                    <a:pt x="0" y="4094689"/>
                  </a:lnTo>
                  <a:lnTo>
                    <a:pt x="1759770" y="4094689"/>
                  </a:lnTo>
                </a:path>
                <a:path w="1760220" h="4103370">
                  <a:moveTo>
                    <a:pt x="7228" y="4086562"/>
                  </a:moveTo>
                  <a:lnTo>
                    <a:pt x="7228" y="4086562"/>
                  </a:lnTo>
                  <a:lnTo>
                    <a:pt x="7228" y="4102815"/>
                  </a:lnTo>
                </a:path>
                <a:path w="1760220" h="4103370">
                  <a:moveTo>
                    <a:pt x="7228" y="0"/>
                  </a:moveTo>
                  <a:lnTo>
                    <a:pt x="7228" y="0"/>
                  </a:lnTo>
                  <a:lnTo>
                    <a:pt x="7228" y="4102815"/>
                  </a:lnTo>
                </a:path>
                <a:path w="1760220" h="4103370">
                  <a:moveTo>
                    <a:pt x="7228" y="0"/>
                  </a:moveTo>
                  <a:lnTo>
                    <a:pt x="7228" y="0"/>
                  </a:lnTo>
                  <a:lnTo>
                    <a:pt x="7228" y="16249"/>
                  </a:lnTo>
                </a:path>
              </a:pathLst>
            </a:custGeom>
            <a:ln w="14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747334" y="2673784"/>
              <a:ext cx="1029237" cy="14748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753472" y="3095190"/>
              <a:ext cx="970997" cy="98735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774521" y="3098761"/>
              <a:ext cx="514984" cy="95250"/>
            </a:xfrm>
            <a:custGeom>
              <a:avLst/>
              <a:gdLst/>
              <a:ahLst/>
              <a:cxnLst/>
              <a:rect l="l" t="t" r="r" b="b"/>
              <a:pathLst>
                <a:path w="514984" h="95250">
                  <a:moveTo>
                    <a:pt x="10223" y="26619"/>
                  </a:moveTo>
                  <a:lnTo>
                    <a:pt x="0" y="26619"/>
                  </a:lnTo>
                  <a:lnTo>
                    <a:pt x="0" y="92849"/>
                  </a:lnTo>
                  <a:lnTo>
                    <a:pt x="10223" y="92849"/>
                  </a:lnTo>
                  <a:lnTo>
                    <a:pt x="10223" y="26619"/>
                  </a:lnTo>
                  <a:close/>
                </a:path>
                <a:path w="514984" h="95250">
                  <a:moveTo>
                    <a:pt x="10223" y="0"/>
                  </a:moveTo>
                  <a:lnTo>
                    <a:pt x="0" y="0"/>
                  </a:lnTo>
                  <a:lnTo>
                    <a:pt x="0" y="11607"/>
                  </a:lnTo>
                  <a:lnTo>
                    <a:pt x="10223" y="11607"/>
                  </a:lnTo>
                  <a:lnTo>
                    <a:pt x="10223" y="0"/>
                  </a:lnTo>
                  <a:close/>
                </a:path>
                <a:path w="514984" h="95250">
                  <a:moveTo>
                    <a:pt x="74739" y="42862"/>
                  </a:moveTo>
                  <a:lnTo>
                    <a:pt x="73647" y="38214"/>
                  </a:lnTo>
                  <a:lnTo>
                    <a:pt x="71602" y="34810"/>
                  </a:lnTo>
                  <a:lnTo>
                    <a:pt x="70650" y="31254"/>
                  </a:lnTo>
                  <a:lnTo>
                    <a:pt x="64516" y="26619"/>
                  </a:lnTo>
                  <a:lnTo>
                    <a:pt x="62471" y="25527"/>
                  </a:lnTo>
                  <a:lnTo>
                    <a:pt x="58381" y="24295"/>
                  </a:lnTo>
                  <a:lnTo>
                    <a:pt x="50190" y="24295"/>
                  </a:lnTo>
                  <a:lnTo>
                    <a:pt x="48145" y="25527"/>
                  </a:lnTo>
                  <a:lnTo>
                    <a:pt x="46101" y="26619"/>
                  </a:lnTo>
                  <a:lnTo>
                    <a:pt x="44056" y="27851"/>
                  </a:lnTo>
                  <a:lnTo>
                    <a:pt x="42011" y="30175"/>
                  </a:lnTo>
                  <a:lnTo>
                    <a:pt x="39966" y="31254"/>
                  </a:lnTo>
                  <a:lnTo>
                    <a:pt x="35864" y="38214"/>
                  </a:lnTo>
                  <a:lnTo>
                    <a:pt x="35864" y="26619"/>
                  </a:lnTo>
                  <a:lnTo>
                    <a:pt x="25641" y="26619"/>
                  </a:lnTo>
                  <a:lnTo>
                    <a:pt x="25641" y="92849"/>
                  </a:lnTo>
                  <a:lnTo>
                    <a:pt x="35864" y="92849"/>
                  </a:lnTo>
                  <a:lnTo>
                    <a:pt x="35864" y="54470"/>
                  </a:lnTo>
                  <a:lnTo>
                    <a:pt x="36830" y="48742"/>
                  </a:lnTo>
                  <a:lnTo>
                    <a:pt x="37922" y="45186"/>
                  </a:lnTo>
                  <a:lnTo>
                    <a:pt x="39966" y="41783"/>
                  </a:lnTo>
                  <a:lnTo>
                    <a:pt x="44056" y="37134"/>
                  </a:lnTo>
                  <a:lnTo>
                    <a:pt x="47053" y="35902"/>
                  </a:lnTo>
                  <a:lnTo>
                    <a:pt x="49098" y="34810"/>
                  </a:lnTo>
                  <a:lnTo>
                    <a:pt x="55245" y="34810"/>
                  </a:lnTo>
                  <a:lnTo>
                    <a:pt x="57289" y="35902"/>
                  </a:lnTo>
                  <a:lnTo>
                    <a:pt x="59334" y="37134"/>
                  </a:lnTo>
                  <a:lnTo>
                    <a:pt x="61379" y="38214"/>
                  </a:lnTo>
                  <a:lnTo>
                    <a:pt x="62471" y="40538"/>
                  </a:lnTo>
                  <a:lnTo>
                    <a:pt x="63423" y="42862"/>
                  </a:lnTo>
                  <a:lnTo>
                    <a:pt x="64516" y="45186"/>
                  </a:lnTo>
                  <a:lnTo>
                    <a:pt x="64516" y="92849"/>
                  </a:lnTo>
                  <a:lnTo>
                    <a:pt x="74739" y="92849"/>
                  </a:lnTo>
                  <a:lnTo>
                    <a:pt x="74739" y="42862"/>
                  </a:lnTo>
                  <a:close/>
                </a:path>
                <a:path w="514984" h="95250">
                  <a:moveTo>
                    <a:pt x="136118" y="44107"/>
                  </a:moveTo>
                  <a:lnTo>
                    <a:pt x="136004" y="39065"/>
                  </a:lnTo>
                  <a:lnTo>
                    <a:pt x="135026" y="35902"/>
                  </a:lnTo>
                  <a:lnTo>
                    <a:pt x="132981" y="33578"/>
                  </a:lnTo>
                  <a:lnTo>
                    <a:pt x="130937" y="30175"/>
                  </a:lnTo>
                  <a:lnTo>
                    <a:pt x="128892" y="28930"/>
                  </a:lnTo>
                  <a:lnTo>
                    <a:pt x="125895" y="26619"/>
                  </a:lnTo>
                  <a:lnTo>
                    <a:pt x="121805" y="25527"/>
                  </a:lnTo>
                  <a:lnTo>
                    <a:pt x="118668" y="24295"/>
                  </a:lnTo>
                  <a:lnTo>
                    <a:pt x="105435" y="24295"/>
                  </a:lnTo>
                  <a:lnTo>
                    <a:pt x="87020" y="60350"/>
                  </a:lnTo>
                  <a:lnTo>
                    <a:pt x="87414" y="67881"/>
                  </a:lnTo>
                  <a:lnTo>
                    <a:pt x="105435" y="95173"/>
                  </a:lnTo>
                  <a:lnTo>
                    <a:pt x="118668" y="95173"/>
                  </a:lnTo>
                  <a:lnTo>
                    <a:pt x="121805" y="93929"/>
                  </a:lnTo>
                  <a:lnTo>
                    <a:pt x="125895" y="92849"/>
                  </a:lnTo>
                  <a:lnTo>
                    <a:pt x="136118" y="80010"/>
                  </a:lnTo>
                  <a:lnTo>
                    <a:pt x="136118" y="76593"/>
                  </a:lnTo>
                  <a:lnTo>
                    <a:pt x="126847" y="76593"/>
                  </a:lnTo>
                  <a:lnTo>
                    <a:pt x="126847" y="78917"/>
                  </a:lnTo>
                  <a:lnTo>
                    <a:pt x="125895" y="81241"/>
                  </a:lnTo>
                  <a:lnTo>
                    <a:pt x="123850" y="83566"/>
                  </a:lnTo>
                  <a:lnTo>
                    <a:pt x="121805" y="84645"/>
                  </a:lnTo>
                  <a:lnTo>
                    <a:pt x="118668" y="85890"/>
                  </a:lnTo>
                  <a:lnTo>
                    <a:pt x="109524" y="85890"/>
                  </a:lnTo>
                  <a:lnTo>
                    <a:pt x="105435" y="83566"/>
                  </a:lnTo>
                  <a:lnTo>
                    <a:pt x="98209" y="75361"/>
                  </a:lnTo>
                  <a:lnTo>
                    <a:pt x="97243" y="68402"/>
                  </a:lnTo>
                  <a:lnTo>
                    <a:pt x="97243" y="51066"/>
                  </a:lnTo>
                  <a:lnTo>
                    <a:pt x="98209" y="44107"/>
                  </a:lnTo>
                  <a:lnTo>
                    <a:pt x="105435" y="35902"/>
                  </a:lnTo>
                  <a:lnTo>
                    <a:pt x="109524" y="33578"/>
                  </a:lnTo>
                  <a:lnTo>
                    <a:pt x="118668" y="33578"/>
                  </a:lnTo>
                  <a:lnTo>
                    <a:pt x="121805" y="34810"/>
                  </a:lnTo>
                  <a:lnTo>
                    <a:pt x="123850" y="35902"/>
                  </a:lnTo>
                  <a:lnTo>
                    <a:pt x="125895" y="38214"/>
                  </a:lnTo>
                  <a:lnTo>
                    <a:pt x="126847" y="40538"/>
                  </a:lnTo>
                  <a:lnTo>
                    <a:pt x="126847" y="44107"/>
                  </a:lnTo>
                  <a:lnTo>
                    <a:pt x="136118" y="44107"/>
                  </a:lnTo>
                  <a:close/>
                </a:path>
                <a:path w="514984" h="95250">
                  <a:moveTo>
                    <a:pt x="182219" y="25527"/>
                  </a:moveTo>
                  <a:lnTo>
                    <a:pt x="181127" y="24295"/>
                  </a:lnTo>
                  <a:lnTo>
                    <a:pt x="172948" y="24295"/>
                  </a:lnTo>
                  <a:lnTo>
                    <a:pt x="162712" y="32499"/>
                  </a:lnTo>
                  <a:lnTo>
                    <a:pt x="160667" y="34810"/>
                  </a:lnTo>
                  <a:lnTo>
                    <a:pt x="158623" y="38214"/>
                  </a:lnTo>
                  <a:lnTo>
                    <a:pt x="158623" y="26619"/>
                  </a:lnTo>
                  <a:lnTo>
                    <a:pt x="149352" y="26619"/>
                  </a:lnTo>
                  <a:lnTo>
                    <a:pt x="149352" y="92849"/>
                  </a:lnTo>
                  <a:lnTo>
                    <a:pt x="158623" y="92849"/>
                  </a:lnTo>
                  <a:lnTo>
                    <a:pt x="158623" y="51066"/>
                  </a:lnTo>
                  <a:lnTo>
                    <a:pt x="160667" y="44107"/>
                  </a:lnTo>
                  <a:lnTo>
                    <a:pt x="163677" y="40538"/>
                  </a:lnTo>
                  <a:lnTo>
                    <a:pt x="167767" y="37134"/>
                  </a:lnTo>
                  <a:lnTo>
                    <a:pt x="170903" y="34810"/>
                  </a:lnTo>
                  <a:lnTo>
                    <a:pt x="177038" y="34810"/>
                  </a:lnTo>
                  <a:lnTo>
                    <a:pt x="180174" y="35902"/>
                  </a:lnTo>
                  <a:lnTo>
                    <a:pt x="182219" y="37134"/>
                  </a:lnTo>
                  <a:lnTo>
                    <a:pt x="182219" y="25527"/>
                  </a:lnTo>
                  <a:close/>
                </a:path>
                <a:path w="514984" h="95250">
                  <a:moveTo>
                    <a:pt x="240461" y="48742"/>
                  </a:moveTo>
                  <a:lnTo>
                    <a:pt x="239509" y="42862"/>
                  </a:lnTo>
                  <a:lnTo>
                    <a:pt x="236372" y="38214"/>
                  </a:lnTo>
                  <a:lnTo>
                    <a:pt x="234327" y="33578"/>
                  </a:lnTo>
                  <a:lnTo>
                    <a:pt x="232283" y="30175"/>
                  </a:lnTo>
                  <a:lnTo>
                    <a:pt x="230238" y="29019"/>
                  </a:lnTo>
                  <a:lnTo>
                    <a:pt x="230238" y="45186"/>
                  </a:lnTo>
                  <a:lnTo>
                    <a:pt x="230238" y="53390"/>
                  </a:lnTo>
                  <a:lnTo>
                    <a:pt x="198589" y="53390"/>
                  </a:lnTo>
                  <a:lnTo>
                    <a:pt x="199542" y="46418"/>
                  </a:lnTo>
                  <a:lnTo>
                    <a:pt x="201587" y="41783"/>
                  </a:lnTo>
                  <a:lnTo>
                    <a:pt x="204724" y="38214"/>
                  </a:lnTo>
                  <a:lnTo>
                    <a:pt x="207733" y="35902"/>
                  </a:lnTo>
                  <a:lnTo>
                    <a:pt x="210870" y="33578"/>
                  </a:lnTo>
                  <a:lnTo>
                    <a:pt x="217957" y="33578"/>
                  </a:lnTo>
                  <a:lnTo>
                    <a:pt x="228193" y="42862"/>
                  </a:lnTo>
                  <a:lnTo>
                    <a:pt x="230238" y="45186"/>
                  </a:lnTo>
                  <a:lnTo>
                    <a:pt x="230238" y="29019"/>
                  </a:lnTo>
                  <a:lnTo>
                    <a:pt x="224091" y="25527"/>
                  </a:lnTo>
                  <a:lnTo>
                    <a:pt x="220002" y="24295"/>
                  </a:lnTo>
                  <a:lnTo>
                    <a:pt x="207733" y="24295"/>
                  </a:lnTo>
                  <a:lnTo>
                    <a:pt x="188366" y="60350"/>
                  </a:lnTo>
                  <a:lnTo>
                    <a:pt x="188760" y="67729"/>
                  </a:lnTo>
                  <a:lnTo>
                    <a:pt x="207733" y="95173"/>
                  </a:lnTo>
                  <a:lnTo>
                    <a:pt x="221094" y="95173"/>
                  </a:lnTo>
                  <a:lnTo>
                    <a:pt x="239509" y="80010"/>
                  </a:lnTo>
                  <a:lnTo>
                    <a:pt x="239509" y="76593"/>
                  </a:lnTo>
                  <a:lnTo>
                    <a:pt x="230238" y="76593"/>
                  </a:lnTo>
                  <a:lnTo>
                    <a:pt x="230238" y="78917"/>
                  </a:lnTo>
                  <a:lnTo>
                    <a:pt x="229273" y="81241"/>
                  </a:lnTo>
                  <a:lnTo>
                    <a:pt x="227228" y="83566"/>
                  </a:lnTo>
                  <a:lnTo>
                    <a:pt x="225183" y="84645"/>
                  </a:lnTo>
                  <a:lnTo>
                    <a:pt x="222046" y="85890"/>
                  </a:lnTo>
                  <a:lnTo>
                    <a:pt x="210870" y="85890"/>
                  </a:lnTo>
                  <a:lnTo>
                    <a:pt x="206768" y="83566"/>
                  </a:lnTo>
                  <a:lnTo>
                    <a:pt x="203631" y="78917"/>
                  </a:lnTo>
                  <a:lnTo>
                    <a:pt x="199542" y="74282"/>
                  </a:lnTo>
                  <a:lnTo>
                    <a:pt x="198589" y="68402"/>
                  </a:lnTo>
                  <a:lnTo>
                    <a:pt x="198589" y="61429"/>
                  </a:lnTo>
                  <a:lnTo>
                    <a:pt x="240461" y="61429"/>
                  </a:lnTo>
                  <a:lnTo>
                    <a:pt x="240461" y="53390"/>
                  </a:lnTo>
                  <a:lnTo>
                    <a:pt x="240461" y="48742"/>
                  </a:lnTo>
                  <a:close/>
                </a:path>
                <a:path w="514984" h="95250">
                  <a:moveTo>
                    <a:pt x="336626" y="44107"/>
                  </a:moveTo>
                  <a:lnTo>
                    <a:pt x="335661" y="38214"/>
                  </a:lnTo>
                  <a:lnTo>
                    <a:pt x="333616" y="34810"/>
                  </a:lnTo>
                  <a:lnTo>
                    <a:pt x="332524" y="31254"/>
                  </a:lnTo>
                  <a:lnTo>
                    <a:pt x="330479" y="28930"/>
                  </a:lnTo>
                  <a:lnTo>
                    <a:pt x="327482" y="26619"/>
                  </a:lnTo>
                  <a:lnTo>
                    <a:pt x="325437" y="25527"/>
                  </a:lnTo>
                  <a:lnTo>
                    <a:pt x="322300" y="24295"/>
                  </a:lnTo>
                  <a:lnTo>
                    <a:pt x="314121" y="24295"/>
                  </a:lnTo>
                  <a:lnTo>
                    <a:pt x="307975" y="27851"/>
                  </a:lnTo>
                  <a:lnTo>
                    <a:pt x="305930" y="30175"/>
                  </a:lnTo>
                  <a:lnTo>
                    <a:pt x="303885" y="31254"/>
                  </a:lnTo>
                  <a:lnTo>
                    <a:pt x="299796" y="38214"/>
                  </a:lnTo>
                  <a:lnTo>
                    <a:pt x="298843" y="34810"/>
                  </a:lnTo>
                  <a:lnTo>
                    <a:pt x="296799" y="31254"/>
                  </a:lnTo>
                  <a:lnTo>
                    <a:pt x="294754" y="30175"/>
                  </a:lnTo>
                  <a:lnTo>
                    <a:pt x="293662" y="27851"/>
                  </a:lnTo>
                  <a:lnTo>
                    <a:pt x="287515" y="24295"/>
                  </a:lnTo>
                  <a:lnTo>
                    <a:pt x="277291" y="24295"/>
                  </a:lnTo>
                  <a:lnTo>
                    <a:pt x="271157" y="27851"/>
                  </a:lnTo>
                  <a:lnTo>
                    <a:pt x="268147" y="31254"/>
                  </a:lnTo>
                  <a:lnTo>
                    <a:pt x="264058" y="38214"/>
                  </a:lnTo>
                  <a:lnTo>
                    <a:pt x="264058" y="26619"/>
                  </a:lnTo>
                  <a:lnTo>
                    <a:pt x="253834" y="26619"/>
                  </a:lnTo>
                  <a:lnTo>
                    <a:pt x="253834" y="92849"/>
                  </a:lnTo>
                  <a:lnTo>
                    <a:pt x="264058" y="92849"/>
                  </a:lnTo>
                  <a:lnTo>
                    <a:pt x="264058" y="54470"/>
                  </a:lnTo>
                  <a:lnTo>
                    <a:pt x="265010" y="49822"/>
                  </a:lnTo>
                  <a:lnTo>
                    <a:pt x="266103" y="46418"/>
                  </a:lnTo>
                  <a:lnTo>
                    <a:pt x="267055" y="42862"/>
                  </a:lnTo>
                  <a:lnTo>
                    <a:pt x="269100" y="39458"/>
                  </a:lnTo>
                  <a:lnTo>
                    <a:pt x="272237" y="38214"/>
                  </a:lnTo>
                  <a:lnTo>
                    <a:pt x="274294" y="35902"/>
                  </a:lnTo>
                  <a:lnTo>
                    <a:pt x="277291" y="34810"/>
                  </a:lnTo>
                  <a:lnTo>
                    <a:pt x="283425" y="34810"/>
                  </a:lnTo>
                  <a:lnTo>
                    <a:pt x="285470" y="35902"/>
                  </a:lnTo>
                  <a:lnTo>
                    <a:pt x="288607" y="39458"/>
                  </a:lnTo>
                  <a:lnTo>
                    <a:pt x="288607" y="40538"/>
                  </a:lnTo>
                  <a:lnTo>
                    <a:pt x="289560" y="42862"/>
                  </a:lnTo>
                  <a:lnTo>
                    <a:pt x="290652" y="48742"/>
                  </a:lnTo>
                  <a:lnTo>
                    <a:pt x="290652" y="92849"/>
                  </a:lnTo>
                  <a:lnTo>
                    <a:pt x="299796" y="92849"/>
                  </a:lnTo>
                  <a:lnTo>
                    <a:pt x="299796" y="54470"/>
                  </a:lnTo>
                  <a:lnTo>
                    <a:pt x="300888" y="49822"/>
                  </a:lnTo>
                  <a:lnTo>
                    <a:pt x="301840" y="46418"/>
                  </a:lnTo>
                  <a:lnTo>
                    <a:pt x="305930" y="39458"/>
                  </a:lnTo>
                  <a:lnTo>
                    <a:pt x="307975" y="38214"/>
                  </a:lnTo>
                  <a:lnTo>
                    <a:pt x="311111" y="35902"/>
                  </a:lnTo>
                  <a:lnTo>
                    <a:pt x="313156" y="34810"/>
                  </a:lnTo>
                  <a:lnTo>
                    <a:pt x="320255" y="34810"/>
                  </a:lnTo>
                  <a:lnTo>
                    <a:pt x="321348" y="35902"/>
                  </a:lnTo>
                  <a:lnTo>
                    <a:pt x="323392" y="37134"/>
                  </a:lnTo>
                  <a:lnTo>
                    <a:pt x="324345" y="39458"/>
                  </a:lnTo>
                  <a:lnTo>
                    <a:pt x="325437" y="40538"/>
                  </a:lnTo>
                  <a:lnTo>
                    <a:pt x="325437" y="42862"/>
                  </a:lnTo>
                  <a:lnTo>
                    <a:pt x="326390" y="48742"/>
                  </a:lnTo>
                  <a:lnTo>
                    <a:pt x="326390" y="92849"/>
                  </a:lnTo>
                  <a:lnTo>
                    <a:pt x="336626" y="92849"/>
                  </a:lnTo>
                  <a:lnTo>
                    <a:pt x="336626" y="44107"/>
                  </a:lnTo>
                  <a:close/>
                </a:path>
                <a:path w="514984" h="95250">
                  <a:moveTo>
                    <a:pt x="400050" y="48742"/>
                  </a:moveTo>
                  <a:lnTo>
                    <a:pt x="399084" y="42862"/>
                  </a:lnTo>
                  <a:lnTo>
                    <a:pt x="394995" y="33578"/>
                  </a:lnTo>
                  <a:lnTo>
                    <a:pt x="391858" y="30175"/>
                  </a:lnTo>
                  <a:lnTo>
                    <a:pt x="390906" y="29438"/>
                  </a:lnTo>
                  <a:lnTo>
                    <a:pt x="390906" y="48742"/>
                  </a:lnTo>
                  <a:lnTo>
                    <a:pt x="390906" y="53390"/>
                  </a:lnTo>
                  <a:lnTo>
                    <a:pt x="359130" y="53390"/>
                  </a:lnTo>
                  <a:lnTo>
                    <a:pt x="360222" y="46418"/>
                  </a:lnTo>
                  <a:lnTo>
                    <a:pt x="362267" y="41783"/>
                  </a:lnTo>
                  <a:lnTo>
                    <a:pt x="365264" y="38214"/>
                  </a:lnTo>
                  <a:lnTo>
                    <a:pt x="368401" y="35902"/>
                  </a:lnTo>
                  <a:lnTo>
                    <a:pt x="371398" y="33578"/>
                  </a:lnTo>
                  <a:lnTo>
                    <a:pt x="378637" y="33578"/>
                  </a:lnTo>
                  <a:lnTo>
                    <a:pt x="381635" y="34810"/>
                  </a:lnTo>
                  <a:lnTo>
                    <a:pt x="383679" y="35902"/>
                  </a:lnTo>
                  <a:lnTo>
                    <a:pt x="385724" y="37134"/>
                  </a:lnTo>
                  <a:lnTo>
                    <a:pt x="387769" y="39458"/>
                  </a:lnTo>
                  <a:lnTo>
                    <a:pt x="388861" y="42862"/>
                  </a:lnTo>
                  <a:lnTo>
                    <a:pt x="389813" y="45186"/>
                  </a:lnTo>
                  <a:lnTo>
                    <a:pt x="390906" y="48742"/>
                  </a:lnTo>
                  <a:lnTo>
                    <a:pt x="390906" y="29438"/>
                  </a:lnTo>
                  <a:lnTo>
                    <a:pt x="388861" y="27851"/>
                  </a:lnTo>
                  <a:lnTo>
                    <a:pt x="384771" y="25527"/>
                  </a:lnTo>
                  <a:lnTo>
                    <a:pt x="380682" y="24295"/>
                  </a:lnTo>
                  <a:lnTo>
                    <a:pt x="368401" y="24295"/>
                  </a:lnTo>
                  <a:lnTo>
                    <a:pt x="348894" y="60350"/>
                  </a:lnTo>
                  <a:lnTo>
                    <a:pt x="349300" y="67729"/>
                  </a:lnTo>
                  <a:lnTo>
                    <a:pt x="367309" y="95173"/>
                  </a:lnTo>
                  <a:lnTo>
                    <a:pt x="381635" y="95173"/>
                  </a:lnTo>
                  <a:lnTo>
                    <a:pt x="384771" y="93929"/>
                  </a:lnTo>
                  <a:lnTo>
                    <a:pt x="388861" y="92849"/>
                  </a:lnTo>
                  <a:lnTo>
                    <a:pt x="400050" y="80010"/>
                  </a:lnTo>
                  <a:lnTo>
                    <a:pt x="400050" y="76593"/>
                  </a:lnTo>
                  <a:lnTo>
                    <a:pt x="389813" y="76593"/>
                  </a:lnTo>
                  <a:lnTo>
                    <a:pt x="389813" y="78917"/>
                  </a:lnTo>
                  <a:lnTo>
                    <a:pt x="388861" y="81241"/>
                  </a:lnTo>
                  <a:lnTo>
                    <a:pt x="386816" y="83566"/>
                  </a:lnTo>
                  <a:lnTo>
                    <a:pt x="384771" y="84645"/>
                  </a:lnTo>
                  <a:lnTo>
                    <a:pt x="381635" y="85890"/>
                  </a:lnTo>
                  <a:lnTo>
                    <a:pt x="371398" y="85890"/>
                  </a:lnTo>
                  <a:lnTo>
                    <a:pt x="367309" y="83566"/>
                  </a:lnTo>
                  <a:lnTo>
                    <a:pt x="363220" y="78917"/>
                  </a:lnTo>
                  <a:lnTo>
                    <a:pt x="360222" y="74282"/>
                  </a:lnTo>
                  <a:lnTo>
                    <a:pt x="358178" y="68402"/>
                  </a:lnTo>
                  <a:lnTo>
                    <a:pt x="358178" y="61429"/>
                  </a:lnTo>
                  <a:lnTo>
                    <a:pt x="400050" y="61429"/>
                  </a:lnTo>
                  <a:lnTo>
                    <a:pt x="400050" y="53390"/>
                  </a:lnTo>
                  <a:lnTo>
                    <a:pt x="400050" y="48742"/>
                  </a:lnTo>
                  <a:close/>
                </a:path>
                <a:path w="514984" h="95250">
                  <a:moveTo>
                    <a:pt x="462508" y="42862"/>
                  </a:moveTo>
                  <a:lnTo>
                    <a:pt x="447103" y="24295"/>
                  </a:lnTo>
                  <a:lnTo>
                    <a:pt x="438912" y="24295"/>
                  </a:lnTo>
                  <a:lnTo>
                    <a:pt x="435914" y="25527"/>
                  </a:lnTo>
                  <a:lnTo>
                    <a:pt x="433870" y="26619"/>
                  </a:lnTo>
                  <a:lnTo>
                    <a:pt x="431825" y="27851"/>
                  </a:lnTo>
                  <a:lnTo>
                    <a:pt x="429780" y="30175"/>
                  </a:lnTo>
                  <a:lnTo>
                    <a:pt x="428688" y="31254"/>
                  </a:lnTo>
                  <a:lnTo>
                    <a:pt x="424599" y="38214"/>
                  </a:lnTo>
                  <a:lnTo>
                    <a:pt x="424599" y="26619"/>
                  </a:lnTo>
                  <a:lnTo>
                    <a:pt x="414362" y="26619"/>
                  </a:lnTo>
                  <a:lnTo>
                    <a:pt x="414362" y="92849"/>
                  </a:lnTo>
                  <a:lnTo>
                    <a:pt x="424599" y="92849"/>
                  </a:lnTo>
                  <a:lnTo>
                    <a:pt x="424599" y="48742"/>
                  </a:lnTo>
                  <a:lnTo>
                    <a:pt x="426643" y="45186"/>
                  </a:lnTo>
                  <a:lnTo>
                    <a:pt x="427736" y="41783"/>
                  </a:lnTo>
                  <a:lnTo>
                    <a:pt x="429780" y="39458"/>
                  </a:lnTo>
                  <a:lnTo>
                    <a:pt x="432777" y="37134"/>
                  </a:lnTo>
                  <a:lnTo>
                    <a:pt x="435914" y="35902"/>
                  </a:lnTo>
                  <a:lnTo>
                    <a:pt x="437959" y="34810"/>
                  </a:lnTo>
                  <a:lnTo>
                    <a:pt x="443014" y="34810"/>
                  </a:lnTo>
                  <a:lnTo>
                    <a:pt x="446151" y="35902"/>
                  </a:lnTo>
                  <a:lnTo>
                    <a:pt x="448195" y="37134"/>
                  </a:lnTo>
                  <a:lnTo>
                    <a:pt x="450240" y="38214"/>
                  </a:lnTo>
                  <a:lnTo>
                    <a:pt x="451192" y="40538"/>
                  </a:lnTo>
                  <a:lnTo>
                    <a:pt x="452285" y="42862"/>
                  </a:lnTo>
                  <a:lnTo>
                    <a:pt x="452285" y="45186"/>
                  </a:lnTo>
                  <a:lnTo>
                    <a:pt x="453237" y="49822"/>
                  </a:lnTo>
                  <a:lnTo>
                    <a:pt x="453237" y="92849"/>
                  </a:lnTo>
                  <a:lnTo>
                    <a:pt x="462508" y="92849"/>
                  </a:lnTo>
                  <a:lnTo>
                    <a:pt x="462508" y="42862"/>
                  </a:lnTo>
                  <a:close/>
                </a:path>
                <a:path w="514984" h="95250">
                  <a:moveTo>
                    <a:pt x="514616" y="83566"/>
                  </a:moveTo>
                  <a:lnTo>
                    <a:pt x="510527" y="84645"/>
                  </a:lnTo>
                  <a:lnTo>
                    <a:pt x="507530" y="85890"/>
                  </a:lnTo>
                  <a:lnTo>
                    <a:pt x="500291" y="85890"/>
                  </a:lnTo>
                  <a:lnTo>
                    <a:pt x="499338" y="84645"/>
                  </a:lnTo>
                  <a:lnTo>
                    <a:pt x="497293" y="83566"/>
                  </a:lnTo>
                  <a:lnTo>
                    <a:pt x="496201" y="81241"/>
                  </a:lnTo>
                  <a:lnTo>
                    <a:pt x="495249" y="78917"/>
                  </a:lnTo>
                  <a:lnTo>
                    <a:pt x="494157" y="76593"/>
                  </a:lnTo>
                  <a:lnTo>
                    <a:pt x="494157" y="35902"/>
                  </a:lnTo>
                  <a:lnTo>
                    <a:pt x="511619" y="35902"/>
                  </a:lnTo>
                  <a:lnTo>
                    <a:pt x="511619" y="26619"/>
                  </a:lnTo>
                  <a:lnTo>
                    <a:pt x="494157" y="26619"/>
                  </a:lnTo>
                  <a:lnTo>
                    <a:pt x="494157" y="10363"/>
                  </a:lnTo>
                  <a:lnTo>
                    <a:pt x="483933" y="10363"/>
                  </a:lnTo>
                  <a:lnTo>
                    <a:pt x="483933" y="26619"/>
                  </a:lnTo>
                  <a:lnTo>
                    <a:pt x="473697" y="26619"/>
                  </a:lnTo>
                  <a:lnTo>
                    <a:pt x="473697" y="35902"/>
                  </a:lnTo>
                  <a:lnTo>
                    <a:pt x="483933" y="35902"/>
                  </a:lnTo>
                  <a:lnTo>
                    <a:pt x="483933" y="76593"/>
                  </a:lnTo>
                  <a:lnTo>
                    <a:pt x="496201" y="93929"/>
                  </a:lnTo>
                  <a:lnTo>
                    <a:pt x="499338" y="95173"/>
                  </a:lnTo>
                  <a:lnTo>
                    <a:pt x="509574" y="95173"/>
                  </a:lnTo>
                  <a:lnTo>
                    <a:pt x="514616" y="92849"/>
                  </a:lnTo>
                  <a:lnTo>
                    <a:pt x="514616" y="85890"/>
                  </a:lnTo>
                  <a:lnTo>
                    <a:pt x="514616" y="835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750471" y="3269293"/>
              <a:ext cx="1160177" cy="250862"/>
            </a:xfrm>
            <a:prstGeom prst="rect">
              <a:avLst/>
            </a:prstGeom>
          </p:spPr>
        </p:pic>
      </p:grp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7854" y="378714"/>
            <a:ext cx="59035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Selection</a:t>
            </a:r>
            <a:r>
              <a:rPr spc="-190" dirty="0"/>
              <a:t> </a:t>
            </a:r>
            <a:r>
              <a:rPr spc="-70" dirty="0"/>
              <a:t>of</a:t>
            </a:r>
            <a:r>
              <a:rPr spc="-190" dirty="0"/>
              <a:t> </a:t>
            </a:r>
            <a:r>
              <a:rPr dirty="0"/>
              <a:t>a</a:t>
            </a:r>
            <a:r>
              <a:rPr spc="-175" dirty="0"/>
              <a:t> </a:t>
            </a:r>
            <a:r>
              <a:rPr spc="-95" dirty="0"/>
              <a:t>Life</a:t>
            </a:r>
            <a:r>
              <a:rPr spc="-185" dirty="0"/>
              <a:t> </a:t>
            </a:r>
            <a:r>
              <a:rPr spc="-125" dirty="0"/>
              <a:t>Cycle</a:t>
            </a:r>
            <a:r>
              <a:rPr spc="-195" dirty="0"/>
              <a:t> </a:t>
            </a:r>
            <a:r>
              <a:rPr spc="-20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334767" y="1118616"/>
            <a:ext cx="6164580" cy="182880"/>
            <a:chOff x="2334767" y="1118616"/>
            <a:chExt cx="6164580" cy="182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4767" y="1118616"/>
              <a:ext cx="6164580" cy="1828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62199" y="1210056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12140" y="1926463"/>
            <a:ext cx="7505700" cy="2755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583565" algn="l"/>
              </a:tabLst>
            </a:pPr>
            <a:r>
              <a:rPr sz="3600" u="sng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Selection</a:t>
            </a:r>
            <a:r>
              <a:rPr sz="3600" u="sng" spc="-30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 </a:t>
            </a:r>
            <a:r>
              <a:rPr sz="3600" u="sng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of</a:t>
            </a:r>
            <a:r>
              <a:rPr sz="3600" u="sng" spc="-15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 </a:t>
            </a:r>
            <a:r>
              <a:rPr sz="3600" u="sng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a</a:t>
            </a:r>
            <a:r>
              <a:rPr sz="3600" u="sng" spc="-15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 </a:t>
            </a:r>
            <a:r>
              <a:rPr sz="3600" u="sng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model</a:t>
            </a:r>
            <a:r>
              <a:rPr sz="3600" u="sng" spc="-30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 </a:t>
            </a:r>
            <a:r>
              <a:rPr sz="3600" u="sng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is</a:t>
            </a:r>
            <a:r>
              <a:rPr sz="3600" u="sng" spc="-15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 </a:t>
            </a:r>
            <a:r>
              <a:rPr sz="3600" u="sng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based</a:t>
            </a:r>
            <a:r>
              <a:rPr sz="3600" u="sng" spc="-15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 </a:t>
            </a:r>
            <a:r>
              <a:rPr sz="3600" u="sng" spc="-25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on:</a:t>
            </a:r>
            <a:endParaRPr sz="3600">
              <a:latin typeface="Arial MT"/>
              <a:cs typeface="Arial MT"/>
            </a:endParaRPr>
          </a:p>
          <a:p>
            <a:pPr marL="1041400" lvl="1" indent="-571500">
              <a:lnSpc>
                <a:spcPct val="100000"/>
              </a:lnSpc>
              <a:buFont typeface="Wingdings"/>
              <a:buChar char=""/>
              <a:tabLst>
                <a:tab pos="1041400" algn="l"/>
              </a:tabLst>
            </a:pPr>
            <a:r>
              <a:rPr sz="3600" spc="-10" dirty="0">
                <a:solidFill>
                  <a:srgbClr val="006666"/>
                </a:solidFill>
                <a:latin typeface="Arial MT"/>
                <a:cs typeface="Arial MT"/>
              </a:rPr>
              <a:t>Requirements</a:t>
            </a:r>
            <a:endParaRPr sz="3600">
              <a:latin typeface="Arial MT"/>
              <a:cs typeface="Arial MT"/>
            </a:endParaRPr>
          </a:p>
          <a:p>
            <a:pPr marL="1041400" lvl="1" indent="-571500">
              <a:lnSpc>
                <a:spcPct val="100000"/>
              </a:lnSpc>
              <a:buFont typeface="Wingdings"/>
              <a:buChar char=""/>
              <a:tabLst>
                <a:tab pos="1041400" algn="l"/>
              </a:tabLst>
            </a:pPr>
            <a:r>
              <a:rPr sz="3600" dirty="0">
                <a:solidFill>
                  <a:srgbClr val="660066"/>
                </a:solidFill>
                <a:latin typeface="Arial MT"/>
                <a:cs typeface="Arial MT"/>
              </a:rPr>
              <a:t>Development</a:t>
            </a:r>
            <a:r>
              <a:rPr sz="3600" spc="-75" dirty="0">
                <a:solidFill>
                  <a:srgbClr val="660066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rgbClr val="660066"/>
                </a:solidFill>
                <a:latin typeface="Arial MT"/>
                <a:cs typeface="Arial MT"/>
              </a:rPr>
              <a:t>team</a:t>
            </a:r>
            <a:endParaRPr sz="3600">
              <a:latin typeface="Arial MT"/>
              <a:cs typeface="Arial MT"/>
            </a:endParaRPr>
          </a:p>
          <a:p>
            <a:pPr marL="1041400" lvl="1" indent="-571500">
              <a:lnSpc>
                <a:spcPts val="4265"/>
              </a:lnSpc>
              <a:buFont typeface="Wingdings"/>
              <a:buChar char=""/>
              <a:tabLst>
                <a:tab pos="1041400" algn="l"/>
              </a:tabLst>
            </a:pPr>
            <a:r>
              <a:rPr sz="3600" spc="-10" dirty="0">
                <a:solidFill>
                  <a:srgbClr val="3333FF"/>
                </a:solidFill>
                <a:latin typeface="Arial MT"/>
                <a:cs typeface="Arial MT"/>
              </a:rPr>
              <a:t>Users</a:t>
            </a:r>
            <a:endParaRPr sz="3600">
              <a:latin typeface="Arial MT"/>
              <a:cs typeface="Arial MT"/>
            </a:endParaRPr>
          </a:p>
          <a:p>
            <a:pPr marL="1041400" lvl="1" indent="-571500">
              <a:lnSpc>
                <a:spcPts val="4265"/>
              </a:lnSpc>
              <a:buFont typeface="Wingdings"/>
              <a:buChar char=""/>
              <a:tabLst>
                <a:tab pos="1041400" algn="l"/>
              </a:tabLst>
            </a:pPr>
            <a:r>
              <a:rPr sz="3600" dirty="0">
                <a:solidFill>
                  <a:srgbClr val="660033"/>
                </a:solidFill>
                <a:latin typeface="Arial MT"/>
                <a:cs typeface="Arial MT"/>
              </a:rPr>
              <a:t>Project</a:t>
            </a:r>
            <a:r>
              <a:rPr sz="3600" spc="-25" dirty="0">
                <a:solidFill>
                  <a:srgbClr val="660033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660033"/>
                </a:solidFill>
                <a:latin typeface="Arial MT"/>
                <a:cs typeface="Arial MT"/>
              </a:rPr>
              <a:t>type</a:t>
            </a:r>
            <a:r>
              <a:rPr sz="3600" spc="-15" dirty="0">
                <a:solidFill>
                  <a:srgbClr val="660033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660033"/>
                </a:solidFill>
                <a:latin typeface="Arial MT"/>
                <a:cs typeface="Arial MT"/>
              </a:rPr>
              <a:t>and</a:t>
            </a:r>
            <a:r>
              <a:rPr sz="3600" spc="-30" dirty="0">
                <a:solidFill>
                  <a:srgbClr val="660033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660033"/>
                </a:solidFill>
                <a:latin typeface="Arial MT"/>
                <a:cs typeface="Arial MT"/>
              </a:rPr>
              <a:t>associated</a:t>
            </a:r>
            <a:r>
              <a:rPr sz="3600" spc="-30" dirty="0">
                <a:solidFill>
                  <a:srgbClr val="660033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rgbClr val="660033"/>
                </a:solidFill>
                <a:latin typeface="Arial MT"/>
                <a:cs typeface="Arial MT"/>
              </a:rPr>
              <a:t>risk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7854" y="378714"/>
            <a:ext cx="59035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Selection</a:t>
            </a:r>
            <a:r>
              <a:rPr spc="-190" dirty="0"/>
              <a:t> </a:t>
            </a:r>
            <a:r>
              <a:rPr spc="-70" dirty="0"/>
              <a:t>of</a:t>
            </a:r>
            <a:r>
              <a:rPr spc="-190" dirty="0"/>
              <a:t> </a:t>
            </a:r>
            <a:r>
              <a:rPr dirty="0"/>
              <a:t>a</a:t>
            </a:r>
            <a:r>
              <a:rPr spc="-175" dirty="0"/>
              <a:t> </a:t>
            </a:r>
            <a:r>
              <a:rPr spc="-95" dirty="0"/>
              <a:t>Life</a:t>
            </a:r>
            <a:r>
              <a:rPr spc="-185" dirty="0"/>
              <a:t> </a:t>
            </a:r>
            <a:r>
              <a:rPr spc="-125" dirty="0"/>
              <a:t>Cycle</a:t>
            </a:r>
            <a:r>
              <a:rPr spc="-195" dirty="0"/>
              <a:t> </a:t>
            </a:r>
            <a:r>
              <a:rPr spc="-20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334767" y="1118616"/>
            <a:ext cx="6164580" cy="182880"/>
            <a:chOff x="2334767" y="1118616"/>
            <a:chExt cx="6164580" cy="182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4767" y="1118616"/>
              <a:ext cx="6164580" cy="1828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62199" y="1210056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12140" y="1926463"/>
            <a:ext cx="7505700" cy="2755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583565" algn="l"/>
              </a:tabLst>
            </a:pPr>
            <a:r>
              <a:rPr sz="3600" u="sng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Selection</a:t>
            </a:r>
            <a:r>
              <a:rPr sz="3600" u="sng" spc="-30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 </a:t>
            </a:r>
            <a:r>
              <a:rPr sz="3600" u="sng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of</a:t>
            </a:r>
            <a:r>
              <a:rPr sz="3600" u="sng" spc="-15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 </a:t>
            </a:r>
            <a:r>
              <a:rPr sz="3600" u="sng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a</a:t>
            </a:r>
            <a:r>
              <a:rPr sz="3600" u="sng" spc="-15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 </a:t>
            </a:r>
            <a:r>
              <a:rPr sz="3600" u="sng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model</a:t>
            </a:r>
            <a:r>
              <a:rPr sz="3600" u="sng" spc="-30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 </a:t>
            </a:r>
            <a:r>
              <a:rPr sz="3600" u="sng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is</a:t>
            </a:r>
            <a:r>
              <a:rPr sz="3600" u="sng" spc="-15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 </a:t>
            </a:r>
            <a:r>
              <a:rPr sz="3600" u="sng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based</a:t>
            </a:r>
            <a:r>
              <a:rPr sz="3600" u="sng" spc="-15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 </a:t>
            </a:r>
            <a:r>
              <a:rPr sz="3600" u="sng" spc="-25" dirty="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Arial MT"/>
                <a:cs typeface="Arial MT"/>
              </a:rPr>
              <a:t>on:</a:t>
            </a:r>
            <a:endParaRPr sz="3600">
              <a:latin typeface="Arial MT"/>
              <a:cs typeface="Arial MT"/>
            </a:endParaRPr>
          </a:p>
          <a:p>
            <a:pPr marL="1041400" lvl="1" indent="-571500">
              <a:lnSpc>
                <a:spcPct val="100000"/>
              </a:lnSpc>
              <a:buFont typeface="Wingdings"/>
              <a:buChar char=""/>
              <a:tabLst>
                <a:tab pos="1041400" algn="l"/>
              </a:tabLst>
            </a:pPr>
            <a:r>
              <a:rPr sz="3600" spc="-10" dirty="0">
                <a:solidFill>
                  <a:srgbClr val="006666"/>
                </a:solidFill>
                <a:latin typeface="Arial MT"/>
                <a:cs typeface="Arial MT"/>
              </a:rPr>
              <a:t>Requirements</a:t>
            </a:r>
            <a:endParaRPr sz="3600">
              <a:latin typeface="Arial MT"/>
              <a:cs typeface="Arial MT"/>
            </a:endParaRPr>
          </a:p>
          <a:p>
            <a:pPr marL="1041400" lvl="1" indent="-571500">
              <a:lnSpc>
                <a:spcPct val="100000"/>
              </a:lnSpc>
              <a:buFont typeface="Wingdings"/>
              <a:buChar char=""/>
              <a:tabLst>
                <a:tab pos="1041400" algn="l"/>
              </a:tabLst>
            </a:pPr>
            <a:r>
              <a:rPr sz="3600" dirty="0">
                <a:solidFill>
                  <a:srgbClr val="660066"/>
                </a:solidFill>
                <a:latin typeface="Arial MT"/>
                <a:cs typeface="Arial MT"/>
              </a:rPr>
              <a:t>Development</a:t>
            </a:r>
            <a:r>
              <a:rPr sz="3600" spc="-75" dirty="0">
                <a:solidFill>
                  <a:srgbClr val="660066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rgbClr val="660066"/>
                </a:solidFill>
                <a:latin typeface="Arial MT"/>
                <a:cs typeface="Arial MT"/>
              </a:rPr>
              <a:t>team</a:t>
            </a:r>
            <a:endParaRPr sz="3600">
              <a:latin typeface="Arial MT"/>
              <a:cs typeface="Arial MT"/>
            </a:endParaRPr>
          </a:p>
          <a:p>
            <a:pPr marL="1041400" lvl="1" indent="-571500">
              <a:lnSpc>
                <a:spcPts val="4265"/>
              </a:lnSpc>
              <a:buFont typeface="Wingdings"/>
              <a:buChar char=""/>
              <a:tabLst>
                <a:tab pos="1041400" algn="l"/>
              </a:tabLst>
            </a:pPr>
            <a:r>
              <a:rPr sz="3600" spc="-10" dirty="0">
                <a:solidFill>
                  <a:srgbClr val="3333FF"/>
                </a:solidFill>
                <a:latin typeface="Arial MT"/>
                <a:cs typeface="Arial MT"/>
              </a:rPr>
              <a:t>Users</a:t>
            </a:r>
            <a:endParaRPr sz="3600">
              <a:latin typeface="Arial MT"/>
              <a:cs typeface="Arial MT"/>
            </a:endParaRPr>
          </a:p>
          <a:p>
            <a:pPr marL="1041400" lvl="1" indent="-571500">
              <a:lnSpc>
                <a:spcPts val="4265"/>
              </a:lnSpc>
              <a:buFont typeface="Wingdings"/>
              <a:buChar char=""/>
              <a:tabLst>
                <a:tab pos="1041400" algn="l"/>
              </a:tabLst>
            </a:pPr>
            <a:r>
              <a:rPr sz="3600" dirty="0">
                <a:solidFill>
                  <a:srgbClr val="660033"/>
                </a:solidFill>
                <a:latin typeface="Arial MT"/>
                <a:cs typeface="Arial MT"/>
              </a:rPr>
              <a:t>Project</a:t>
            </a:r>
            <a:r>
              <a:rPr sz="3600" spc="-25" dirty="0">
                <a:solidFill>
                  <a:srgbClr val="660033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660033"/>
                </a:solidFill>
                <a:latin typeface="Arial MT"/>
                <a:cs typeface="Arial MT"/>
              </a:rPr>
              <a:t>type</a:t>
            </a:r>
            <a:r>
              <a:rPr sz="3600" spc="-15" dirty="0">
                <a:solidFill>
                  <a:srgbClr val="660033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660033"/>
                </a:solidFill>
                <a:latin typeface="Arial MT"/>
                <a:cs typeface="Arial MT"/>
              </a:rPr>
              <a:t>and</a:t>
            </a:r>
            <a:r>
              <a:rPr sz="3600" spc="-30" dirty="0">
                <a:solidFill>
                  <a:srgbClr val="660033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660033"/>
                </a:solidFill>
                <a:latin typeface="Arial MT"/>
                <a:cs typeface="Arial MT"/>
              </a:rPr>
              <a:t>associated</a:t>
            </a:r>
            <a:r>
              <a:rPr sz="3600" spc="-30" dirty="0">
                <a:solidFill>
                  <a:srgbClr val="660033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rgbClr val="660033"/>
                </a:solidFill>
                <a:latin typeface="Arial MT"/>
                <a:cs typeface="Arial MT"/>
              </a:rPr>
              <a:t>risk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2110" marR="5080" indent="-1304925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Based</a:t>
            </a:r>
            <a:r>
              <a:rPr spc="-170" dirty="0"/>
              <a:t> </a:t>
            </a:r>
            <a:r>
              <a:rPr spc="-65" dirty="0"/>
              <a:t>On</a:t>
            </a:r>
            <a:r>
              <a:rPr spc="-165" dirty="0"/>
              <a:t> </a:t>
            </a:r>
            <a:r>
              <a:rPr spc="-114" dirty="0"/>
              <a:t>Characteristics</a:t>
            </a:r>
            <a:r>
              <a:rPr spc="-200" dirty="0"/>
              <a:t> </a:t>
            </a:r>
            <a:r>
              <a:rPr spc="-25" dirty="0"/>
              <a:t>Of </a:t>
            </a:r>
            <a:r>
              <a:rPr spc="-30" dirty="0"/>
              <a:t>Requirements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334767" y="1203960"/>
            <a:ext cx="6164580" cy="182880"/>
            <a:chOff x="2334767" y="1203960"/>
            <a:chExt cx="6164580" cy="182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4767" y="1203960"/>
              <a:ext cx="6164580" cy="1828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62199" y="1295400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721" y="1599268"/>
            <a:ext cx="8113171" cy="489989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0171" y="103708"/>
            <a:ext cx="388112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3025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Based</a:t>
            </a:r>
            <a:r>
              <a:rPr spc="-195" dirty="0"/>
              <a:t> </a:t>
            </a:r>
            <a:r>
              <a:rPr spc="-65" dirty="0"/>
              <a:t>On</a:t>
            </a:r>
            <a:r>
              <a:rPr spc="-190" dirty="0"/>
              <a:t> </a:t>
            </a:r>
            <a:r>
              <a:rPr spc="-90" dirty="0"/>
              <a:t>Status</a:t>
            </a:r>
            <a:r>
              <a:rPr spc="-220" dirty="0"/>
              <a:t> </a:t>
            </a:r>
            <a:r>
              <a:rPr spc="-25" dirty="0"/>
              <a:t>Of </a:t>
            </a:r>
            <a:r>
              <a:rPr spc="-130" dirty="0"/>
              <a:t>Development </a:t>
            </a:r>
            <a:r>
              <a:rPr spc="-114" dirty="0"/>
              <a:t>Team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334767" y="1203960"/>
            <a:ext cx="6164580" cy="182880"/>
            <a:chOff x="2334767" y="1203960"/>
            <a:chExt cx="6164580" cy="182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4767" y="1203960"/>
              <a:ext cx="6164580" cy="1828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62199" y="1295400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519" y="1663506"/>
            <a:ext cx="8146654" cy="464769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0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Based</a:t>
            </a:r>
            <a:r>
              <a:rPr spc="-200" dirty="0"/>
              <a:t> </a:t>
            </a:r>
            <a:r>
              <a:rPr spc="-65" dirty="0"/>
              <a:t>On</a:t>
            </a:r>
            <a:r>
              <a:rPr spc="-185" dirty="0"/>
              <a:t> </a:t>
            </a:r>
            <a:r>
              <a:rPr spc="-95" dirty="0"/>
              <a:t>User’s</a:t>
            </a:r>
            <a:r>
              <a:rPr spc="-185" dirty="0"/>
              <a:t> </a:t>
            </a:r>
            <a:r>
              <a:rPr spc="-85" dirty="0"/>
              <a:t>Participation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334767" y="1203960"/>
            <a:ext cx="6164580" cy="182880"/>
            <a:chOff x="2334767" y="1203960"/>
            <a:chExt cx="6164580" cy="182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4767" y="1203960"/>
              <a:ext cx="6164580" cy="1828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62199" y="1295400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85900" cy="12146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414" y="1773925"/>
            <a:ext cx="8093209" cy="461353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7340" y="1856359"/>
            <a:ext cx="7721600" cy="2903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584200" algn="l"/>
              </a:tabLst>
            </a:pPr>
            <a:r>
              <a:rPr sz="4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References:</a:t>
            </a:r>
            <a:endParaRPr sz="4800" dirty="0">
              <a:latin typeface="Times New Roman"/>
              <a:cs typeface="Times New Roman"/>
            </a:endParaRPr>
          </a:p>
          <a:p>
            <a:pPr marL="984885" marR="965200" lvl="1" indent="-515620">
              <a:lnSpc>
                <a:spcPct val="100000"/>
              </a:lnSpc>
              <a:spcBef>
                <a:spcPts val="65"/>
              </a:spcBef>
              <a:buAutoNum type="arabicPeriod"/>
              <a:tabLst>
                <a:tab pos="984885" algn="l"/>
              </a:tabLst>
            </a:pP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800" b="1" spc="-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r>
              <a:rPr sz="2800" b="1" spc="-1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800" b="1" spc="-1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practitioner’s Approach</a:t>
            </a:r>
            <a:endParaRPr sz="28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800"/>
              </a:spcBef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by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Roger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S.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Pressman,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7th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edition,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McGraw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Hill,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2010.</a:t>
            </a:r>
            <a:endParaRPr sz="2000" dirty="0">
              <a:latin typeface="Times New Roman"/>
              <a:cs typeface="Times New Roman"/>
            </a:endParaRPr>
          </a:p>
          <a:p>
            <a:pPr marL="1045844" lvl="1" indent="-621665">
              <a:lnSpc>
                <a:spcPct val="100000"/>
              </a:lnSpc>
              <a:spcBef>
                <a:spcPts val="165"/>
              </a:spcBef>
              <a:buAutoNum type="arabicPeriod" startAt="2"/>
              <a:tabLst>
                <a:tab pos="1045844" algn="l"/>
              </a:tabLst>
            </a:pP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800" b="1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r>
              <a:rPr sz="2800" b="1" spc="-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by</a:t>
            </a:r>
            <a:r>
              <a:rPr sz="2800" b="1" spc="-7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Ian</a:t>
            </a:r>
            <a:r>
              <a:rPr sz="2800" b="1" spc="-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Sommerville,</a:t>
            </a:r>
            <a:endParaRPr sz="28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800"/>
              </a:spcBef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9th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edition,</a:t>
            </a:r>
            <a:r>
              <a:rPr sz="2000" spc="3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Addison-</a:t>
            </a:r>
            <a:r>
              <a:rPr sz="2000" spc="-40" dirty="0">
                <a:solidFill>
                  <a:srgbClr val="2E2B1F"/>
                </a:solidFill>
                <a:latin typeface="Times New Roman"/>
                <a:cs typeface="Times New Roman"/>
              </a:rPr>
              <a:t>Wesley,</a:t>
            </a:r>
            <a:r>
              <a:rPr sz="20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20">
                <a:solidFill>
                  <a:srgbClr val="2E2B1F"/>
                </a:solidFill>
                <a:latin typeface="Times New Roman"/>
                <a:cs typeface="Times New Roman"/>
              </a:rPr>
              <a:t>201</a:t>
            </a:r>
            <a:r>
              <a:rPr lang="en-US" sz="2000" spc="-20">
                <a:solidFill>
                  <a:srgbClr val="2E2B1F"/>
                </a:solidFill>
                <a:latin typeface="Times New Roman"/>
                <a:cs typeface="Times New Roman"/>
              </a:rPr>
              <a:t>1</a:t>
            </a:r>
            <a:endParaRPr lang="en-US" sz="2000" spc="-20" dirty="0">
              <a:solidFill>
                <a:srgbClr val="2E2B1F"/>
              </a:solidFill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" cy="145694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2718</Words>
  <Application>Microsoft Office PowerPoint</Application>
  <PresentationFormat>On-screen Show (4:3)</PresentationFormat>
  <Paragraphs>286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 MT</vt:lpstr>
      <vt:lpstr>Calibri</vt:lpstr>
      <vt:lpstr>Cambria</vt:lpstr>
      <vt:lpstr>Courier New</vt:lpstr>
      <vt:lpstr>Times New Roman</vt:lpstr>
      <vt:lpstr>Wingdings</vt:lpstr>
      <vt:lpstr>Office Theme</vt:lpstr>
      <vt:lpstr> Process Models</vt:lpstr>
      <vt:lpstr>Topics Covered</vt:lpstr>
      <vt:lpstr>Definition of Software Process</vt:lpstr>
      <vt:lpstr>What / who / why is Process Models?</vt:lpstr>
      <vt:lpstr>A Generic Process Model</vt:lpstr>
      <vt:lpstr>A Generic Process Model</vt:lpstr>
      <vt:lpstr>PowerPoint Presentation</vt:lpstr>
      <vt:lpstr>PowerPoint Presentation</vt:lpstr>
      <vt:lpstr>Process Flow</vt:lpstr>
      <vt:lpstr>Process Flow</vt:lpstr>
      <vt:lpstr>Identifying a Task Set</vt:lpstr>
      <vt:lpstr>Example of a Task Set for Small Project</vt:lpstr>
      <vt:lpstr>Example of a Task Set for a big project</vt:lpstr>
      <vt:lpstr>Process Patterns</vt:lpstr>
      <vt:lpstr>Process Patterns</vt:lpstr>
      <vt:lpstr>Process Patterns (Cont…)</vt:lpstr>
      <vt:lpstr>Software Process Model</vt:lpstr>
      <vt:lpstr>Waterfall Model</vt:lpstr>
      <vt:lpstr>Waterfall Model (Cont..)</vt:lpstr>
      <vt:lpstr>Waterfall Model (Cont..)</vt:lpstr>
      <vt:lpstr>Waterfall Model (Cont..)</vt:lpstr>
      <vt:lpstr>Waterfall Model (Cont..)</vt:lpstr>
      <vt:lpstr>The V-Model</vt:lpstr>
      <vt:lpstr>The V-Model(Cont..)</vt:lpstr>
      <vt:lpstr>The V-Model(Cont..)</vt:lpstr>
      <vt:lpstr>The V-Model(Cont..)</vt:lpstr>
      <vt:lpstr>The Incremental Model</vt:lpstr>
      <vt:lpstr>The Incremental Model(Cont..)</vt:lpstr>
      <vt:lpstr>The Spiral Model</vt:lpstr>
      <vt:lpstr>The Spiral Model(Cont..)</vt:lpstr>
      <vt:lpstr>The Spiral Model(Cont..)</vt:lpstr>
      <vt:lpstr>Concurrent Models</vt:lpstr>
      <vt:lpstr>Concurrent Model(Cont..)</vt:lpstr>
      <vt:lpstr>Concurrent Model(Cont..)</vt:lpstr>
      <vt:lpstr>Unified Process Model</vt:lpstr>
      <vt:lpstr>The Unified Process (UP)</vt:lpstr>
      <vt:lpstr>The Unified Process (UP)</vt:lpstr>
      <vt:lpstr>Selection of a Life Cycle Model</vt:lpstr>
      <vt:lpstr>Selection of a Life Cycle Model</vt:lpstr>
      <vt:lpstr>Based On Characteristics Of Requirements</vt:lpstr>
      <vt:lpstr>Based On Status Of Development Team</vt:lpstr>
      <vt:lpstr>Based On User’s Participation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 - [2010]</dc:creator>
  <cp:lastModifiedBy>Muhammad Muhtasim</cp:lastModifiedBy>
  <cp:revision>2</cp:revision>
  <dcterms:created xsi:type="dcterms:W3CDTF">2024-06-26T03:13:07Z</dcterms:created>
  <dcterms:modified xsi:type="dcterms:W3CDTF">2026-01-04T04:27:03Z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2024-06-26T00:00:00Z</vt:filetime>
  </property>
  <property fmtid="{D5CDD505-2E9C-101B-9397-08002B2CF9AE}" pid="5" name="Producer">
    <vt:lpwstr>Microsoft® PowerPoint® 2013</vt:lpwstr>
  </property>
</Properties>
</file>