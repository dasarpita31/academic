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9" r:id="rId3"/>
    <p:sldId id="350" r:id="rId4"/>
    <p:sldId id="351" r:id="rId5"/>
    <p:sldId id="352" r:id="rId6"/>
    <p:sldId id="354" r:id="rId7"/>
    <p:sldId id="374" r:id="rId8"/>
    <p:sldId id="355" r:id="rId9"/>
    <p:sldId id="356" r:id="rId10"/>
    <p:sldId id="357" r:id="rId11"/>
    <p:sldId id="375" r:id="rId12"/>
    <p:sldId id="353" r:id="rId13"/>
    <p:sldId id="360" r:id="rId14"/>
    <p:sldId id="358" r:id="rId15"/>
    <p:sldId id="359" r:id="rId16"/>
    <p:sldId id="361" r:id="rId17"/>
    <p:sldId id="363" r:id="rId18"/>
    <p:sldId id="362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3" r:id="rId28"/>
    <p:sldId id="372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2" autoAdjust="0"/>
    <p:restoredTop sz="94660"/>
  </p:normalViewPr>
  <p:slideViewPr>
    <p:cSldViewPr>
      <p:cViewPr>
        <p:scale>
          <a:sx n="88" d="100"/>
          <a:sy n="88" d="100"/>
        </p:scale>
        <p:origin x="1819" y="-1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877D1-D2AE-4155-9CCB-57EE6000A86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8616A-723F-4FA1-8D33-0E0B85814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6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9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0D4D-B973-7F04-63D0-2EFE915A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3DEB2-92E2-AEC6-B80C-CE5CC9C65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66E9E-FE9C-E89C-ECB0-48EA4190D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B87B4-05EA-D82B-0AFF-E5966BC4C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8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BFDFF-095C-40A5-AEB1-2E38C8CFFC25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B5F7E-736C-4B49-9263-31AD86CA2508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9F963-A61C-4C85-800A-76BE0FF523B3}" type="datetime1">
              <a:rPr lang="en-US" smtClean="0"/>
              <a:t>3/11/2026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6AE23-F7EE-45AE-BF92-5E21C6AB41FD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0003D-FFD4-4E6E-AAE2-F27D3E9461A1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7541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351915" cy="6858000"/>
          </a:xfrm>
          <a:custGeom>
            <a:avLst/>
            <a:gdLst/>
            <a:ahLst/>
            <a:cxnLst/>
            <a:rect l="l" t="t" r="r" b="b"/>
            <a:pathLst>
              <a:path w="1351915" h="6858000">
                <a:moveTo>
                  <a:pt x="12192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" y="6858000"/>
                </a:lnTo>
                <a:lnTo>
                  <a:pt x="1219200" y="0"/>
                </a:lnTo>
                <a:close/>
              </a:path>
              <a:path w="1351915" h="6858000">
                <a:moveTo>
                  <a:pt x="1351788" y="0"/>
                </a:moveTo>
                <a:lnTo>
                  <a:pt x="1284732" y="0"/>
                </a:lnTo>
                <a:lnTo>
                  <a:pt x="1284732" y="6858000"/>
                </a:lnTo>
                <a:lnTo>
                  <a:pt x="1351788" y="6858000"/>
                </a:lnTo>
                <a:lnTo>
                  <a:pt x="1351788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19200" y="0"/>
            <a:ext cx="66040" cy="6849109"/>
          </a:xfrm>
          <a:custGeom>
            <a:avLst/>
            <a:gdLst/>
            <a:ahLst/>
            <a:cxnLst/>
            <a:rect l="l" t="t" r="r" b="b"/>
            <a:pathLst>
              <a:path w="66040" h="6849109">
                <a:moveTo>
                  <a:pt x="0" y="6848855"/>
                </a:moveTo>
                <a:lnTo>
                  <a:pt x="65531" y="6848855"/>
                </a:lnTo>
                <a:lnTo>
                  <a:pt x="65531" y="0"/>
                </a:lnTo>
                <a:lnTo>
                  <a:pt x="0" y="0"/>
                </a:lnTo>
                <a:lnTo>
                  <a:pt x="0" y="684885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41731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35178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4990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8285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68097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61696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810511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748027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3" y="0"/>
                </a:moveTo>
                <a:lnTo>
                  <a:pt x="0" y="0"/>
                </a:lnTo>
                <a:lnTo>
                  <a:pt x="0" y="6858000"/>
                </a:lnTo>
                <a:lnTo>
                  <a:pt x="62483" y="6858000"/>
                </a:lnTo>
                <a:lnTo>
                  <a:pt x="62483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944623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87909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07721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201167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22098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142744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340864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2753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47345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40944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602992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53898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73557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67157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286969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280416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300227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2935223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3133344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306781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32659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32004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3395471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333146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352805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346405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366217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359511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379323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372770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392582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386029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405384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4" y="6858000"/>
                </a:lnTo>
                <a:lnTo>
                  <a:pt x="7010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399135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4187952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412394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43220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42565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445465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438759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458571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452018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4712208" y="0"/>
            <a:ext cx="71755" cy="6858000"/>
          </a:xfrm>
          <a:custGeom>
            <a:avLst/>
            <a:gdLst/>
            <a:ahLst/>
            <a:cxnLst/>
            <a:rect l="l" t="t" r="r" b="b"/>
            <a:pathLst>
              <a:path w="71754" h="6858000">
                <a:moveTo>
                  <a:pt x="0" y="6858000"/>
                </a:moveTo>
                <a:lnTo>
                  <a:pt x="71627" y="6858000"/>
                </a:lnTo>
                <a:lnTo>
                  <a:pt x="7162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4651247" y="0"/>
            <a:ext cx="60960" cy="6858000"/>
          </a:xfrm>
          <a:custGeom>
            <a:avLst/>
            <a:gdLst/>
            <a:ahLst/>
            <a:cxnLst/>
            <a:rect l="l" t="t" r="r" b="b"/>
            <a:pathLst>
              <a:path w="60960" h="6858000">
                <a:moveTo>
                  <a:pt x="6096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" y="6858000"/>
                </a:lnTo>
                <a:lnTo>
                  <a:pt x="6096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484632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478383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498043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491642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511454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504748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524560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5180076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5378196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0" y="6858000"/>
                </a:moveTo>
                <a:lnTo>
                  <a:pt x="64007" y="6858000"/>
                </a:lnTo>
                <a:lnTo>
                  <a:pt x="6400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53126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5504688" y="0"/>
            <a:ext cx="71755" cy="6858000"/>
          </a:xfrm>
          <a:custGeom>
            <a:avLst/>
            <a:gdLst/>
            <a:ahLst/>
            <a:cxnLst/>
            <a:rect l="l" t="t" r="r" b="b"/>
            <a:pathLst>
              <a:path w="71754" h="6858000">
                <a:moveTo>
                  <a:pt x="0" y="6858000"/>
                </a:moveTo>
                <a:lnTo>
                  <a:pt x="71627" y="6858000"/>
                </a:lnTo>
                <a:lnTo>
                  <a:pt x="7162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5442203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563880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557631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577291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570890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590702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5839967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603808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597255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617067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610514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63032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62377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643127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6368796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656539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649985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669798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663244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683056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676503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696315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689610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709421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703021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722375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7161276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5" h="6858000">
                <a:moveTo>
                  <a:pt x="62483" y="0"/>
                </a:moveTo>
                <a:lnTo>
                  <a:pt x="0" y="0"/>
                </a:lnTo>
                <a:lnTo>
                  <a:pt x="0" y="6858000"/>
                </a:lnTo>
                <a:lnTo>
                  <a:pt x="62483" y="6858000"/>
                </a:lnTo>
                <a:lnTo>
                  <a:pt x="62483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735787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729234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749045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742492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762304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7557516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775563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768858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78867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782269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8016240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795223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815035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808481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828294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821740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841552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834847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854659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848105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8674607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4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8613647" y="0"/>
            <a:ext cx="60960" cy="6858000"/>
          </a:xfrm>
          <a:custGeom>
            <a:avLst/>
            <a:gdLst/>
            <a:ahLst/>
            <a:cxnLst/>
            <a:rect l="l" t="t" r="r" b="b"/>
            <a:pathLst>
              <a:path w="60959" h="6858000">
                <a:moveTo>
                  <a:pt x="60959" y="0"/>
                </a:moveTo>
                <a:lnTo>
                  <a:pt x="0" y="0"/>
                </a:lnTo>
                <a:lnTo>
                  <a:pt x="0" y="6858000"/>
                </a:lnTo>
                <a:lnTo>
                  <a:pt x="60959" y="6858000"/>
                </a:lnTo>
                <a:lnTo>
                  <a:pt x="60959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880871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874471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894283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8877300" y="0"/>
            <a:ext cx="198120" cy="6858000"/>
          </a:xfrm>
          <a:custGeom>
            <a:avLst/>
            <a:gdLst/>
            <a:ahLst/>
            <a:cxnLst/>
            <a:rect l="l" t="t" r="r" b="b"/>
            <a:pathLst>
              <a:path w="198120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  <a:path w="198120" h="6858000">
                <a:moveTo>
                  <a:pt x="198120" y="0"/>
                </a:moveTo>
                <a:lnTo>
                  <a:pt x="132588" y="0"/>
                </a:lnTo>
                <a:lnTo>
                  <a:pt x="132588" y="6858000"/>
                </a:lnTo>
                <a:lnTo>
                  <a:pt x="198120" y="6858000"/>
                </a:lnTo>
                <a:lnTo>
                  <a:pt x="19812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812035" y="0"/>
            <a:ext cx="7332345" cy="6849109"/>
          </a:xfrm>
          <a:custGeom>
            <a:avLst/>
            <a:gdLst/>
            <a:ahLst/>
            <a:cxnLst/>
            <a:rect l="l" t="t" r="r" b="b"/>
            <a:pathLst>
              <a:path w="7332345" h="6849109">
                <a:moveTo>
                  <a:pt x="0" y="6848855"/>
                </a:moveTo>
                <a:lnTo>
                  <a:pt x="7331963" y="6848855"/>
                </a:lnTo>
                <a:lnTo>
                  <a:pt x="7331963" y="0"/>
                </a:lnTo>
                <a:lnTo>
                  <a:pt x="0" y="0"/>
                </a:lnTo>
                <a:lnTo>
                  <a:pt x="0" y="6848855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219200" y="1706879"/>
            <a:ext cx="6021705" cy="74930"/>
          </a:xfrm>
          <a:custGeom>
            <a:avLst/>
            <a:gdLst/>
            <a:ahLst/>
            <a:cxnLst/>
            <a:rect l="l" t="t" r="r" b="b"/>
            <a:pathLst>
              <a:path w="6021705" h="74930">
                <a:moveTo>
                  <a:pt x="6021324" y="0"/>
                </a:moveTo>
                <a:lnTo>
                  <a:pt x="0" y="0"/>
                </a:lnTo>
                <a:lnTo>
                  <a:pt x="0" y="74675"/>
                </a:lnTo>
                <a:lnTo>
                  <a:pt x="6021324" y="74675"/>
                </a:lnTo>
                <a:lnTo>
                  <a:pt x="6021324" y="0"/>
                </a:lnTo>
                <a:close/>
              </a:path>
            </a:pathLst>
          </a:custGeom>
          <a:solidFill>
            <a:srgbClr val="33669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1563" y="1066038"/>
            <a:ext cx="5960872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7794" y="1930349"/>
            <a:ext cx="6776720" cy="266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8F3E7-00AD-4F35-AC57-3B52B25316D1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6800" y="381000"/>
            <a:ext cx="7277734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Measurements and Metrics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34AE7-7634-0AF1-68DD-2BA7925F62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Measurements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D1538-8F62-AF3E-F602-7AA7565F0C28}"/>
              </a:ext>
            </a:extLst>
          </p:cNvPr>
          <p:cNvSpPr txBox="1"/>
          <p:nvPr/>
        </p:nvSpPr>
        <p:spPr>
          <a:xfrm>
            <a:off x="1134896" y="1919436"/>
            <a:ext cx="7315200" cy="4578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Measurement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an indicator of size, quantity, amount, or dimension of a particular attribute of a product or process.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helps the project manager and the entire software team to take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lead to successful completion of the project by generating quantity results.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measurements are of two categories: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Measures: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These include software processes like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&amp; Effort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applied,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Lines of Code (LOC)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produced,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Execution speed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the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 number of errors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reported.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Indirect Measures: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These include products like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Functionality, Quality, Complexity, Reliability, Maintainability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others.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47197-EA7C-C7B2-BFCE-97D6C47A29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0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ED6B-115C-0720-5174-1D5090DA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34A2B4-BA17-CF7A-E5BF-8F7B03AE242A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DFC3F01-6A39-B23B-69A4-90F07FCB7B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11417-86B5-C15D-2F6A-7B0C81DAD67C}"/>
              </a:ext>
            </a:extLst>
          </p:cNvPr>
          <p:cNvSpPr txBox="1"/>
          <p:nvPr/>
        </p:nvSpPr>
        <p:spPr>
          <a:xfrm>
            <a:off x="1134896" y="1919436"/>
            <a:ext cx="7315200" cy="409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Metrics provide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measures, functions, or formulas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various aspects of the software process and product.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 include measuring software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planning work items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measuring productivity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metrics are categorized into three types: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 Metrics: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Estimate the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size, complexity, quality, and reliability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software.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 Metrics: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Estimate the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fault rate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during development, patterns of testing defect arrival, and the time taken for fixed operations.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Metrics: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Estimate the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software developers, cost, scheduling, and productivity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software.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3991A-D12F-85E6-3128-AEC290B1CF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7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BE36-EE1A-65F8-219E-B65D10F2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6AE7EA-AED5-E70B-AEC7-63D57399F799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5D013D4-D883-18B9-EE26-9058CFFD6B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Measurements Principle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9ED68-53C8-2B0E-2B7D-7E26191F81F8}"/>
              </a:ext>
            </a:extLst>
          </p:cNvPr>
          <p:cNvSpPr txBox="1"/>
          <p:nvPr/>
        </p:nvSpPr>
        <p:spPr>
          <a:xfrm>
            <a:off x="1219200" y="1959637"/>
            <a:ext cx="7315200" cy="4511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process involves five key steps: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Formulation: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Deriving measures and metrics appropriate for the software representation.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mechanism used to accumulate data required for the metrics.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computation of metrics and application of mathematical tools.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Evaluating metrics to gain insight into the quality of the representation.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Feedback: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Recommendations derived from interpretation transmitted to the software team.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FF027-AD2F-4E42-298D-4D82716B54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9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854C-A37E-9648-4215-47EBD08F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9DE532-A831-3575-5F5F-7DDE93C0C630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21488DD-290B-E8C5-AA5E-8911A214F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Size Metrics: LOC (Lines of Code)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25D7A-A550-D1F1-27C1-77EE61B4BCD2}"/>
              </a:ext>
            </a:extLst>
          </p:cNvPr>
          <p:cNvSpPr txBox="1"/>
          <p:nvPr/>
        </p:nvSpPr>
        <p:spPr>
          <a:xfrm>
            <a:off x="939829" y="1828800"/>
            <a:ext cx="7764296" cy="291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Size-Oriented Metrics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focus on the size of the program created.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one of the earliest and simplest metrics for calculating program size.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used to calculate and compare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programmer productivity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 does not count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comments or blank lines.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b="1" dirty="0"/>
              <a:t>Example:</a:t>
            </a:r>
            <a:r>
              <a:rPr lang="en-US" dirty="0"/>
              <a:t>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dirty="0"/>
              <a:t>Total Line of Code (LOC) = 09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6684B75-212F-2BEB-FC50-B718751158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201C7-865D-121D-2EA1-1A3F1AE35B2D}"/>
              </a:ext>
            </a:extLst>
          </p:cNvPr>
          <p:cNvSpPr txBox="1"/>
          <p:nvPr/>
        </p:nvSpPr>
        <p:spPr>
          <a:xfrm>
            <a:off x="6248400" y="3486876"/>
            <a:ext cx="3505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= 10</a:t>
            </a:r>
          </a:p>
          <a:p>
            <a:r>
              <a:rPr lang="en-US" dirty="0"/>
              <a:t>b = 20</a:t>
            </a:r>
          </a:p>
          <a:p>
            <a:r>
              <a:rPr lang="en-US" dirty="0"/>
              <a:t>sum = a + b</a:t>
            </a:r>
          </a:p>
          <a:p>
            <a:r>
              <a:rPr lang="en-US" dirty="0"/>
              <a:t>print(sum)</a:t>
            </a:r>
          </a:p>
          <a:p>
            <a:r>
              <a:rPr lang="en-US" dirty="0"/>
              <a:t>if sum &gt; 20:</a:t>
            </a:r>
          </a:p>
          <a:p>
            <a:r>
              <a:rPr lang="en-US" dirty="0"/>
              <a:t>    print("Large")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print("Small")</a:t>
            </a:r>
          </a:p>
          <a:p>
            <a:r>
              <a:rPr lang="en-US" dirty="0"/>
              <a:t>print("Done")</a:t>
            </a:r>
          </a:p>
        </p:txBody>
      </p:sp>
    </p:spTree>
    <p:extLst>
      <p:ext uri="{BB962C8B-B14F-4D97-AF65-F5344CB8AC3E}">
        <p14:creationId xmlns:p14="http://schemas.microsoft.com/office/powerpoint/2010/main" val="399939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0829-947D-1816-FA7C-5E29217E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A4F0EC-EC4D-65DE-B859-79789E65843B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6AC53F7-7A89-9315-A3E6-FDB90416F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Size Metrics: LOC (Lines of Code)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0121E-3D57-918F-3011-03A9D8478130}"/>
              </a:ext>
            </a:extLst>
          </p:cNvPr>
          <p:cNvSpPr txBox="1"/>
          <p:nvPr/>
        </p:nvSpPr>
        <p:spPr>
          <a:xfrm>
            <a:off x="939829" y="1828800"/>
            <a:ext cx="7764296" cy="3754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Widely used in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estimation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Very easy for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estimating efforts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Disadvantages: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Cannot measure the size of the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Bad software design can lead to an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excessive number of lines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 dependent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Users cannot easily understand it.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8D232-BD73-4CE7-42A0-FF99963B39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7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5841-F378-9B19-4F12-6EF52011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0045A0-5E95-D336-EBA0-AF83D2000378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432085-053A-3F82-D290-1957A69F9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Size Metrics: LOC (Lines of Code)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EC9A1-B2D9-CAE5-31F2-4B6B9507D7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226935-EB6D-2F27-102C-6BF4CBDA3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822911"/>
              </p:ext>
            </p:extLst>
          </p:nvPr>
        </p:nvGraphicFramePr>
        <p:xfrm>
          <a:off x="1524000" y="2133600"/>
          <a:ext cx="6777038" cy="21877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85642">
                  <a:extLst>
                    <a:ext uri="{9D8B030D-6E8A-4147-A177-3AD203B41FA5}">
                      <a16:colId xmlns:a16="http://schemas.microsoft.com/office/drawing/2014/main" val="3991805731"/>
                    </a:ext>
                  </a:extLst>
                </a:gridCol>
                <a:gridCol w="1085642">
                  <a:extLst>
                    <a:ext uri="{9D8B030D-6E8A-4147-A177-3AD203B41FA5}">
                      <a16:colId xmlns:a16="http://schemas.microsoft.com/office/drawing/2014/main" val="2222805755"/>
                    </a:ext>
                  </a:extLst>
                </a:gridCol>
                <a:gridCol w="1085642">
                  <a:extLst>
                    <a:ext uri="{9D8B030D-6E8A-4147-A177-3AD203B41FA5}">
                      <a16:colId xmlns:a16="http://schemas.microsoft.com/office/drawing/2014/main" val="3914143820"/>
                    </a:ext>
                  </a:extLst>
                </a:gridCol>
                <a:gridCol w="1085642">
                  <a:extLst>
                    <a:ext uri="{9D8B030D-6E8A-4147-A177-3AD203B41FA5}">
                      <a16:colId xmlns:a16="http://schemas.microsoft.com/office/drawing/2014/main" val="1209946127"/>
                    </a:ext>
                  </a:extLst>
                </a:gridCol>
                <a:gridCol w="1085642">
                  <a:extLst>
                    <a:ext uri="{9D8B030D-6E8A-4147-A177-3AD203B41FA5}">
                      <a16:colId xmlns:a16="http://schemas.microsoft.com/office/drawing/2014/main" val="2674308121"/>
                    </a:ext>
                  </a:extLst>
                </a:gridCol>
                <a:gridCol w="1348828">
                  <a:extLst>
                    <a:ext uri="{9D8B030D-6E8A-4147-A177-3AD203B41FA5}">
                      <a16:colId xmlns:a16="http://schemas.microsoft.com/office/drawing/2014/main" val="11955414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Project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LOC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Cost $K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Efforts (Persons/ Month)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Documentation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Errors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7733" marB="67733" anchor="ctr"/>
                </a:tc>
                <a:extLst>
                  <a:ext uri="{0D108BD9-81ED-4DB2-BD59-A6C34878D82A}">
                    <a16:rowId xmlns:a16="http://schemas.microsoft.com/office/drawing/2014/main" val="2639396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A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10000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110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18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365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39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7733" marB="67733" anchor="ctr"/>
                </a:tc>
                <a:extLst>
                  <a:ext uri="{0D108BD9-81ED-4DB2-BD59-A6C34878D82A}">
                    <a16:rowId xmlns:a16="http://schemas.microsoft.com/office/drawing/2014/main" val="664181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B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12000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115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20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370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45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7733" marB="67733" anchor="ctr"/>
                </a:tc>
                <a:extLst>
                  <a:ext uri="{0D108BD9-81ED-4DB2-BD59-A6C34878D82A}">
                    <a16:rowId xmlns:a16="http://schemas.microsoft.com/office/drawing/2014/main" val="2556538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C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15400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130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25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400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67733" marB="6773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32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7733" marB="67733" anchor="ctr"/>
                </a:tc>
                <a:extLst>
                  <a:ext uri="{0D108BD9-81ED-4DB2-BD59-A6C34878D82A}">
                    <a16:rowId xmlns:a16="http://schemas.microsoft.com/office/drawing/2014/main" val="3946271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07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A339F-CA2F-2421-8829-7FC05BBC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7F16491-AF39-1D0A-FF26-F24CE56D4F47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77EF430-B801-9986-3409-AC287E74D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Size Metrics: FP (Function Point)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D6939-AF4E-ABDE-2CDA-E42AA4D2F295}"/>
              </a:ext>
            </a:extLst>
          </p:cNvPr>
          <p:cNvSpPr txBox="1"/>
          <p:nvPr/>
        </p:nvSpPr>
        <p:spPr>
          <a:xfrm>
            <a:off x="939829" y="1828800"/>
            <a:ext cx="7764296" cy="2292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Function-oriented metrics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measure the functionality the system performs, serving as a measure of system size.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is determined by counting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number and types of functions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used in the application.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BCFE78-338D-867D-E9A6-F91B6E5CEF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0C557B-5D1E-4DE3-782F-4FC414BE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769378"/>
              </p:ext>
            </p:extLst>
          </p:nvPr>
        </p:nvGraphicFramePr>
        <p:xfrm>
          <a:off x="1828800" y="3429000"/>
          <a:ext cx="6324600" cy="288171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20430">
                  <a:extLst>
                    <a:ext uri="{9D8B030D-6E8A-4147-A177-3AD203B41FA5}">
                      <a16:colId xmlns:a16="http://schemas.microsoft.com/office/drawing/2014/main" val="3489198869"/>
                    </a:ext>
                  </a:extLst>
                </a:gridCol>
                <a:gridCol w="3504170">
                  <a:extLst>
                    <a:ext uri="{9D8B030D-6E8A-4147-A177-3AD203B41FA5}">
                      <a16:colId xmlns:a16="http://schemas.microsoft.com/office/drawing/2014/main" val="1081326903"/>
                    </a:ext>
                  </a:extLst>
                </a:gridCol>
              </a:tblGrid>
              <a:tr h="3059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Measurements Parameters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35287" marT="47049" marB="4704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Examples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63517" marT="47049" marB="47049" anchor="ctr"/>
                </a:tc>
                <a:extLst>
                  <a:ext uri="{0D108BD9-81ED-4DB2-BD59-A6C34878D82A}">
                    <a16:rowId xmlns:a16="http://schemas.microsoft.com/office/drawing/2014/main" val="2537026178"/>
                  </a:ext>
                </a:extLst>
              </a:tr>
              <a:tr h="513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1. Number of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External Inputs (EI)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35287" marT="47049" marB="4704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Input screen and tables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63517" marT="47049" marB="47049" anchor="ctr"/>
                </a:tc>
                <a:extLst>
                  <a:ext uri="{0D108BD9-81ED-4DB2-BD59-A6C34878D82A}">
                    <a16:rowId xmlns:a16="http://schemas.microsoft.com/office/drawing/2014/main" val="3532722057"/>
                  </a:ext>
                </a:extLst>
              </a:tr>
              <a:tr h="513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2. Number of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External Output (EO)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35287" marT="47049" marB="4704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Output screens and reports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63517" marT="47049" marB="47049" anchor="ctr"/>
                </a:tc>
                <a:extLst>
                  <a:ext uri="{0D108BD9-81ED-4DB2-BD59-A6C34878D82A}">
                    <a16:rowId xmlns:a16="http://schemas.microsoft.com/office/drawing/2014/main" val="3307386605"/>
                  </a:ext>
                </a:extLst>
              </a:tr>
              <a:tr h="513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3. Number of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external inquiries (EQ)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35287" marT="47049" marB="4704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Prompts and interrupts.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63517" marT="47049" marB="47049" anchor="ctr"/>
                </a:tc>
                <a:extLst>
                  <a:ext uri="{0D108BD9-81ED-4DB2-BD59-A6C34878D82A}">
                    <a16:rowId xmlns:a16="http://schemas.microsoft.com/office/drawing/2014/main" val="692948298"/>
                  </a:ext>
                </a:extLst>
              </a:tr>
              <a:tr h="513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4. Number of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internal files (ILF)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35287" marT="47049" marB="4704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Databases and directories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63517" marT="47049" marB="47049" anchor="ctr"/>
                </a:tc>
                <a:extLst>
                  <a:ext uri="{0D108BD9-81ED-4DB2-BD59-A6C34878D82A}">
                    <a16:rowId xmlns:a16="http://schemas.microsoft.com/office/drawing/2014/main" val="819804469"/>
                  </a:ext>
                </a:extLst>
              </a:tr>
              <a:tr h="513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5. Number of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external interfaces (EIF)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35287" marT="47049" marB="4704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Shared databases and shared routines.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3517" marR="63517" marT="47049" marB="47049" anchor="ctr"/>
                </a:tc>
                <a:extLst>
                  <a:ext uri="{0D108BD9-81ED-4DB2-BD59-A6C34878D82A}">
                    <a16:rowId xmlns:a16="http://schemas.microsoft.com/office/drawing/2014/main" val="3583556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98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F78E-840C-2321-8F0B-D71DB088F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13C6B7-66EA-3556-4476-0B592CC067B1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3B837A9-9D32-8F8B-08F5-A99ADD116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Size Metrics: FP (Function Point)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9065A6-B2C6-9784-040D-0082A0F28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202794"/>
            <a:ext cx="5562600" cy="352445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DD8013-E199-083A-3B85-81F5295A3A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35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9C5B1-5AA4-13D4-469C-B117E88F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BB40166A-E385-BC8D-844E-692079379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Size Metrics: FP (Function Point)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76DDD-BF6D-8FAE-BB23-EC42F1E5DC3B}"/>
              </a:ext>
            </a:extLst>
          </p:cNvPr>
          <p:cNvSpPr txBox="1"/>
          <p:nvPr/>
        </p:nvSpPr>
        <p:spPr>
          <a:xfrm>
            <a:off x="1828800" y="1828800"/>
            <a:ext cx="6477000" cy="2497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Advantages: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Does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not restricted to code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and is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language independent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Disadvantages: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Ignores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quality issues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Counting is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subjective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and depends on estimation.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1FF4B1-EA5F-57C4-4E69-F2B924B858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3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68838-C011-2E1A-29CB-696FD8E9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1944D541-7339-C722-7B42-D8094890DF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Size Metrics: FP (Function Point)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1FE35FB-1492-D78A-FF38-B37AEDFAFC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C02010-7124-A093-BA89-83C68B3F2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47080"/>
              </p:ext>
            </p:extLst>
          </p:nvPr>
        </p:nvGraphicFramePr>
        <p:xfrm>
          <a:off x="460408" y="1892671"/>
          <a:ext cx="8229602" cy="4485269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136305">
                  <a:extLst>
                    <a:ext uri="{9D8B030D-6E8A-4147-A177-3AD203B41FA5}">
                      <a16:colId xmlns:a16="http://schemas.microsoft.com/office/drawing/2014/main" val="3220898400"/>
                    </a:ext>
                  </a:extLst>
                </a:gridCol>
                <a:gridCol w="1136305">
                  <a:extLst>
                    <a:ext uri="{9D8B030D-6E8A-4147-A177-3AD203B41FA5}">
                      <a16:colId xmlns:a16="http://schemas.microsoft.com/office/drawing/2014/main" val="2830852663"/>
                    </a:ext>
                  </a:extLst>
                </a:gridCol>
                <a:gridCol w="1136305">
                  <a:extLst>
                    <a:ext uri="{9D8B030D-6E8A-4147-A177-3AD203B41FA5}">
                      <a16:colId xmlns:a16="http://schemas.microsoft.com/office/drawing/2014/main" val="2308977154"/>
                    </a:ext>
                  </a:extLst>
                </a:gridCol>
                <a:gridCol w="1136305">
                  <a:extLst>
                    <a:ext uri="{9D8B030D-6E8A-4147-A177-3AD203B41FA5}">
                      <a16:colId xmlns:a16="http://schemas.microsoft.com/office/drawing/2014/main" val="732015140"/>
                    </a:ext>
                  </a:extLst>
                </a:gridCol>
                <a:gridCol w="1136305">
                  <a:extLst>
                    <a:ext uri="{9D8B030D-6E8A-4147-A177-3AD203B41FA5}">
                      <a16:colId xmlns:a16="http://schemas.microsoft.com/office/drawing/2014/main" val="2134039046"/>
                    </a:ext>
                  </a:extLst>
                </a:gridCol>
                <a:gridCol w="1136305">
                  <a:extLst>
                    <a:ext uri="{9D8B030D-6E8A-4147-A177-3AD203B41FA5}">
                      <a16:colId xmlns:a16="http://schemas.microsoft.com/office/drawing/2014/main" val="2228678539"/>
                    </a:ext>
                  </a:extLst>
                </a:gridCol>
                <a:gridCol w="1411772">
                  <a:extLst>
                    <a:ext uri="{9D8B030D-6E8A-4147-A177-3AD203B41FA5}">
                      <a16:colId xmlns:a16="http://schemas.microsoft.com/office/drawing/2014/main" val="3359650096"/>
                    </a:ext>
                  </a:extLst>
                </a:gridCol>
              </a:tblGrid>
              <a:tr h="47250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Info Domain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Optimistic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Likely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Pessim.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Est Count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Weight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FP count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1462717884"/>
                  </a:ext>
                </a:extLst>
              </a:tr>
              <a:tr h="254596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# of inputs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22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30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104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121833359"/>
                  </a:ext>
                </a:extLst>
              </a:tr>
              <a:tr h="47250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# of outputs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20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90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1345190803"/>
                  </a:ext>
                </a:extLst>
              </a:tr>
              <a:tr h="47250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# of inquiries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16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21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26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84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1421539181"/>
                  </a:ext>
                </a:extLst>
              </a:tr>
              <a:tr h="254596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# of files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50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1968398130"/>
                  </a:ext>
                </a:extLst>
              </a:tr>
              <a:tr h="69040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# of external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</a:rPr>
                        <a:t>interf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14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324243702"/>
                  </a:ext>
                </a:extLst>
              </a:tr>
              <a:tr h="908307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UFC: Unadjusted Function Count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342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217428981"/>
                  </a:ext>
                </a:extLst>
              </a:tr>
              <a:tr h="69040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Complexity adjustment factor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1.17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2139300130"/>
                  </a:ext>
                </a:extLst>
              </a:tr>
              <a:tr h="254596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FP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17322" marT="23096" marB="230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400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180" marR="31180" marT="23096" marB="23096" anchor="ctr"/>
                </a:tc>
                <a:extLst>
                  <a:ext uri="{0D108BD9-81ED-4DB2-BD59-A6C34878D82A}">
                    <a16:rowId xmlns:a16="http://schemas.microsoft.com/office/drawing/2014/main" val="3798597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39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68AC-1EB7-5F51-B872-B73DBF1D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12380D-4BB9-75F3-A9A9-911D9B8C12A1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C8E4837-D3B1-17AD-BFE8-D97198EEC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Estimation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596FE-78C6-1116-9CEA-5AE6799AC7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3B202D-91FE-321B-334A-2665F224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14600"/>
            <a:ext cx="6858000" cy="21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2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5BA9-5598-25A8-595A-2FEA018F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88B1E4-F512-FAB0-D267-847595A09CC2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7FB69B4-1F00-6EDF-17DE-CC46659094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Estimation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EB9DD-B352-5FB2-25A2-92872CE4ED9C}"/>
              </a:ext>
            </a:extLst>
          </p:cNvPr>
          <p:cNvSpPr txBox="1"/>
          <p:nvPr/>
        </p:nvSpPr>
        <p:spPr>
          <a:xfrm>
            <a:off x="939829" y="1828800"/>
            <a:ext cx="7764296" cy="5035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Effective software project estimation is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important activity in software development project.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Estimation in software engineering is a procedure that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predicts the time and budget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that required for completing a project.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Estimation requires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use of complex tools &amp; good mathematical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as well as knowledge about planning.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One of the main reasons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software programs fail is our inability to accurately estimate software size.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➤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Responsible Persons: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❑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Software Manager </a:t>
            </a: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❑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Cognizant Engineers </a:t>
            </a: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❑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Software Estimators.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BA269-8AFC-E9FA-7611-9EDF327C8C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2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41F1-2B11-11C2-F069-73CCC627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FA7A94-788F-686F-B149-8BE9B9E9153C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8B6F2FC-CF15-3EE4-4053-3F4464053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Estimation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92028-A25D-0DDD-F66F-DBE445610E88}"/>
              </a:ext>
            </a:extLst>
          </p:cNvPr>
          <p:cNvSpPr txBox="1"/>
          <p:nvPr/>
        </p:nvSpPr>
        <p:spPr>
          <a:xfrm>
            <a:off x="1524000" y="1905000"/>
            <a:ext cx="7764296" cy="3340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Key Estimation Factors: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Cost: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Ensuring sufficient funds are available at an early stage.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Time: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Estimating overall duration and individual task timing.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Size &amp; Scope: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Identifying all tasks needed to deliver the product.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Risk: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Predicting and planning for serious events during the life cycle.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Resources: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Managing people, hardware, software, and materials.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93BC8-81A2-5D9E-12DC-AFAD178EAC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ADB-2460-67BA-CFC6-9A9D8D93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B0FBEB-EC47-5DDC-96EB-B0773A83DF5E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C270308-8EC4-613B-AD59-369006F6E7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Steps of Software Project Estimation: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45576-8258-310A-C645-8234583892BE}"/>
              </a:ext>
            </a:extLst>
          </p:cNvPr>
          <p:cNvSpPr txBox="1"/>
          <p:nvPr/>
        </p:nvSpPr>
        <p:spPr>
          <a:xfrm>
            <a:off x="1752600" y="2057400"/>
            <a:ext cx="7764296" cy="165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 Project Size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 Efforts (Person per month /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hr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 Project Schedule (Month / Year)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 Project Cost (Currency / Dollars)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9502-7A88-7092-DD48-38C7588C2E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19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C0E6-3AC7-3BEE-5EE3-B1FB10AF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9941FA-4F0B-E994-4D83-30FE97A28157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9E116AE-5014-BC66-3017-E91BFE520D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Steps of Software Project Estimation: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28DEC-03F9-F9E4-7075-C3C92BFEAF03}"/>
              </a:ext>
            </a:extLst>
          </p:cNvPr>
          <p:cNvSpPr txBox="1"/>
          <p:nvPr/>
        </p:nvSpPr>
        <p:spPr>
          <a:xfrm>
            <a:off x="781251" y="1905000"/>
            <a:ext cx="7764296" cy="3453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1. Estimate Product Size (LOC &amp; FP):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is the very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first step to make an effective estimation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of the project.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Customer's requirements, SRS Document &amp; System design document used for estimating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the size of a software.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 project size can be through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similar project developed in past. This is called estimation by Analogy.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system is divided into several subsystems depending on functionality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&amp; size of each subsystem is calculated.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67297-39E8-6AB6-751C-CB728474B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D11A3-9CD3-AEC3-859E-772DDCE55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567955"/>
            <a:ext cx="2385162" cy="220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57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AF5D-9D42-ECFB-F8F5-EA83C6CF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204C19-961A-2D48-1855-E073AC4E2040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4F580A3-4AA9-48D2-E9F5-2B82A0A31F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Steps of Software Project Estimation: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87125-E5CF-53CF-B4A4-0402817E1445}"/>
              </a:ext>
            </a:extLst>
          </p:cNvPr>
          <p:cNvSpPr txBox="1"/>
          <p:nvPr/>
        </p:nvSpPr>
        <p:spPr>
          <a:xfrm>
            <a:off x="762000" y="1981200"/>
            <a:ext cx="7764296" cy="3248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2. Estimate Project Efforts: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estimation of effort can be made from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organizational specifics of SDLC.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Software development project involves Design, Coding, Testing, Writing, Reviewing documents, Implementing prototypes &amp; Deliverable it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decide overall project efforts.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project effort estimate requires you 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identify and estimate &amp; then sum up all the activities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you must perform to build a product of the estimated size.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FC729-DF1C-BCDD-9147-476F580F16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23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9622-C179-1924-8092-C56B0834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11F18C-1C6B-899A-A11F-53E01E85B64C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2EF54EC-B171-FE5E-AEEF-91E6D9BFA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Steps of Software Project Estimation: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2A816-67C5-A939-880C-4F273B4EC7D5}"/>
              </a:ext>
            </a:extLst>
          </p:cNvPr>
          <p:cNvSpPr txBox="1"/>
          <p:nvPr/>
        </p:nvSpPr>
        <p:spPr>
          <a:xfrm>
            <a:off x="838200" y="2015408"/>
            <a:ext cx="7764296" cy="2827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There are two main ways: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best way 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 effort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is based on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organization's own historical data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of development process. Suppose you have similar SDLC, Project size, Development methodology, Tools, Team with similar skills and experience for the new project.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If the project is in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different nature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which requires the organization 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adopt different strategy or different models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based on algorithmic approach. Ex. COCOMO Model.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9D3A2-C943-2D06-23A8-7A05E66FAA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270B-B803-BC26-7F02-02CAE432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142575-2629-F7B1-B0C2-A1BD4CF8F479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20B59C0-E0C6-E7C0-5768-D111C6C05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Steps of Software Project Estimation: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15E11-83D1-7F9A-23B4-0296768E3920}"/>
              </a:ext>
            </a:extLst>
          </p:cNvPr>
          <p:cNvSpPr txBox="1"/>
          <p:nvPr/>
        </p:nvSpPr>
        <p:spPr>
          <a:xfrm>
            <a:off x="838200" y="2015408"/>
            <a:ext cx="7764296" cy="387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3. Estimate Project Schedule: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involves estimating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number of people who will work on the project &amp; what they will work 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(the Work Breakdown Structure).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Also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when they will start working on project &amp; when they will finish.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Once you have this information, you need 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lay it out into a calendar schedule.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Efforts in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man-month are translated to calendar months thumb rule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is used.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parameter 3.0 is variable, used depending on the situation which works best for the organization.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773C7-6A87-D529-47E5-2C99E50F6E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21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98D80-97EF-1DDF-F156-2B3FF9F6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7CD9D6-E72C-89DC-6F17-EF6CF362F073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DA6D3C1-4972-86FA-FF13-89D392F5D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Steps of Software Project Estimation: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C23EA-1871-3522-A813-3E5256F57F6F}"/>
              </a:ext>
            </a:extLst>
          </p:cNvPr>
          <p:cNvSpPr txBox="1"/>
          <p:nvPr/>
        </p:nvSpPr>
        <p:spPr>
          <a:xfrm>
            <a:off x="838200" y="1828800"/>
            <a:ext cx="7992896" cy="5148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4. Estimate Project Cost: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cost of a project is derived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not only from the estimates of person efforts and size.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Other parameters such as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purchase hardware, software, travel for meeting, telecommunication costs (long distance phone calls, video-conferences), training, office space etc.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Exactly how you estimate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total project cost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will depend on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how your organization allocates costs.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simplest labor cost can be obtained by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multiplying the project's effort estimate (in hours) by a general labor rate ($ per hour).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 more accurate labor cost would result from using a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specific labor rate for each staff position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(e.g., Technical, QA, Project Management, Documentation, Support, etc.)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01E4-53D8-763E-4EE6-511ACB3FE3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2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9805-2127-BB74-E355-D11180F6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7B5F1A-85E0-BB1B-135A-6740E866904B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CDB20C-25CB-E813-08DA-1A3AE8488A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Decomposition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A3B41-534F-98DF-87F5-88C4D555B1F4}"/>
              </a:ext>
            </a:extLst>
          </p:cNvPr>
          <p:cNvSpPr txBox="1"/>
          <p:nvPr/>
        </p:nvSpPr>
        <p:spPr>
          <a:xfrm>
            <a:off x="914400" y="1841691"/>
            <a:ext cx="7992896" cy="4614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Software Project Estimation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is a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form of problem solving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(To estimate cost, time &amp; efforts in software project.)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Decomposition Technique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divide &amp; conquer approach of Software Project Estimation.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By decomposition a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into major functions like software engineering related activities, cost, schedule &amp; efforts estimation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can be performed in stepwise manner.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Decomposition Techniques are: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Software Sizing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Problem based Estimation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Process based Estimation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88D6D-0803-EDB2-1748-09AB102782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59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520F8-6D1E-6A3E-F570-D7D36B945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526490-2B9B-E9BF-BE24-3279D8E17E2D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4A538E-AB9C-C137-B4B3-E17DE7EF64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1. Software Sizing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FD9DC-3D3F-19B5-C014-DD18E3F7D34B}"/>
              </a:ext>
            </a:extLst>
          </p:cNvPr>
          <p:cNvSpPr txBox="1"/>
          <p:nvPr/>
        </p:nvSpPr>
        <p:spPr>
          <a:xfrm>
            <a:off x="914400" y="1841691"/>
            <a:ext cx="7992896" cy="4614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Sizing represents the project planner's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first major challenge.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accuracy of a software project estimate is predicated on a number of things: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degree to which the planner has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properly estimated the size of the product to be built.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ability 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translate the size estimate into human effort, calendar time and dollars.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degree to which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plan reflects the abilities of the software team.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stability of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product requirements &amp; environment that supports software engineering effort.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57EA1-7AC3-A2CE-6955-D0E7D78333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68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280F6-99C2-7E02-D9F9-71C29D9F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99B6E2-A300-B426-7D7F-4478ABA059C8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F900708-4469-C876-7873-7F2B32CE93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1. Software Sizing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6A49F-294C-1D24-8558-1890A00096D4}"/>
              </a:ext>
            </a:extLst>
          </p:cNvPr>
          <p:cNvSpPr txBox="1"/>
          <p:nvPr/>
        </p:nvSpPr>
        <p:spPr>
          <a:xfrm>
            <a:off x="1828800" y="2133600"/>
            <a:ext cx="7992896" cy="2497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Approaches of Software Sizing: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“Fuzzy Logic” Sizing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Function Point Sizing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Standard Component Sizing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Change Sizing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76A53-3F0B-C434-DD0E-19CE953043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64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88F8-4EC5-40C0-0DDB-D7D401308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1E3F80-B9E7-C774-9578-88011EECCED7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5185C53-2E17-BAB0-7A44-07183BF24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1. Software Sizing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C142A-AF75-67F2-399F-AB42A7453F91}"/>
              </a:ext>
            </a:extLst>
          </p:cNvPr>
          <p:cNvSpPr txBox="1"/>
          <p:nvPr/>
        </p:nvSpPr>
        <p:spPr>
          <a:xfrm>
            <a:off x="1066800" y="1966357"/>
            <a:ext cx="7992896" cy="3977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Approaches of Software Sizing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Putnam and Myers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suggest four different approaches of Software Sizing Problem: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1. “Fuzzy Logic” Sizing: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To apply this approach, the planner must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identify the type of application.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Although personal experience can be used, the planner should also have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access to historical database of projects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so that estimates can be compared to actual experience.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2. Function Point Sizing: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planner develops estimates of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information domain characteristics.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143D4-5CEE-66A0-3DE7-F129F47456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93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80C7-0C65-3FAB-8AFC-6ED4BE55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E8D37F-D357-D789-DBB5-6C54EE5E34C6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575A780-13E9-9016-DECE-7063D7EDC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1. Software Sizing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23FB6-F9C3-2492-3E33-80C632D6C4AD}"/>
              </a:ext>
            </a:extLst>
          </p:cNvPr>
          <p:cNvSpPr txBox="1"/>
          <p:nvPr/>
        </p:nvSpPr>
        <p:spPr>
          <a:xfrm>
            <a:off x="643648" y="1905000"/>
            <a:ext cx="8229600" cy="5251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3. Standard Component Sizing: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Standard components for an information system are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subsystems, modules, screens, reports, interactive programs, batch programs, files, LOC and object-level instructions.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Uses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historical project data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to determine the delivered size per standard component.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4. Change Sizing: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This approach is used when a project encompasses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use of existing software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that must be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modified in some way as part of a project.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planner estimates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reuse, adding code, changing code, deleting code of modifications that must be accomplished.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Using an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“effort ratio”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for each type of change, the size of the change may be estimated.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7E0E7-0E8C-2538-427A-540B98FCC6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46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2173-C4E9-C686-5BD9-2D9C7530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965B0F-AD6D-6000-2BB2-BD2BCF314C61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6FCE4F2-E1BF-B1B9-3517-6C57D5A4E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2. Problem based Estimation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02812-8693-78BA-3C3E-DE5895481EB5}"/>
              </a:ext>
            </a:extLst>
          </p:cNvPr>
          <p:cNvSpPr txBox="1"/>
          <p:nvPr/>
        </p:nvSpPr>
        <p:spPr>
          <a:xfrm>
            <a:off x="643648" y="1905000"/>
            <a:ext cx="8229600" cy="4929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Lines of code and function points were described as measures from which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productivity metrics can be computed.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(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LOC/pm &amp; FP/pm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LOC and FP data are used in two ways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during software project estimation: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As an estimation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variable to "size" each element of the software.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As baseline metrics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collected from past projects and used in conjunction with estimation variables to develop cost and effort projections.</a:t>
            </a:r>
          </a:p>
          <a:p>
            <a:r>
              <a:rPr lang="en-US" dirty="0"/>
              <a:t>A three-point or expected value can be computed using the following formula:</a:t>
            </a:r>
          </a:p>
          <a:p>
            <a:r>
              <a:rPr lang="en-US" b="1" dirty="0"/>
              <a:t>                            </a:t>
            </a:r>
          </a:p>
          <a:p>
            <a:r>
              <a:rPr lang="en-US" b="1" dirty="0"/>
              <a:t>                                      S = (sₒₚₜ + 4sₘ + sₚₑₛₛ) / 6</a:t>
            </a:r>
            <a:endParaRPr lang="en-US" dirty="0"/>
          </a:p>
          <a:p>
            <a:r>
              <a:rPr lang="en-US" dirty="0"/>
              <a:t>Where:</a:t>
            </a:r>
          </a:p>
          <a:p>
            <a:pPr lvl="0"/>
            <a:r>
              <a:rPr lang="en-US" b="1" dirty="0"/>
              <a:t>S</a:t>
            </a:r>
            <a:r>
              <a:rPr lang="en-US" dirty="0"/>
              <a:t> = expected value for the estimation variable (size)</a:t>
            </a:r>
          </a:p>
          <a:p>
            <a:pPr lvl="0"/>
            <a:r>
              <a:rPr lang="en-US" b="1" dirty="0"/>
              <a:t>sₒₚₜ</a:t>
            </a:r>
            <a:r>
              <a:rPr lang="en-US" dirty="0"/>
              <a:t> = optimistic value</a:t>
            </a:r>
          </a:p>
          <a:p>
            <a:pPr lvl="0"/>
            <a:r>
              <a:rPr lang="en-US" b="1" dirty="0"/>
              <a:t>sₘ</a:t>
            </a:r>
            <a:r>
              <a:rPr lang="en-US" dirty="0"/>
              <a:t> = most likely value</a:t>
            </a:r>
          </a:p>
          <a:p>
            <a:pPr lvl="0"/>
            <a:r>
              <a:rPr lang="en-US" b="1" dirty="0"/>
              <a:t>sₚₑₛₛ</a:t>
            </a:r>
            <a:r>
              <a:rPr lang="en-US" dirty="0"/>
              <a:t> = pessimistic value.</a:t>
            </a:r>
          </a:p>
          <a:p>
            <a:pPr marR="0" lvl="1">
              <a:lnSpc>
                <a:spcPct val="115000"/>
              </a:lnSpc>
              <a:spcAft>
                <a:spcPts val="800"/>
              </a:spcAft>
              <a:tabLst>
                <a:tab pos="914400" algn="l"/>
              </a:tabLst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E465D-1C9A-3769-463E-8446C46EB8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24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891D-5CFA-5F95-4FB8-E9A73424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47B7E7-763D-688F-0610-807993D5F203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C29B97F-29A0-8544-7C93-FA56E711B6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Examples of LOC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715CE-DE60-33A2-2780-954839EA99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29A8C9-6966-64A1-D128-11F6CA6C1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48" y="2264930"/>
            <a:ext cx="8077200" cy="370273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33112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524E-598C-42F8-44A8-EB26FBE0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BEF591-E36D-F88B-5482-889DEF327D80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EAF5FE6-47B3-8D5C-CFD8-9CE6EFD34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9144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3. Process based Estimation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CA2FC1-E5C1-D195-D621-65612057FBA1}"/>
              </a:ext>
            </a:extLst>
          </p:cNvPr>
          <p:cNvSpPr txBox="1"/>
          <p:nvPr/>
        </p:nvSpPr>
        <p:spPr>
          <a:xfrm>
            <a:off x="762000" y="1917762"/>
            <a:ext cx="8229600" cy="4929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Most common technique for estimating project is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to estimate on the process that will be used.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process is decomposed into a relatively small set of tasks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and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effort required to accomplish each task is estimated.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Once problem functions &amp; process activities are decided, the planner estimates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effort (e.g., person-months) that will be required to accomplish each software process activity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for each software function.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Average labor rates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(cost/unit effort) are then applied to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effort estimated for each process activity.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is very likely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labor rate will vary for each task.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Senior staff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heavily involved in early activities are generally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more expensive than junior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5194F-63F3-F667-46AB-E51B484197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07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66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1767</TotalTime>
  <Words>2130</Words>
  <Application>Microsoft Office PowerPoint</Application>
  <PresentationFormat>On-screen Show (4:3)</PresentationFormat>
  <Paragraphs>325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Arial MT</vt:lpstr>
      <vt:lpstr>Calibri</vt:lpstr>
      <vt:lpstr>Google Sans Text</vt:lpstr>
      <vt:lpstr>Segoe UI Symbol</vt:lpstr>
      <vt:lpstr>Symbol</vt:lpstr>
      <vt:lpstr>Times New Roman</vt:lpstr>
      <vt:lpstr>Wingdings</vt:lpstr>
      <vt:lpstr>Office Theme</vt:lpstr>
      <vt:lpstr>Software Measurements and Metrics</vt:lpstr>
      <vt:lpstr>Software Measurements</vt:lpstr>
      <vt:lpstr>Software Metrics</vt:lpstr>
      <vt:lpstr>Software Measurements Principle</vt:lpstr>
      <vt:lpstr>Size Metrics: LOC (Lines of Code)</vt:lpstr>
      <vt:lpstr>Size Metrics: LOC (Lines of Code)</vt:lpstr>
      <vt:lpstr>Size Metrics: LOC (Lines of Code)</vt:lpstr>
      <vt:lpstr>Size Metrics: FP (Function Point)</vt:lpstr>
      <vt:lpstr>Size Metrics: FP (Function Point)</vt:lpstr>
      <vt:lpstr>Size Metrics: FP (Function Point)</vt:lpstr>
      <vt:lpstr>Size Metrics: FP (Function Point)</vt:lpstr>
      <vt:lpstr>Software Project Estimation</vt:lpstr>
      <vt:lpstr>Software Project Estimation</vt:lpstr>
      <vt:lpstr>Software Project Estimation</vt:lpstr>
      <vt:lpstr>Steps of Software Project Estimation: </vt:lpstr>
      <vt:lpstr>Steps of Software Project Estimation: </vt:lpstr>
      <vt:lpstr>Steps of Software Project Estimation: </vt:lpstr>
      <vt:lpstr>Steps of Software Project Estimation: </vt:lpstr>
      <vt:lpstr>Steps of Software Project Estimation: </vt:lpstr>
      <vt:lpstr>Steps of Software Project Estimation: </vt:lpstr>
      <vt:lpstr>Decomposition Techniques</vt:lpstr>
      <vt:lpstr>1. Software Sizing</vt:lpstr>
      <vt:lpstr>1. Software Sizing</vt:lpstr>
      <vt:lpstr>1. Software Sizing</vt:lpstr>
      <vt:lpstr>1. Software Sizing</vt:lpstr>
      <vt:lpstr>2. Problem based Estimation</vt:lpstr>
      <vt:lpstr>Examples of LOC</vt:lpstr>
      <vt:lpstr>3. Process based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Set to accompany Web Engineering: A Practitioner Approach</dc:title>
  <dc:creator>Roger Pressman</dc:creator>
  <cp:lastModifiedBy>Muhammad Muhtasim</cp:lastModifiedBy>
  <cp:revision>27</cp:revision>
  <dcterms:created xsi:type="dcterms:W3CDTF">2024-01-10T11:24:42Z</dcterms:created>
  <dcterms:modified xsi:type="dcterms:W3CDTF">2026-03-11T16:31:11Z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2024-01-10T00:00:00Z</vt:filetime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SetDate">
    <vt:lpwstr>2024-01-10T11:25:39Z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iteId">
    <vt:lpwstr>62a14c85-6502-4d92-8cf6-05c3ba33adfe</vt:lpwstr>
  </property>
  <property fmtid="{D5CDD505-2E9C-101B-9397-08002B2CF9AE}" pid="10" name="MSIP_Label_defa4170-0d19-0005-0004-bc88714345d2_ActionId">
    <vt:lpwstr>c0d6c09e-7602-446e-9f8f-00260b449c1d</vt:lpwstr>
  </property>
  <property fmtid="{D5CDD505-2E9C-101B-9397-08002B2CF9AE}" pid="11" name="MSIP_Label_defa4170-0d19-0005-0004-bc88714345d2_ContentBits">
    <vt:lpwstr>0</vt:lpwstr>
  </property>
</Properties>
</file>