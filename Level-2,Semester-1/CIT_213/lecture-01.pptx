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5" r:id="rId5"/>
    <p:sldId id="259" r:id="rId6"/>
    <p:sldId id="260" r:id="rId7"/>
    <p:sldId id="283" r:id="rId8"/>
    <p:sldId id="284" r:id="rId9"/>
    <p:sldId id="261" r:id="rId10"/>
    <p:sldId id="262" r:id="rId11"/>
    <p:sldId id="263" r:id="rId12"/>
    <p:sldId id="265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6" r:id="rId27"/>
    <p:sldId id="282" r:id="rId2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731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58200" y="0"/>
            <a:ext cx="685800" cy="6858000"/>
          </a:xfrm>
          <a:custGeom>
            <a:avLst/>
            <a:gdLst/>
            <a:ahLst/>
            <a:cxnLst/>
            <a:rect l="l" t="t" r="r" b="b"/>
            <a:pathLst>
              <a:path w="685800" h="6858000">
                <a:moveTo>
                  <a:pt x="685800" y="6172200"/>
                </a:moveTo>
                <a:lnTo>
                  <a:pt x="0" y="6172200"/>
                </a:lnTo>
                <a:lnTo>
                  <a:pt x="0" y="6858000"/>
                </a:lnTo>
                <a:lnTo>
                  <a:pt x="685800" y="6858000"/>
                </a:lnTo>
                <a:lnTo>
                  <a:pt x="685800" y="6172200"/>
                </a:lnTo>
                <a:close/>
              </a:path>
              <a:path w="685800" h="6858000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67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58200" y="5486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A9A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458200" y="0"/>
            <a:ext cx="685800" cy="6858000"/>
          </a:xfrm>
          <a:custGeom>
            <a:avLst/>
            <a:gdLst/>
            <a:ahLst/>
            <a:cxnLst/>
            <a:rect l="l" t="t" r="r" b="b"/>
            <a:pathLst>
              <a:path w="685800" h="6858000">
                <a:moveTo>
                  <a:pt x="685800" y="6172200"/>
                </a:moveTo>
                <a:lnTo>
                  <a:pt x="0" y="6172200"/>
                </a:lnTo>
                <a:lnTo>
                  <a:pt x="0" y="6858000"/>
                </a:lnTo>
                <a:lnTo>
                  <a:pt x="685800" y="6858000"/>
                </a:lnTo>
                <a:lnTo>
                  <a:pt x="685800" y="6172200"/>
                </a:lnTo>
                <a:close/>
              </a:path>
              <a:path w="685800" h="6858000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675E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58200" y="54864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A9A4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7387" y="504266"/>
            <a:ext cx="7269225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675E4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6440" y="1685202"/>
            <a:ext cx="7595870" cy="3898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006FC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53271" y="5740247"/>
            <a:ext cx="308609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980" y="2163267"/>
            <a:ext cx="51911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0960" marR="5080" indent="-1318895">
              <a:lnSpc>
                <a:spcPct val="100000"/>
              </a:lnSpc>
              <a:spcBef>
                <a:spcPts val="95"/>
              </a:spcBef>
            </a:pPr>
            <a:r>
              <a:rPr sz="4000" spc="-100" dirty="0">
                <a:solidFill>
                  <a:srgbClr val="001F5F"/>
                </a:solidFill>
                <a:latin typeface="Times New Roman"/>
                <a:cs typeface="Times New Roman"/>
              </a:rPr>
              <a:t>1</a:t>
            </a:r>
            <a:r>
              <a:rPr sz="4000" spc="-5" dirty="0">
                <a:solidFill>
                  <a:srgbClr val="001F5F"/>
                </a:solidFill>
                <a:latin typeface="Times New Roman"/>
                <a:cs typeface="Times New Roman"/>
              </a:rPr>
              <a:t>.</a:t>
            </a:r>
            <a:r>
              <a:rPr sz="4000" spc="-2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spc="-105" dirty="0">
                <a:solidFill>
                  <a:srgbClr val="001F5F"/>
                </a:solidFill>
                <a:latin typeface="Times New Roman"/>
                <a:cs typeface="Times New Roman"/>
              </a:rPr>
              <a:t>S</a:t>
            </a:r>
            <a:r>
              <a:rPr sz="4000" spc="-100" dirty="0">
                <a:solidFill>
                  <a:srgbClr val="001F5F"/>
                </a:solidFill>
                <a:latin typeface="Times New Roman"/>
                <a:cs typeface="Times New Roman"/>
              </a:rPr>
              <a:t>o</a:t>
            </a:r>
            <a:r>
              <a:rPr sz="4000" spc="-105" dirty="0">
                <a:solidFill>
                  <a:srgbClr val="001F5F"/>
                </a:solidFill>
                <a:latin typeface="Times New Roman"/>
                <a:cs typeface="Times New Roman"/>
              </a:rPr>
              <a:t>ft</a:t>
            </a:r>
            <a:r>
              <a:rPr sz="4000" spc="-110" dirty="0">
                <a:solidFill>
                  <a:srgbClr val="001F5F"/>
                </a:solidFill>
                <a:latin typeface="Times New Roman"/>
                <a:cs typeface="Times New Roman"/>
              </a:rPr>
              <a:t>w</a:t>
            </a:r>
            <a:r>
              <a:rPr sz="4000" spc="-100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4000" spc="-175" dirty="0">
                <a:solidFill>
                  <a:srgbClr val="001F5F"/>
                </a:solidFill>
                <a:latin typeface="Times New Roman"/>
                <a:cs typeface="Times New Roman"/>
              </a:rPr>
              <a:t>r</a:t>
            </a:r>
            <a:r>
              <a:rPr sz="4000" spc="-5" dirty="0">
                <a:solidFill>
                  <a:srgbClr val="001F5F"/>
                </a:solidFill>
                <a:latin typeface="Times New Roman"/>
                <a:cs typeface="Times New Roman"/>
              </a:rPr>
              <a:t>e</a:t>
            </a:r>
            <a:r>
              <a:rPr sz="4000" spc="-21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spc="-100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4000" spc="-105" dirty="0">
                <a:solidFill>
                  <a:srgbClr val="001F5F"/>
                </a:solidFill>
                <a:latin typeface="Times New Roman"/>
                <a:cs typeface="Times New Roman"/>
              </a:rPr>
              <a:t>n</a:t>
            </a:r>
            <a:r>
              <a:rPr sz="4000" spc="-5" dirty="0">
                <a:solidFill>
                  <a:srgbClr val="001F5F"/>
                </a:solidFill>
                <a:latin typeface="Times New Roman"/>
                <a:cs typeface="Times New Roman"/>
              </a:rPr>
              <a:t>d</a:t>
            </a:r>
            <a:r>
              <a:rPr sz="4000" spc="-2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4000" spc="-105" dirty="0">
                <a:solidFill>
                  <a:srgbClr val="001F5F"/>
                </a:solidFill>
                <a:latin typeface="Times New Roman"/>
                <a:cs typeface="Times New Roman"/>
              </a:rPr>
              <a:t>S</a:t>
            </a:r>
            <a:r>
              <a:rPr sz="4000" spc="-100" dirty="0">
                <a:solidFill>
                  <a:srgbClr val="001F5F"/>
                </a:solidFill>
                <a:latin typeface="Times New Roman"/>
                <a:cs typeface="Times New Roman"/>
              </a:rPr>
              <a:t>o</a:t>
            </a:r>
            <a:r>
              <a:rPr sz="4000" spc="-105" dirty="0">
                <a:solidFill>
                  <a:srgbClr val="001F5F"/>
                </a:solidFill>
                <a:latin typeface="Times New Roman"/>
                <a:cs typeface="Times New Roman"/>
              </a:rPr>
              <a:t>ft</a:t>
            </a:r>
            <a:r>
              <a:rPr sz="4000" spc="-110" dirty="0">
                <a:solidFill>
                  <a:srgbClr val="001F5F"/>
                </a:solidFill>
                <a:latin typeface="Times New Roman"/>
                <a:cs typeface="Times New Roman"/>
              </a:rPr>
              <a:t>w</a:t>
            </a:r>
            <a:r>
              <a:rPr sz="4000" spc="-100" dirty="0">
                <a:solidFill>
                  <a:srgbClr val="001F5F"/>
                </a:solidFill>
                <a:latin typeface="Times New Roman"/>
                <a:cs typeface="Times New Roman"/>
              </a:rPr>
              <a:t>a</a:t>
            </a:r>
            <a:r>
              <a:rPr sz="4000" spc="-175" dirty="0">
                <a:solidFill>
                  <a:srgbClr val="001F5F"/>
                </a:solidFill>
                <a:latin typeface="Times New Roman"/>
                <a:cs typeface="Times New Roman"/>
              </a:rPr>
              <a:t>r</a:t>
            </a:r>
            <a:r>
              <a:rPr sz="4000" spc="-5" dirty="0">
                <a:solidFill>
                  <a:srgbClr val="001F5F"/>
                </a:solidFill>
                <a:latin typeface="Times New Roman"/>
                <a:cs typeface="Times New Roman"/>
              </a:rPr>
              <a:t>e  </a:t>
            </a:r>
            <a:r>
              <a:rPr sz="4000" spc="-95" dirty="0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  <a:endParaRPr sz="4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0268" y="3377184"/>
            <a:ext cx="7612380" cy="182880"/>
            <a:chOff x="620268" y="3377184"/>
            <a:chExt cx="7612380" cy="1828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0268" y="3377184"/>
              <a:ext cx="7612380" cy="1828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7700" y="3468624"/>
              <a:ext cx="7467600" cy="0"/>
            </a:xfrm>
            <a:custGeom>
              <a:avLst/>
              <a:gdLst/>
              <a:ahLst/>
              <a:cxnLst/>
              <a:rect l="l" t="t" r="r" b="b"/>
              <a:pathLst>
                <a:path w="7467600">
                  <a:moveTo>
                    <a:pt x="0" y="0"/>
                  </a:moveTo>
                  <a:lnTo>
                    <a:pt x="7467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13433" y="1439544"/>
            <a:ext cx="4554220" cy="4635500"/>
          </a:xfrm>
          <a:prstGeom prst="rect">
            <a:avLst/>
          </a:prstGeom>
        </p:spPr>
        <p:txBody>
          <a:bodyPr vert="horz" wrap="square" lIns="0" tIns="159385" rIns="0" bIns="0" rtlCol="0">
            <a:spAutoFit/>
          </a:bodyPr>
          <a:lstStyle/>
          <a:p>
            <a:pPr marL="284480" indent="-272415">
              <a:lnSpc>
                <a:spcPct val="100000"/>
              </a:lnSpc>
              <a:spcBef>
                <a:spcPts val="1255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Appreciate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5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Nature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0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f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twa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</a:t>
            </a:r>
            <a:r>
              <a:rPr sz="2400" spc="-1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Applicat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i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ons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5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Legacy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0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Quality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5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Quality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Stakeholders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0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-1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Layered</a:t>
            </a:r>
            <a:r>
              <a:rPr sz="2400" spc="-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5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endParaRPr sz="2400">
              <a:latin typeface="Times New Roman"/>
              <a:cs typeface="Times New Roman"/>
            </a:endParaRPr>
          </a:p>
          <a:p>
            <a:pPr marL="284480" indent="-272415">
              <a:lnSpc>
                <a:spcPct val="100000"/>
              </a:lnSpc>
              <a:spcBef>
                <a:spcPts val="1150"/>
              </a:spcBef>
              <a:buClr>
                <a:srgbClr val="D2CA6C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Myths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736583" y="56830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801367" y="1280160"/>
            <a:ext cx="6715125" cy="182880"/>
            <a:chOff x="1801367" y="1280160"/>
            <a:chExt cx="6715125" cy="18288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1367" y="1280160"/>
              <a:ext cx="6714744" cy="18287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828799" y="1371600"/>
              <a:ext cx="6570345" cy="0"/>
            </a:xfrm>
            <a:custGeom>
              <a:avLst/>
              <a:gdLst/>
              <a:ahLst/>
              <a:cxnLst/>
              <a:rect l="l" t="t" r="r" b="b"/>
              <a:pathLst>
                <a:path w="6570345">
                  <a:moveTo>
                    <a:pt x="0" y="0"/>
                  </a:moveTo>
                  <a:lnTo>
                    <a:pt x="6570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517394" y="451180"/>
            <a:ext cx="3823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6FC0"/>
                </a:solidFill>
                <a:latin typeface="Times New Roman"/>
                <a:cs typeface="Times New Roman"/>
              </a:rPr>
              <a:t>Discussion</a:t>
            </a:r>
            <a:r>
              <a:rPr sz="4000" spc="-14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4000" spc="-65" dirty="0">
                <a:solidFill>
                  <a:srgbClr val="006FC0"/>
                </a:solidFill>
                <a:latin typeface="Times New Roman"/>
                <a:cs typeface="Times New Roman"/>
              </a:rPr>
              <a:t>Topics</a:t>
            </a:r>
            <a:endParaRPr sz="4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88029" y="472262"/>
            <a:ext cx="39897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W</a:t>
            </a:r>
            <a:r>
              <a:rPr sz="4000" spc="-100" dirty="0"/>
              <a:t>h</a:t>
            </a:r>
            <a:r>
              <a:rPr sz="4000" spc="-110" dirty="0"/>
              <a:t>a</a:t>
            </a:r>
            <a:r>
              <a:rPr sz="4000" spc="-5" dirty="0"/>
              <a:t>t</a:t>
            </a:r>
            <a:r>
              <a:rPr sz="4000" spc="-210" dirty="0"/>
              <a:t> </a:t>
            </a:r>
            <a:r>
              <a:rPr sz="4000" spc="-100" dirty="0"/>
              <a:t>i</a:t>
            </a:r>
            <a:r>
              <a:rPr sz="4000" spc="-5" dirty="0"/>
              <a:t>s</a:t>
            </a:r>
            <a:r>
              <a:rPr sz="4000" spc="-204" dirty="0"/>
              <a:t> </a:t>
            </a:r>
            <a:r>
              <a:rPr sz="4000" spc="-80" dirty="0"/>
              <a:t>S</a:t>
            </a:r>
            <a:r>
              <a:rPr sz="4000" spc="-100" dirty="0"/>
              <a:t>oft</a:t>
            </a:r>
            <a:r>
              <a:rPr sz="4000" spc="-175" dirty="0"/>
              <a:t>w</a:t>
            </a:r>
            <a:r>
              <a:rPr sz="4000" spc="-110" dirty="0"/>
              <a:t>a</a:t>
            </a:r>
            <a:r>
              <a:rPr sz="4000" spc="-160" dirty="0"/>
              <a:t>r</a:t>
            </a:r>
            <a:r>
              <a:rPr sz="4000" spc="-100" dirty="0"/>
              <a:t>e</a:t>
            </a:r>
            <a:r>
              <a:rPr sz="4000" spc="-5" dirty="0"/>
              <a:t>?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9425" y="1280160"/>
            <a:ext cx="7350125" cy="2823850"/>
          </a:xfrm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329565" indent="-317500" algn="just">
              <a:lnSpc>
                <a:spcPct val="100000"/>
              </a:lnSpc>
              <a:spcBef>
                <a:spcPts val="1800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30200" algn="l"/>
              </a:tabLst>
            </a:pPr>
            <a:r>
              <a:rPr sz="28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lang="en-US"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 is a collection of programs and associated components that make a computer operate and perform specific tasks. It includes:</a:t>
            </a:r>
            <a:endParaRPr sz="2800" dirty="0">
              <a:latin typeface="Times New Roman"/>
              <a:cs typeface="Times New Roman"/>
            </a:endParaRPr>
          </a:p>
          <a:p>
            <a:pPr marL="904240" marR="5080" lvl="1" indent="-228600" algn="just">
              <a:lnSpc>
                <a:spcPct val="100000"/>
              </a:lnSpc>
              <a:spcBef>
                <a:spcPts val="1455"/>
              </a:spcBef>
              <a:buClr>
                <a:srgbClr val="D2CA6C"/>
              </a:buClr>
              <a:buFont typeface="Wingdings"/>
              <a:buChar char=""/>
              <a:tabLst>
                <a:tab pos="904875" algn="l"/>
              </a:tabLst>
            </a:pPr>
            <a:r>
              <a:rPr sz="24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Instructions</a:t>
            </a:r>
            <a:r>
              <a:rPr sz="2400" i="1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(computer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programs)</a:t>
            </a:r>
            <a:r>
              <a:rPr sz="24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400" i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when </a:t>
            </a:r>
            <a:r>
              <a:rPr sz="2400" i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executed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provide</a:t>
            </a:r>
            <a:r>
              <a:rPr sz="24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desired</a:t>
            </a:r>
            <a:r>
              <a:rPr sz="24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features,</a:t>
            </a:r>
            <a:r>
              <a:rPr sz="24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function,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 and </a:t>
            </a:r>
            <a:r>
              <a:rPr sz="2400" i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performance;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9042" y="4104010"/>
            <a:ext cx="66859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D2CA6C"/>
              </a:buClr>
              <a:buFont typeface="Wingdings"/>
              <a:buChar char=""/>
              <a:tabLst>
                <a:tab pos="241300" algn="l"/>
                <a:tab pos="1108075" algn="l"/>
                <a:tab pos="2574290" algn="l"/>
                <a:tab pos="3304540" algn="l"/>
                <a:tab pos="4373245" algn="l"/>
                <a:tab pos="5002530" algn="l"/>
                <a:tab pos="6433820" algn="l"/>
              </a:tabLst>
            </a:pPr>
            <a:r>
              <a:rPr sz="2400" i="1" spc="-10" dirty="0">
                <a:solidFill>
                  <a:srgbClr val="849A09"/>
                </a:solidFill>
                <a:latin typeface="Times New Roman"/>
                <a:cs typeface="Times New Roman"/>
              </a:rPr>
              <a:t>D</a:t>
            </a:r>
            <a:r>
              <a:rPr sz="2400" i="1" dirty="0">
                <a:solidFill>
                  <a:srgbClr val="849A09"/>
                </a:solidFill>
                <a:latin typeface="Times New Roman"/>
                <a:cs typeface="Times New Roman"/>
              </a:rPr>
              <a:t>ata	structu</a:t>
            </a:r>
            <a:r>
              <a:rPr sz="2400" i="1" spc="-100" dirty="0">
                <a:solidFill>
                  <a:srgbClr val="849A09"/>
                </a:solidFill>
                <a:latin typeface="Times New Roman"/>
                <a:cs typeface="Times New Roman"/>
              </a:rPr>
              <a:t>r</a:t>
            </a:r>
            <a:r>
              <a:rPr sz="2400" i="1" dirty="0">
                <a:solidFill>
                  <a:srgbClr val="849A09"/>
                </a:solidFill>
                <a:latin typeface="Times New Roman"/>
                <a:cs typeface="Times New Roman"/>
              </a:rPr>
              <a:t>es	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th</a:t>
            </a:r>
            <a:r>
              <a:rPr sz="24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t	ena</a:t>
            </a:r>
            <a:r>
              <a:rPr sz="2400" i="1" spc="5" dirty="0">
                <a:solidFill>
                  <a:srgbClr val="2E2B1F"/>
                </a:solidFill>
                <a:latin typeface="Times New Roman"/>
                <a:cs typeface="Times New Roman"/>
              </a:rPr>
              <a:t>b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le	</a:t>
            </a:r>
            <a:r>
              <a:rPr sz="24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t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he	p</a:t>
            </a:r>
            <a:r>
              <a:rPr sz="2400" i="1" spc="-85" dirty="0">
                <a:solidFill>
                  <a:srgbClr val="2E2B1F"/>
                </a:solidFill>
                <a:latin typeface="Times New Roman"/>
                <a:cs typeface="Times New Roman"/>
              </a:rPr>
              <a:t>r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ogr</a:t>
            </a:r>
            <a:r>
              <a:rPr sz="24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ms	to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000" y="4385672"/>
            <a:ext cx="6686550" cy="1895391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540"/>
              </a:spcBef>
            </a:pPr>
            <a:r>
              <a:rPr lang="en-US"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organize and manage data so that programs can process and manipulate information effectively.</a:t>
            </a:r>
          </a:p>
          <a:p>
            <a:pPr marL="241300">
              <a:lnSpc>
                <a:spcPct val="100000"/>
              </a:lnSpc>
              <a:spcBef>
                <a:spcPts val="1540"/>
              </a:spcBef>
            </a:pPr>
            <a:endParaRPr lang="en-US" sz="100" i="1" dirty="0">
              <a:solidFill>
                <a:srgbClr val="2E2B1F"/>
              </a:solidFill>
              <a:latin typeface="Times New Roman"/>
              <a:cs typeface="Times New Roman"/>
            </a:endParaRPr>
          </a:p>
          <a:p>
            <a:pPr marL="241300" indent="-228600">
              <a:spcBef>
                <a:spcPts val="100"/>
              </a:spcBef>
              <a:buClr>
                <a:srgbClr val="D2CA6C"/>
              </a:buClr>
              <a:buFont typeface="Wingdings"/>
              <a:buChar char=""/>
              <a:tabLst>
                <a:tab pos="241300" algn="l"/>
                <a:tab pos="1108075" algn="l"/>
                <a:tab pos="2574290" algn="l"/>
                <a:tab pos="3304540" algn="l"/>
                <a:tab pos="4373245" algn="l"/>
                <a:tab pos="5002530" algn="l"/>
                <a:tab pos="6433820" algn="l"/>
              </a:tabLst>
            </a:pPr>
            <a:r>
              <a:rPr sz="2400" i="1" spc="-10" dirty="0">
                <a:solidFill>
                  <a:srgbClr val="849A09"/>
                </a:solidFill>
                <a:latin typeface="Times New Roman"/>
                <a:cs typeface="Times New Roman"/>
              </a:rPr>
              <a:t>Documentation </a:t>
            </a:r>
            <a:r>
              <a:rPr lang="en-US" sz="24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explaining how the software works, how to use it, and how to maintain it.</a:t>
            </a:r>
            <a:endParaRPr sz="2400" i="1" spc="-15" dirty="0">
              <a:solidFill>
                <a:srgbClr val="2E2B1F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801367" y="1280160"/>
            <a:ext cx="6715125" cy="182880"/>
            <a:chOff x="1801367" y="1280160"/>
            <a:chExt cx="6715125" cy="18288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1367" y="1280160"/>
              <a:ext cx="6714744" cy="1828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28799" y="1371600"/>
              <a:ext cx="6570345" cy="0"/>
            </a:xfrm>
            <a:custGeom>
              <a:avLst/>
              <a:gdLst/>
              <a:ahLst/>
              <a:cxnLst/>
              <a:rect l="l" t="t" r="r" b="b"/>
              <a:pathLst>
                <a:path w="6570345">
                  <a:moveTo>
                    <a:pt x="0" y="0"/>
                  </a:moveTo>
                  <a:lnTo>
                    <a:pt x="6570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711183" y="5740247"/>
            <a:ext cx="192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F5F6-390C-D25B-6FD3-387367CC6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63B1DB-B3D2-EBBE-0E14-4EA13E23A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88029" y="472262"/>
            <a:ext cx="39897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W</a:t>
            </a:r>
            <a:r>
              <a:rPr sz="4000" spc="-100" dirty="0"/>
              <a:t>h</a:t>
            </a:r>
            <a:r>
              <a:rPr sz="4000" spc="-110" dirty="0"/>
              <a:t>a</a:t>
            </a:r>
            <a:r>
              <a:rPr sz="4000" spc="-5" dirty="0"/>
              <a:t>t</a:t>
            </a:r>
            <a:r>
              <a:rPr sz="4000" spc="-210" dirty="0"/>
              <a:t> </a:t>
            </a:r>
            <a:r>
              <a:rPr sz="4000" spc="-100" dirty="0"/>
              <a:t>i</a:t>
            </a:r>
            <a:r>
              <a:rPr sz="4000" spc="-5" dirty="0"/>
              <a:t>s</a:t>
            </a:r>
            <a:r>
              <a:rPr sz="4000" spc="-204" dirty="0"/>
              <a:t> </a:t>
            </a:r>
            <a:r>
              <a:rPr sz="4000" spc="-80" dirty="0"/>
              <a:t>S</a:t>
            </a:r>
            <a:r>
              <a:rPr sz="4000" spc="-100" dirty="0"/>
              <a:t>oft</a:t>
            </a:r>
            <a:r>
              <a:rPr sz="4000" spc="-175" dirty="0"/>
              <a:t>w</a:t>
            </a:r>
            <a:r>
              <a:rPr sz="4000" spc="-110" dirty="0"/>
              <a:t>a</a:t>
            </a:r>
            <a:r>
              <a:rPr sz="4000" spc="-160" dirty="0"/>
              <a:t>r</a:t>
            </a:r>
            <a:r>
              <a:rPr sz="4000" spc="-100" dirty="0"/>
              <a:t>e</a:t>
            </a:r>
            <a:r>
              <a:rPr sz="4000" spc="-5" dirty="0"/>
              <a:t>?</a:t>
            </a:r>
            <a:endParaRPr sz="40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70B5B3F-4CC4-92D0-FB27-61EA3AB68444}"/>
              </a:ext>
            </a:extLst>
          </p:cNvPr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A9D712C-5880-7D21-38CA-5614A6A76212}"/>
              </a:ext>
            </a:extLst>
          </p:cNvPr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487BAFD8-144F-8333-F0F9-A68720F8D5B0}"/>
              </a:ext>
            </a:extLst>
          </p:cNvPr>
          <p:cNvGrpSpPr/>
          <p:nvPr/>
        </p:nvGrpSpPr>
        <p:grpSpPr>
          <a:xfrm>
            <a:off x="1801367" y="1280160"/>
            <a:ext cx="6715125" cy="182880"/>
            <a:chOff x="1801367" y="1280160"/>
            <a:chExt cx="6715125" cy="182880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2345170A-D483-9687-022A-2BAA3B36AD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1367" y="1280160"/>
              <a:ext cx="6714744" cy="182879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034190EB-9599-BB79-A777-4C1AC9587CE6}"/>
                </a:ext>
              </a:extLst>
            </p:cNvPr>
            <p:cNvSpPr/>
            <p:nvPr/>
          </p:nvSpPr>
          <p:spPr>
            <a:xfrm>
              <a:off x="1828799" y="1371600"/>
              <a:ext cx="6570345" cy="0"/>
            </a:xfrm>
            <a:custGeom>
              <a:avLst/>
              <a:gdLst/>
              <a:ahLst/>
              <a:cxnLst/>
              <a:rect l="l" t="t" r="r" b="b"/>
              <a:pathLst>
                <a:path w="6570345">
                  <a:moveTo>
                    <a:pt x="0" y="0"/>
                  </a:moveTo>
                  <a:lnTo>
                    <a:pt x="6570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B622FF91-9308-70BA-3E1F-591805E1F750}"/>
              </a:ext>
            </a:extLst>
          </p:cNvPr>
          <p:cNvSpPr txBox="1"/>
          <p:nvPr/>
        </p:nvSpPr>
        <p:spPr>
          <a:xfrm>
            <a:off x="8711183" y="5740247"/>
            <a:ext cx="192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</a:t>
            </a:fld>
            <a:endParaRPr sz="1800">
              <a:latin typeface="Calibri"/>
              <a:cs typeface="Calibri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07D8D9C-D061-DE11-59A0-C4E71C77E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129302"/>
              </p:ext>
            </p:extLst>
          </p:nvPr>
        </p:nvGraphicFramePr>
        <p:xfrm>
          <a:off x="616819" y="2221229"/>
          <a:ext cx="7594600" cy="36576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116834">
                  <a:extLst>
                    <a:ext uri="{9D8B030D-6E8A-4147-A177-3AD203B41FA5}">
                      <a16:colId xmlns:a16="http://schemas.microsoft.com/office/drawing/2014/main" val="541144248"/>
                    </a:ext>
                  </a:extLst>
                </a:gridCol>
                <a:gridCol w="4477766">
                  <a:extLst>
                    <a:ext uri="{9D8B030D-6E8A-4147-A177-3AD203B41FA5}">
                      <a16:colId xmlns:a16="http://schemas.microsoft.com/office/drawing/2014/main" val="8101112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i="1" kern="1200" spc="-15" dirty="0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Software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i="1" kern="1200" spc="-15" dirty="0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Real-Time 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5335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kern="1200" spc="-15" dirty="0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Instructions (Programs)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kern="1200" spc="-15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The code that sends a message, makes a call, or uploads a photo.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994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kern="1200" spc="-15" dirty="0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Data Structures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kern="1200" spc="-15" dirty="0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The way your chat messages, contacts, and media files are stored and managed inside the app.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432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kern="1200" spc="-15" dirty="0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Documentation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i="1" kern="1200" spc="-15" dirty="0">
                          <a:solidFill>
                            <a:srgbClr val="2E2B1F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Help pages, user guides, FAQs, or developer documents that explain how to use or build features.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22306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971890A-1FA3-CF5C-23B2-5223D650AD67}"/>
              </a:ext>
            </a:extLst>
          </p:cNvPr>
          <p:cNvSpPr txBox="1"/>
          <p:nvPr/>
        </p:nvSpPr>
        <p:spPr>
          <a:xfrm>
            <a:off x="619224" y="1635937"/>
            <a:ext cx="57053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Think about </a:t>
            </a:r>
            <a:r>
              <a:rPr lang="en-US" sz="2400" b="1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WhatsApp</a:t>
            </a:r>
            <a:r>
              <a:rPr lang="en-US" sz="24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 on your phone.</a:t>
            </a:r>
          </a:p>
        </p:txBody>
      </p:sp>
    </p:spTree>
    <p:extLst>
      <p:ext uri="{BB962C8B-B14F-4D97-AF65-F5344CB8AC3E}">
        <p14:creationId xmlns:p14="http://schemas.microsoft.com/office/powerpoint/2010/main" val="1450052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361" y="515873"/>
            <a:ext cx="70777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7575" algn="l"/>
                <a:tab pos="5287010" algn="l"/>
              </a:tabLst>
            </a:pPr>
            <a:r>
              <a:rPr spc="-105" dirty="0"/>
              <a:t>Characteristics/Nature	</a:t>
            </a:r>
            <a:r>
              <a:rPr spc="-50" dirty="0"/>
              <a:t>of	</a:t>
            </a:r>
            <a:r>
              <a:rPr spc="-10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851101"/>
            <a:ext cx="5880735" cy="25365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9415" indent="-273050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SzPct val="95833"/>
              <a:buFont typeface="Wingdings"/>
              <a:buChar char=""/>
              <a:tabLst>
                <a:tab pos="400050" algn="l"/>
                <a:tab pos="1816735" algn="l"/>
                <a:tab pos="2275840" algn="l"/>
                <a:tab pos="3835400" algn="l"/>
                <a:tab pos="4373245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Sof</a:t>
            </a:r>
            <a:r>
              <a:rPr sz="2400" b="1" spc="10" dirty="0">
                <a:solidFill>
                  <a:srgbClr val="2E2B1F"/>
                </a:solidFill>
                <a:latin typeface="Times New Roman"/>
                <a:cs typeface="Times New Roman"/>
              </a:rPr>
              <a:t>t</a:t>
            </a:r>
            <a:r>
              <a:rPr sz="24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w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b="1" spc="-50" dirty="0">
                <a:solidFill>
                  <a:srgbClr val="2E2B1F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	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i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s	develop</a:t>
            </a:r>
            <a:r>
              <a:rPr sz="24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d	</a:t>
            </a: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o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r	enginee</a:t>
            </a:r>
            <a:r>
              <a:rPr sz="2400" b="1" spc="-50" dirty="0">
                <a:solidFill>
                  <a:srgbClr val="2E2B1F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ed,</a:t>
            </a:r>
            <a:endParaRPr sz="24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manufactured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4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classical</a:t>
            </a:r>
            <a:r>
              <a:rPr sz="2400" b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sense.</a:t>
            </a:r>
            <a:endParaRPr sz="2400" dirty="0">
              <a:latin typeface="Times New Roman"/>
              <a:cs typeface="Times New Roman"/>
            </a:endParaRPr>
          </a:p>
          <a:p>
            <a:pPr marL="343535" marR="476250" indent="-343535" algn="r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43535" algn="l"/>
              </a:tabLst>
            </a:pP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 </a:t>
            </a: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intangible(unable</a:t>
            </a:r>
            <a:r>
              <a:rPr sz="2400" b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touch)</a:t>
            </a:r>
            <a:endParaRPr sz="24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easy</a:t>
            </a: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reproduce</a:t>
            </a:r>
            <a:endParaRPr lang="en-US" sz="2400" b="1" spc="-15" dirty="0">
              <a:solidFill>
                <a:srgbClr val="2E2B1F"/>
              </a:solidFill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lang="en-US" sz="24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easy</a:t>
            </a:r>
            <a:r>
              <a:rPr lang="en-US" sz="24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lang="en-US" sz="24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modify</a:t>
            </a:r>
            <a:endParaRPr lang="en-US" sz="2400" dirty="0">
              <a:latin typeface="Times New Roman"/>
              <a:cs typeface="Times New Roman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3126" y="1851101"/>
            <a:ext cx="13519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025" algn="l"/>
                <a:tab pos="914400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it	is	not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09700" y="1280160"/>
            <a:ext cx="7106920" cy="186055"/>
            <a:chOff x="1409700" y="1280160"/>
            <a:chExt cx="7106920" cy="1860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0367" y="1280160"/>
              <a:ext cx="7095744" cy="1859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447800" y="1371600"/>
              <a:ext cx="6951345" cy="3810"/>
            </a:xfrm>
            <a:custGeom>
              <a:avLst/>
              <a:gdLst/>
              <a:ahLst/>
              <a:cxnLst/>
              <a:rect l="l" t="t" r="r" b="b"/>
              <a:pathLst>
                <a:path w="6951345" h="3809">
                  <a:moveTo>
                    <a:pt x="0" y="3555"/>
                  </a:moveTo>
                  <a:lnTo>
                    <a:pt x="6951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711183" y="5740247"/>
            <a:ext cx="192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5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361" y="515873"/>
            <a:ext cx="70777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7575" algn="l"/>
                <a:tab pos="5287010" algn="l"/>
              </a:tabLst>
            </a:pPr>
            <a:r>
              <a:rPr spc="-105" dirty="0"/>
              <a:t>Characteristics/Nature	</a:t>
            </a:r>
            <a:r>
              <a:rPr spc="-50" dirty="0"/>
              <a:t>of	</a:t>
            </a:r>
            <a:r>
              <a:rPr spc="-10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766" y="1524000"/>
            <a:ext cx="7622540" cy="5042406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Functionality</a:t>
            </a:r>
          </a:p>
          <a:p>
            <a:pPr algn="just"/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The functionality of software refers to its ability to perform and function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according to design specifications</a:t>
            </a: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.</a:t>
            </a:r>
          </a:p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Usability (User-friendly)</a:t>
            </a:r>
          </a:p>
          <a:p>
            <a:pPr algn="just"/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The user-friendliness of the software is characterized by its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ease of use</a:t>
            </a: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. In other words, learning how to use the software should require less effort or time.</a:t>
            </a:r>
          </a:p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Efficiency</a:t>
            </a:r>
          </a:p>
          <a:p>
            <a:pPr algn="just"/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It refers to the software’s ability to utilize human and system resources such as time, effort, CPU, memory, computation power, network bandwidth, files, databases, etc., as effectively and efficiently as possible. </a:t>
            </a:r>
          </a:p>
          <a:p>
            <a:pPr algn="just"/>
            <a:endParaRPr lang="en-US" sz="2400" dirty="0">
              <a:solidFill>
                <a:srgbClr val="2E2B1F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409700" y="1280160"/>
            <a:ext cx="7106920" cy="186055"/>
            <a:chOff x="1409700" y="1280160"/>
            <a:chExt cx="7106920" cy="1860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0367" y="1280160"/>
              <a:ext cx="7095744" cy="1859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47800" y="1371600"/>
              <a:ext cx="6951345" cy="3810"/>
            </a:xfrm>
            <a:custGeom>
              <a:avLst/>
              <a:gdLst/>
              <a:ahLst/>
              <a:cxnLst/>
              <a:rect l="l" t="t" r="r" b="b"/>
              <a:pathLst>
                <a:path w="6951345" h="3809">
                  <a:moveTo>
                    <a:pt x="0" y="3555"/>
                  </a:moveTo>
                  <a:lnTo>
                    <a:pt x="6951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11183" y="5740247"/>
            <a:ext cx="192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361" y="515873"/>
            <a:ext cx="70777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7575" algn="l"/>
                <a:tab pos="5287010" algn="l"/>
              </a:tabLst>
            </a:pPr>
            <a:r>
              <a:rPr spc="-105" dirty="0"/>
              <a:t>Characteristics/Nature	</a:t>
            </a:r>
            <a:r>
              <a:rPr spc="-50" dirty="0"/>
              <a:t>of	</a:t>
            </a:r>
            <a:r>
              <a:rPr spc="-10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766" y="1524000"/>
            <a:ext cx="7622540" cy="45345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Flexibility </a:t>
            </a:r>
          </a:p>
          <a:p>
            <a:pPr marL="12065" algn="just">
              <a:spcBef>
                <a:spcPts val="575"/>
              </a:spcBef>
              <a:buClr>
                <a:srgbClr val="A9A47B"/>
              </a:buClr>
              <a:tabLst>
                <a:tab pos="356235" algn="l"/>
              </a:tabLst>
            </a:pP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 Flexibility refers to the ability of the software solution to adapt to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potential or future changes</a:t>
            </a: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 in its requirements.</a:t>
            </a:r>
          </a:p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Reliability</a:t>
            </a:r>
          </a:p>
          <a:p>
            <a:pPr marL="12065">
              <a:spcBef>
                <a:spcPts val="575"/>
              </a:spcBef>
              <a:buClr>
                <a:srgbClr val="A9A47B"/>
              </a:buClr>
              <a:tabLst>
                <a:tab pos="356235" algn="l"/>
              </a:tabLst>
            </a:pP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The reliability of a software product describes the likelihood it will operate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without failure over a specified period of time under certain conditions. </a:t>
            </a:r>
          </a:p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Maintainability</a:t>
            </a:r>
          </a:p>
          <a:p>
            <a:pPr marL="12065">
              <a:spcBef>
                <a:spcPts val="575"/>
              </a:spcBef>
              <a:buClr>
                <a:srgbClr val="A9A47B"/>
              </a:buClr>
              <a:tabLst>
                <a:tab pos="356235" algn="l"/>
              </a:tabLst>
            </a:pP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Maintainability refers to how easily you can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 repair, improve and comprehend software code. </a:t>
            </a: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409700" y="1280160"/>
            <a:ext cx="7106920" cy="186055"/>
            <a:chOff x="1409700" y="1280160"/>
            <a:chExt cx="7106920" cy="1860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0367" y="1280160"/>
              <a:ext cx="7095744" cy="1859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47800" y="1371600"/>
              <a:ext cx="6951345" cy="3810"/>
            </a:xfrm>
            <a:custGeom>
              <a:avLst/>
              <a:gdLst/>
              <a:ahLst/>
              <a:cxnLst/>
              <a:rect l="l" t="t" r="r" b="b"/>
              <a:pathLst>
                <a:path w="6951345" h="3809">
                  <a:moveTo>
                    <a:pt x="0" y="3555"/>
                  </a:moveTo>
                  <a:lnTo>
                    <a:pt x="6951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11183" y="5740247"/>
            <a:ext cx="192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</a:t>
            </a:fld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1611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361" y="515873"/>
            <a:ext cx="70777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7575" algn="l"/>
                <a:tab pos="5287010" algn="l"/>
              </a:tabLst>
            </a:pPr>
            <a:r>
              <a:rPr spc="-105" dirty="0"/>
              <a:t>Characteristics/Nature	</a:t>
            </a:r>
            <a:r>
              <a:rPr spc="-50" dirty="0"/>
              <a:t>of	</a:t>
            </a:r>
            <a:r>
              <a:rPr spc="-10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0766" y="1524000"/>
            <a:ext cx="7622540" cy="3272691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 Portability</a:t>
            </a:r>
          </a:p>
          <a:p>
            <a:pPr marL="12065">
              <a:spcBef>
                <a:spcPts val="575"/>
              </a:spcBef>
              <a:buClr>
                <a:srgbClr val="A9A47B"/>
              </a:buClr>
              <a:tabLst>
                <a:tab pos="356235" algn="l"/>
              </a:tabLst>
            </a:pP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 portability is a critical factor that cannot be ignored. Portability refers to the ability to use software in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different environments.</a:t>
            </a:r>
          </a:p>
          <a:p>
            <a:pPr marL="355600" indent="-343535">
              <a:spcBef>
                <a:spcPts val="575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lang="en-US"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Integrity</a:t>
            </a:r>
          </a:p>
          <a:p>
            <a:pPr marL="12065">
              <a:spcBef>
                <a:spcPts val="575"/>
              </a:spcBef>
              <a:buClr>
                <a:srgbClr val="A9A47B"/>
              </a:buClr>
              <a:tabLst>
                <a:tab pos="356235" algn="l"/>
              </a:tabLst>
            </a:pPr>
            <a:r>
              <a:rPr lang="en-US" sz="2400" dirty="0">
                <a:solidFill>
                  <a:srgbClr val="2E2B1F"/>
                </a:solidFill>
                <a:latin typeface="Times New Roman"/>
                <a:cs typeface="Times New Roman"/>
              </a:rPr>
              <a:t>There are multiple interpretations of software integrity. Some people tend to </a:t>
            </a:r>
            <a:r>
              <a:rPr lang="en-US"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associate integrity with security, believing it is resistant to hacks and privacy violations.</a:t>
            </a: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409700" y="1280160"/>
            <a:ext cx="7106920" cy="186055"/>
            <a:chOff x="1409700" y="1280160"/>
            <a:chExt cx="7106920" cy="1860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0367" y="1280160"/>
              <a:ext cx="7095744" cy="1859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47800" y="1371600"/>
              <a:ext cx="6951345" cy="3810"/>
            </a:xfrm>
            <a:custGeom>
              <a:avLst/>
              <a:gdLst/>
              <a:ahLst/>
              <a:cxnLst/>
              <a:rect l="l" t="t" r="r" b="b"/>
              <a:pathLst>
                <a:path w="6951345" h="3809">
                  <a:moveTo>
                    <a:pt x="0" y="3555"/>
                  </a:moveTo>
                  <a:lnTo>
                    <a:pt x="6951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11183" y="5740247"/>
            <a:ext cx="192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</a:t>
            </a:fld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5025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361" y="515873"/>
            <a:ext cx="70777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27575" algn="l"/>
                <a:tab pos="5287010" algn="l"/>
              </a:tabLst>
            </a:pPr>
            <a:r>
              <a:rPr spc="-105" dirty="0"/>
              <a:t>Characteristics/Nature	</a:t>
            </a:r>
            <a:r>
              <a:rPr spc="-50" dirty="0"/>
              <a:t>of	</a:t>
            </a:r>
            <a:r>
              <a:rPr spc="-100" dirty="0"/>
              <a:t>Software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777555"/>
            <a:ext cx="7011034" cy="13436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80"/>
              </a:spcBef>
              <a:buClr>
                <a:srgbClr val="A9A47B"/>
              </a:buClr>
              <a:buFont typeface="Wingdings"/>
              <a:buChar char=""/>
              <a:tabLst>
                <a:tab pos="356235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Conclusions</a:t>
            </a:r>
            <a:endParaRPr sz="2400" dirty="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580"/>
              </a:spcBef>
              <a:buClr>
                <a:srgbClr val="9CBDBC"/>
              </a:buClr>
              <a:buFont typeface="Wingdings"/>
              <a:buChar char=""/>
              <a:tabLst>
                <a:tab pos="6534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Much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software has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poor design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getting</a:t>
            </a:r>
            <a:r>
              <a:rPr sz="24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worse</a:t>
            </a:r>
            <a:endParaRPr sz="2400" dirty="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Font typeface="Wingdings"/>
              <a:buChar char=""/>
              <a:tabLst>
                <a:tab pos="653415" algn="l"/>
              </a:tabLst>
            </a:pPr>
            <a:r>
              <a:rPr sz="2400" spc="-110" dirty="0">
                <a:solidFill>
                  <a:srgbClr val="2E2B1F"/>
                </a:solidFill>
                <a:latin typeface="Times New Roman"/>
                <a:cs typeface="Times New Roman"/>
              </a:rPr>
              <a:t>We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have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learn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 </a:t>
            </a:r>
            <a:r>
              <a:rPr sz="2400" dirty="0">
                <a:solidFill>
                  <a:srgbClr val="2E2B1F"/>
                </a:solidFill>
                <a:latin typeface="Arial MT"/>
                <a:cs typeface="Arial MT"/>
              </a:rPr>
              <a:t>‘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engineer</a:t>
            </a:r>
            <a:r>
              <a:rPr sz="2400" dirty="0">
                <a:solidFill>
                  <a:srgbClr val="2E2B1F"/>
                </a:solidFill>
                <a:latin typeface="Arial MT"/>
                <a:cs typeface="Arial MT"/>
              </a:rPr>
              <a:t>’</a:t>
            </a:r>
            <a:r>
              <a:rPr sz="2400" spc="-95" dirty="0">
                <a:solidFill>
                  <a:srgbClr val="2E2B1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409700" y="1280160"/>
            <a:ext cx="7106920" cy="186055"/>
            <a:chOff x="1409700" y="1280160"/>
            <a:chExt cx="7106920" cy="1860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0367" y="1280160"/>
              <a:ext cx="7095744" cy="18592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47800" y="1371600"/>
              <a:ext cx="6951345" cy="3810"/>
            </a:xfrm>
            <a:custGeom>
              <a:avLst/>
              <a:gdLst/>
              <a:ahLst/>
              <a:cxnLst/>
              <a:rect l="l" t="t" r="r" b="b"/>
              <a:pathLst>
                <a:path w="6951345" h="3809">
                  <a:moveTo>
                    <a:pt x="0" y="3555"/>
                  </a:moveTo>
                  <a:lnTo>
                    <a:pt x="6951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711183" y="5740247"/>
            <a:ext cx="1924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9</a:t>
            </a:fld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6926" y="472262"/>
            <a:ext cx="48901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80" dirty="0"/>
              <a:t>S</a:t>
            </a:r>
            <a:r>
              <a:rPr sz="4000" spc="-100" dirty="0"/>
              <a:t>oft</a:t>
            </a:r>
            <a:r>
              <a:rPr sz="4000" spc="-175" dirty="0"/>
              <a:t>w</a:t>
            </a:r>
            <a:r>
              <a:rPr sz="4000" spc="-110" dirty="0"/>
              <a:t>a</a:t>
            </a:r>
            <a:r>
              <a:rPr sz="4000" spc="-160" dirty="0"/>
              <a:t>r</a:t>
            </a:r>
            <a:r>
              <a:rPr sz="4000" spc="-5" dirty="0"/>
              <a:t>e</a:t>
            </a:r>
            <a:r>
              <a:rPr sz="4000" spc="-245" dirty="0"/>
              <a:t> </a:t>
            </a:r>
            <a:r>
              <a:rPr sz="4000" spc="-130" dirty="0"/>
              <a:t>A</a:t>
            </a:r>
            <a:r>
              <a:rPr sz="4000" spc="-105" dirty="0"/>
              <a:t>pp</a:t>
            </a:r>
            <a:r>
              <a:rPr sz="4000" spc="-100" dirty="0"/>
              <a:t>li</a:t>
            </a:r>
            <a:r>
              <a:rPr sz="4000" spc="-105" dirty="0"/>
              <a:t>c</a:t>
            </a:r>
            <a:r>
              <a:rPr sz="4000" spc="-110" dirty="0"/>
              <a:t>a</a:t>
            </a:r>
            <a:r>
              <a:rPr sz="4000" spc="-100" dirty="0"/>
              <a:t>tio</a:t>
            </a:r>
            <a:r>
              <a:rPr sz="4000" spc="-105" dirty="0"/>
              <a:t>n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45440" y="1335756"/>
            <a:ext cx="7977505" cy="5329555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System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Software</a:t>
            </a:r>
            <a:r>
              <a:rPr sz="2000" b="1" spc="-5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538480" lvl="1" indent="-229235" algn="just">
              <a:lnSpc>
                <a:spcPct val="100000"/>
              </a:lnSpc>
              <a:spcBef>
                <a:spcPts val="480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Operating</a:t>
            </a:r>
            <a:r>
              <a:rPr sz="2000" spc="6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system,</a:t>
            </a:r>
            <a:r>
              <a:rPr sz="2000" spc="69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drivers,</a:t>
            </a:r>
            <a:r>
              <a:rPr sz="2000" spc="6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networking</a:t>
            </a:r>
            <a:r>
              <a:rPr sz="2000" spc="6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software,</a:t>
            </a:r>
            <a:r>
              <a:rPr sz="2000" spc="6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telecommunications</a:t>
            </a:r>
            <a:endParaRPr sz="2000">
              <a:latin typeface="Times New Roman"/>
              <a:cs typeface="Times New Roman"/>
            </a:endParaRPr>
          </a:p>
          <a:p>
            <a:pPr marL="5384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processors,</a:t>
            </a:r>
            <a:r>
              <a:rPr sz="2000" spc="-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Compilers.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24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Application</a:t>
            </a:r>
            <a:r>
              <a:rPr sz="2000" b="1" spc="-10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Software:</a:t>
            </a:r>
            <a:endParaRPr sz="2000">
              <a:latin typeface="Times New Roman"/>
              <a:cs typeface="Times New Roman"/>
            </a:endParaRPr>
          </a:p>
          <a:p>
            <a:pPr marL="538480" marR="5080" lvl="1" indent="-229235" algn="just">
              <a:lnSpc>
                <a:spcPct val="90000"/>
              </a:lnSpc>
              <a:spcBef>
                <a:spcPts val="480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Microsoft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Office,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Excel and Outlook, Google Chrome, Mozilla Firefox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and Skype.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Games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and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mobile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applications such as "Clash of Clans,"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SoundCloud, Spotify and 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Uber,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are also considered application software. </a:t>
            </a:r>
            <a:r>
              <a:rPr sz="2000" spc="-48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Other specific examples include Steam, "Minecraft,"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Adobe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Reader and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Photoshop.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24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Engineering/scientific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software:</a:t>
            </a:r>
            <a:endParaRPr sz="2000">
              <a:latin typeface="Times New Roman"/>
              <a:cs typeface="Times New Roman"/>
            </a:endParaRPr>
          </a:p>
          <a:p>
            <a:pPr marL="538480" marR="5080" lvl="1" indent="-229235" algn="just">
              <a:lnSpc>
                <a:spcPct val="90000"/>
              </a:lnSpc>
              <a:spcBef>
                <a:spcPts val="480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Computer-aided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Design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and Computer-aided Manufacturing Software,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Civil Engineering and Architectural Software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,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Electrical Engineering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Geographic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Information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Systems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Software,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Simulation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software,</a:t>
            </a:r>
            <a:r>
              <a:rPr sz="20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Interactive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Software.</a:t>
            </a:r>
            <a:endParaRPr sz="2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24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300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Embedded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Software</a:t>
            </a:r>
            <a:r>
              <a:rPr sz="2000" b="1" spc="-4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538480" marR="6985" lvl="1" indent="-229235" algn="just">
              <a:lnSpc>
                <a:spcPct val="100000"/>
              </a:lnSpc>
              <a:spcBef>
                <a:spcPts val="480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key pad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control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for a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microwave oven, fuel control, dashboard displays,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and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braking</a:t>
            </a:r>
            <a:r>
              <a:rPr sz="20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systems,</a:t>
            </a:r>
            <a:r>
              <a:rPr sz="20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control</a:t>
            </a:r>
            <a:r>
              <a:rPr sz="20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monitoring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system.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36583" y="56830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72504" y="1136903"/>
            <a:ext cx="5271770" cy="165100"/>
            <a:chOff x="2572504" y="1136903"/>
            <a:chExt cx="5271770" cy="1651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2504" y="1136903"/>
              <a:ext cx="5271563" cy="1645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90800" y="1219199"/>
              <a:ext cx="5181600" cy="0"/>
            </a:xfrm>
            <a:custGeom>
              <a:avLst/>
              <a:gdLst/>
              <a:ahLst/>
              <a:cxnLst/>
              <a:rect l="l" t="t" r="r" b="b"/>
              <a:pathLst>
                <a:path w="5181600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21432" y="504266"/>
            <a:ext cx="59289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54" dirty="0"/>
              <a:t> </a:t>
            </a:r>
            <a:r>
              <a:rPr spc="-105" dirty="0"/>
              <a:t>A</a:t>
            </a:r>
            <a:r>
              <a:rPr spc="-100" dirty="0"/>
              <a:t>pp</a:t>
            </a:r>
            <a:r>
              <a:rPr spc="-105" dirty="0"/>
              <a:t>l</a:t>
            </a:r>
            <a:r>
              <a:rPr spc="-100" dirty="0"/>
              <a:t>i</a:t>
            </a:r>
            <a:r>
              <a:rPr spc="-90" dirty="0"/>
              <a:t>c</a:t>
            </a:r>
            <a:r>
              <a:rPr spc="-95" dirty="0"/>
              <a:t>at</a:t>
            </a:r>
            <a:r>
              <a:rPr spc="-100" dirty="0"/>
              <a:t>i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dirty="0"/>
              <a:t>s</a:t>
            </a:r>
            <a:r>
              <a:rPr spc="-250" dirty="0"/>
              <a:t> </a:t>
            </a:r>
            <a:r>
              <a:rPr spc="-105" dirty="0"/>
              <a:t>(</a:t>
            </a:r>
            <a:r>
              <a:rPr spc="-120" dirty="0"/>
              <a:t>C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spc="-45" dirty="0"/>
              <a:t>t</a:t>
            </a:r>
            <a:r>
              <a:rPr spc="-90" dirty="0"/>
              <a:t>..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585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935" algn="l"/>
              </a:tabLst>
            </a:pPr>
            <a:r>
              <a:rPr spc="-5" dirty="0"/>
              <a:t>Product-line</a:t>
            </a:r>
            <a:r>
              <a:rPr spc="-45" dirty="0"/>
              <a:t> </a:t>
            </a:r>
            <a:r>
              <a:rPr spc="-5" dirty="0"/>
              <a:t>software/Data</a:t>
            </a:r>
            <a:r>
              <a:rPr spc="-25" dirty="0"/>
              <a:t> </a:t>
            </a:r>
            <a:r>
              <a:rPr spc="-5" dirty="0"/>
              <a:t>Processing</a:t>
            </a:r>
            <a:r>
              <a:rPr spc="-10" dirty="0"/>
              <a:t> </a:t>
            </a:r>
            <a:r>
              <a:rPr dirty="0"/>
              <a:t>System:</a:t>
            </a:r>
          </a:p>
          <a:p>
            <a:pPr marL="538480" marR="5080" lvl="1" indent="-228600" algn="just">
              <a:lnSpc>
                <a:spcPct val="100000"/>
              </a:lnSpc>
              <a:spcBef>
                <a:spcPts val="480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Inventory control products, word processing, spreadsheets, computer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graphics,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multimedia,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entertainment,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database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management,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personal</a:t>
            </a:r>
            <a:r>
              <a:rPr sz="20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business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financial</a:t>
            </a:r>
            <a:r>
              <a:rPr sz="20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applications</a:t>
            </a:r>
            <a:endParaRPr sz="2000">
              <a:latin typeface="Times New Roman"/>
              <a:cs typeface="Times New Roman"/>
            </a:endParaRPr>
          </a:p>
          <a:p>
            <a:pPr marL="241300" indent="-229235" algn="just">
              <a:lnSpc>
                <a:spcPct val="100000"/>
              </a:lnSpc>
              <a:spcBef>
                <a:spcPts val="24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935" algn="l"/>
              </a:tabLst>
            </a:pPr>
            <a:r>
              <a:rPr spc="-15" dirty="0"/>
              <a:t>WebApps</a:t>
            </a:r>
            <a:r>
              <a:rPr spc="-50" dirty="0"/>
              <a:t> </a:t>
            </a:r>
            <a:r>
              <a:rPr spc="-25" dirty="0"/>
              <a:t>(Web</a:t>
            </a:r>
            <a:r>
              <a:rPr spc="-45" dirty="0"/>
              <a:t> </a:t>
            </a:r>
            <a:r>
              <a:rPr dirty="0"/>
              <a:t>applications)</a:t>
            </a:r>
          </a:p>
          <a:p>
            <a:pPr marL="538480" marR="5080" lvl="1" indent="-228600" algn="just">
              <a:lnSpc>
                <a:spcPts val="2160"/>
              </a:lnSpc>
              <a:spcBef>
                <a:spcPts val="515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Integrated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corporate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databases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business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applications: </a:t>
            </a:r>
            <a:r>
              <a:rPr sz="2000" spc="-484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Booking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application, Chatting application,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Upload,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E-Business,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E-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Commerce</a:t>
            </a:r>
            <a:r>
              <a:rPr sz="20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application.</a:t>
            </a:r>
            <a:endParaRPr sz="2000">
              <a:latin typeface="Times New Roman"/>
              <a:cs typeface="Times New Roman"/>
            </a:endParaRPr>
          </a:p>
          <a:p>
            <a:pPr marL="241300" indent="-229235" algn="just">
              <a:lnSpc>
                <a:spcPct val="100000"/>
              </a:lnSpc>
              <a:spcBef>
                <a:spcPts val="209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935" algn="l"/>
              </a:tabLst>
            </a:pPr>
            <a:r>
              <a:rPr dirty="0"/>
              <a:t>AI</a:t>
            </a:r>
            <a:r>
              <a:rPr spc="-45" dirty="0"/>
              <a:t> </a:t>
            </a:r>
            <a:r>
              <a:rPr spc="-5" dirty="0"/>
              <a:t>software</a:t>
            </a:r>
          </a:p>
          <a:p>
            <a:pPr marL="538480" marR="6350" lvl="1" indent="-228600" algn="just">
              <a:lnSpc>
                <a:spcPct val="100000"/>
              </a:lnSpc>
              <a:spcBef>
                <a:spcPts val="480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Include</a:t>
            </a:r>
            <a:r>
              <a:rPr sz="20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robotics,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expert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systems,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pattern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recognition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(image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and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voice),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artificial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neural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networks,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theorem,</a:t>
            </a:r>
            <a:r>
              <a:rPr sz="20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proving,</a:t>
            </a:r>
            <a:r>
              <a:rPr sz="20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0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game </a:t>
            </a:r>
            <a:r>
              <a:rPr sz="20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playing.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6440" y="5557824"/>
            <a:ext cx="2833370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4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93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Gaming</a:t>
            </a:r>
            <a:r>
              <a:rPr sz="2000" b="1" spc="-6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240"/>
              </a:spcBef>
              <a:buClr>
                <a:srgbClr val="A9A47B"/>
              </a:buClr>
              <a:buSzPct val="95000"/>
              <a:buFont typeface="Wingdings"/>
              <a:buChar char=""/>
              <a:tabLst>
                <a:tab pos="241935" algn="l"/>
              </a:tabLst>
            </a:pP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Mobile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6FC0"/>
                </a:solidFill>
                <a:latin typeface="Times New Roman"/>
                <a:cs typeface="Times New Roman"/>
              </a:rPr>
              <a:t>Device</a:t>
            </a:r>
            <a:r>
              <a:rPr sz="2000" b="1" spc="-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006FC0"/>
                </a:solidFill>
                <a:latin typeface="Times New Roman"/>
                <a:cs typeface="Times New Roman"/>
              </a:rPr>
              <a:t>Software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736583" y="568309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1367" y="1280160"/>
            <a:ext cx="6715125" cy="182880"/>
            <a:chOff x="1801367" y="1280160"/>
            <a:chExt cx="6715125" cy="18288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1367" y="1280160"/>
              <a:ext cx="6714744" cy="1828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28799" y="1371600"/>
              <a:ext cx="6570345" cy="0"/>
            </a:xfrm>
            <a:custGeom>
              <a:avLst/>
              <a:gdLst/>
              <a:ahLst/>
              <a:cxnLst/>
              <a:rect l="l" t="t" r="r" b="b"/>
              <a:pathLst>
                <a:path w="6570345">
                  <a:moveTo>
                    <a:pt x="0" y="0"/>
                  </a:moveTo>
                  <a:lnTo>
                    <a:pt x="6570218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958" y="472262"/>
            <a:ext cx="3617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L</a:t>
            </a:r>
            <a:r>
              <a:rPr sz="4000" spc="-100" dirty="0"/>
              <a:t>e</a:t>
            </a:r>
            <a:r>
              <a:rPr sz="4000" spc="-145" dirty="0"/>
              <a:t>g</a:t>
            </a:r>
            <a:r>
              <a:rPr sz="4000" spc="-110" dirty="0"/>
              <a:t>a</a:t>
            </a:r>
            <a:r>
              <a:rPr sz="4000" spc="-105" dirty="0"/>
              <a:t>c</a:t>
            </a:r>
            <a:r>
              <a:rPr sz="4000" spc="-5" dirty="0"/>
              <a:t>y</a:t>
            </a:r>
            <a:r>
              <a:rPr sz="4000" spc="-210" dirty="0"/>
              <a:t> </a:t>
            </a:r>
            <a:r>
              <a:rPr sz="4000" spc="-80" dirty="0"/>
              <a:t>S</a:t>
            </a:r>
            <a:r>
              <a:rPr sz="4000" spc="-100" dirty="0"/>
              <a:t>oft</a:t>
            </a:r>
            <a:r>
              <a:rPr sz="4000" spc="-175" dirty="0"/>
              <a:t>w</a:t>
            </a:r>
            <a:r>
              <a:rPr sz="4000" spc="-120" dirty="0"/>
              <a:t>a</a:t>
            </a:r>
            <a:r>
              <a:rPr sz="4000" spc="-160" dirty="0"/>
              <a:t>r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59460" y="2036191"/>
            <a:ext cx="7977505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 algn="just">
              <a:lnSpc>
                <a:spcPts val="3020"/>
              </a:lnSpc>
              <a:spcBef>
                <a:spcPts val="480"/>
              </a:spcBef>
              <a:buClr>
                <a:srgbClr val="A9A47B"/>
              </a:buClr>
              <a:buSzPct val="96428"/>
              <a:buFont typeface="Wingdings"/>
              <a:buChar char=""/>
              <a:tabLst>
                <a:tab pos="330200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Legacy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implies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that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 software is out of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date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or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in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need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of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replacement,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however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may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in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good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working</a:t>
            </a:r>
            <a:r>
              <a:rPr sz="2800" spc="6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order</a:t>
            </a:r>
            <a:r>
              <a:rPr sz="2800" spc="6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so</a:t>
            </a:r>
            <a:r>
              <a:rPr sz="2800" spc="6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6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business</a:t>
            </a:r>
            <a:r>
              <a:rPr sz="2800" spc="6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2800" spc="6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individual</a:t>
            </a:r>
            <a:r>
              <a:rPr sz="2800" spc="6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owner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does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not want to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upgrade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or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update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the software.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AEFFEA-A7FE-FD3E-73EE-72120456BAD7}"/>
              </a:ext>
            </a:extLst>
          </p:cNvPr>
          <p:cNvSpPr txBox="1"/>
          <p:nvPr/>
        </p:nvSpPr>
        <p:spPr>
          <a:xfrm>
            <a:off x="608837" y="3733800"/>
            <a:ext cx="7720077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Legacy software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older computer programs or systems that 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in 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though: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be outdated,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no longer be supported by vendors,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newer and better versions exist.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they are still kept because they work well and fulfill business needs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changing them may be costly, risky, or unnecessary.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3958" y="472262"/>
            <a:ext cx="36175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10" dirty="0"/>
              <a:t>L</a:t>
            </a:r>
            <a:r>
              <a:rPr sz="4000" spc="-100" dirty="0"/>
              <a:t>e</a:t>
            </a:r>
            <a:r>
              <a:rPr sz="4000" spc="-145" dirty="0"/>
              <a:t>g</a:t>
            </a:r>
            <a:r>
              <a:rPr sz="4000" spc="-110" dirty="0"/>
              <a:t>a</a:t>
            </a:r>
            <a:r>
              <a:rPr sz="4000" spc="-105" dirty="0"/>
              <a:t>c</a:t>
            </a:r>
            <a:r>
              <a:rPr sz="4000" spc="-5" dirty="0"/>
              <a:t>y</a:t>
            </a:r>
            <a:r>
              <a:rPr sz="4000" spc="-210" dirty="0"/>
              <a:t> </a:t>
            </a:r>
            <a:r>
              <a:rPr sz="4000" spc="-80" dirty="0"/>
              <a:t>S</a:t>
            </a:r>
            <a:r>
              <a:rPr sz="4000" spc="-100" dirty="0"/>
              <a:t>oft</a:t>
            </a:r>
            <a:r>
              <a:rPr sz="4000" spc="-175" dirty="0"/>
              <a:t>w</a:t>
            </a:r>
            <a:r>
              <a:rPr sz="4000" spc="-120" dirty="0"/>
              <a:t>a</a:t>
            </a:r>
            <a:r>
              <a:rPr sz="4000" spc="-160" dirty="0"/>
              <a:t>r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59460" y="1334465"/>
            <a:ext cx="7978140" cy="3872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indent="-408940">
              <a:lnSpc>
                <a:spcPts val="4265"/>
              </a:lnSpc>
              <a:spcBef>
                <a:spcPts val="100"/>
              </a:spcBef>
              <a:buClr>
                <a:srgbClr val="A9A47B"/>
              </a:buClr>
              <a:buSzPct val="97222"/>
              <a:buFont typeface="Wingdings"/>
              <a:buChar char=""/>
              <a:tabLst>
                <a:tab pos="421640" algn="l"/>
              </a:tabLst>
            </a:pPr>
            <a:r>
              <a:rPr sz="3600" b="1" i="1" dirty="0">
                <a:solidFill>
                  <a:srgbClr val="849A09"/>
                </a:solidFill>
                <a:latin typeface="Times New Roman"/>
                <a:cs typeface="Times New Roman"/>
              </a:rPr>
              <a:t>Why</a:t>
            </a:r>
            <a:r>
              <a:rPr sz="3600" b="1" i="1" spc="-2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3600" b="1" i="1" dirty="0">
                <a:solidFill>
                  <a:srgbClr val="849A09"/>
                </a:solidFill>
                <a:latin typeface="Times New Roman"/>
                <a:cs typeface="Times New Roman"/>
              </a:rPr>
              <a:t>must</a:t>
            </a:r>
            <a:r>
              <a:rPr sz="3600" b="1" i="1" spc="-2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3600" b="1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it</a:t>
            </a:r>
            <a:r>
              <a:rPr sz="3600" b="1" i="1" spc="-2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3600" b="1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change?</a:t>
            </a:r>
            <a:endParaRPr sz="3600">
              <a:latin typeface="Times New Roman"/>
              <a:cs typeface="Times New Roman"/>
            </a:endParaRPr>
          </a:p>
          <a:p>
            <a:pPr marL="537845" marR="7620" lvl="1" indent="-228600">
              <a:lnSpc>
                <a:spcPts val="3030"/>
              </a:lnSpc>
              <a:spcBef>
                <a:spcPts val="320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spc="1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must</a:t>
            </a:r>
            <a:r>
              <a:rPr sz="2800" spc="1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800" spc="1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adapted</a:t>
            </a:r>
            <a:r>
              <a:rPr sz="2800" spc="14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spc="1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meet</a:t>
            </a:r>
            <a:r>
              <a:rPr sz="2800" spc="1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1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needs</a:t>
            </a:r>
            <a:r>
              <a:rPr sz="2800" spc="15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800" spc="1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new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computing environments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or 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technology.</a:t>
            </a:r>
            <a:endParaRPr sz="2800">
              <a:latin typeface="Times New Roman"/>
              <a:cs typeface="Times New Roman"/>
            </a:endParaRPr>
          </a:p>
          <a:p>
            <a:pPr marL="537845" marR="8255" lvl="1" indent="-228600">
              <a:lnSpc>
                <a:spcPts val="3020"/>
              </a:lnSpc>
              <a:spcBef>
                <a:spcPts val="204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  <a:tab pos="2002789" algn="l"/>
                <a:tab pos="2934335" algn="l"/>
                <a:tab pos="3510279" algn="l"/>
                <a:tab pos="5090795" algn="l"/>
                <a:tab pos="5609590" algn="l"/>
                <a:tab pos="7366634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ftware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s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b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enhanced</a:t>
            </a:r>
            <a:r>
              <a:rPr sz="2800" dirty="0">
                <a:solidFill>
                  <a:srgbClr val="849A09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p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l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ent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n</a:t>
            </a:r>
            <a:r>
              <a:rPr sz="2800" spc="15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w 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business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requirements.</a:t>
            </a:r>
            <a:endParaRPr sz="2800">
              <a:latin typeface="Times New Roman"/>
              <a:cs typeface="Times New Roman"/>
            </a:endParaRPr>
          </a:p>
          <a:p>
            <a:pPr marL="537845" marR="5715" lvl="1" indent="-228600">
              <a:lnSpc>
                <a:spcPts val="3020"/>
              </a:lnSpc>
              <a:spcBef>
                <a:spcPts val="680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spc="1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must</a:t>
            </a:r>
            <a:r>
              <a:rPr sz="2800" spc="1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800" spc="1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extended</a:t>
            </a:r>
            <a:r>
              <a:rPr sz="2800" spc="19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to</a:t>
            </a:r>
            <a:r>
              <a:rPr sz="2800" spc="17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849A09"/>
                </a:solidFill>
                <a:latin typeface="Times New Roman"/>
                <a:cs typeface="Times New Roman"/>
              </a:rPr>
              <a:t>make</a:t>
            </a:r>
            <a:r>
              <a:rPr sz="2800" spc="17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it</a:t>
            </a:r>
            <a:r>
              <a:rPr sz="2800" spc="17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interoperable </a:t>
            </a:r>
            <a:r>
              <a:rPr sz="2800" spc="-68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with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other more</a:t>
            </a:r>
            <a:r>
              <a:rPr sz="28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modern</a:t>
            </a:r>
            <a:r>
              <a:rPr sz="28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systems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or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databases.</a:t>
            </a:r>
            <a:endParaRPr sz="2800">
              <a:latin typeface="Times New Roman"/>
              <a:cs typeface="Times New Roman"/>
            </a:endParaRPr>
          </a:p>
          <a:p>
            <a:pPr marL="537845" marR="5080" lvl="1" indent="-228600">
              <a:lnSpc>
                <a:spcPts val="3020"/>
              </a:lnSpc>
              <a:spcBef>
                <a:spcPts val="680"/>
              </a:spcBef>
              <a:buClr>
                <a:srgbClr val="9CBDBC"/>
              </a:buClr>
              <a:buFont typeface="Wingdings"/>
              <a:buChar char=""/>
              <a:tabLst>
                <a:tab pos="538480" algn="l"/>
                <a:tab pos="1922145" algn="l"/>
                <a:tab pos="2771140" algn="l"/>
                <a:tab pos="3265170" algn="l"/>
                <a:tab pos="5376545" algn="l"/>
                <a:tab pos="5812155" algn="l"/>
                <a:tab pos="6738620" algn="l"/>
                <a:tab pos="7095490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o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ftware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u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s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b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10" dirty="0">
                <a:solidFill>
                  <a:srgbClr val="849A09"/>
                </a:solidFill>
                <a:latin typeface="Times New Roman"/>
                <a:cs typeface="Times New Roman"/>
              </a:rPr>
              <a:t>r</a:t>
            </a:r>
            <a:r>
              <a:rPr sz="2800" spc="-10" dirty="0">
                <a:solidFill>
                  <a:srgbClr val="849A09"/>
                </a:solidFill>
                <a:latin typeface="Times New Roman"/>
                <a:cs typeface="Times New Roman"/>
              </a:rPr>
              <a:t>e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-architec</a:t>
            </a:r>
            <a:r>
              <a:rPr sz="2800" spc="-20" dirty="0">
                <a:solidFill>
                  <a:srgbClr val="849A09"/>
                </a:solidFill>
                <a:latin typeface="Times New Roman"/>
                <a:cs typeface="Times New Roman"/>
              </a:rPr>
              <a:t>t</a:t>
            </a:r>
            <a:r>
              <a:rPr sz="2800" spc="-5" dirty="0">
                <a:solidFill>
                  <a:srgbClr val="849A09"/>
                </a:solidFill>
                <a:latin typeface="Times New Roman"/>
                <a:cs typeface="Times New Roman"/>
              </a:rPr>
              <a:t>ed</a:t>
            </a:r>
            <a:r>
              <a:rPr sz="2800" dirty="0">
                <a:solidFill>
                  <a:srgbClr val="849A09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m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k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	v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ia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b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le  within a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network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environment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2582" y="504266"/>
            <a:ext cx="43008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45" dirty="0"/>
              <a:t> </a:t>
            </a:r>
            <a:r>
              <a:rPr spc="-100" dirty="0"/>
              <a:t>Eng</a:t>
            </a:r>
            <a:r>
              <a:rPr spc="-105" dirty="0"/>
              <a:t>i</a:t>
            </a:r>
            <a:r>
              <a:rPr spc="-100" dirty="0"/>
              <a:t>nee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0" y="1508848"/>
            <a:ext cx="7435850" cy="25869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84480" indent="-272415">
              <a:lnSpc>
                <a:spcPct val="100000"/>
              </a:lnSpc>
              <a:spcBef>
                <a:spcPts val="395"/>
              </a:spcBef>
              <a:buClr>
                <a:srgbClr val="A9A47B"/>
              </a:buClr>
              <a:buSzPct val="95833"/>
              <a:buFont typeface="Wingdings"/>
              <a:buChar char=""/>
              <a:tabLst>
                <a:tab pos="285115" algn="l"/>
              </a:tabLst>
            </a:pP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400" b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IEEE</a:t>
            </a:r>
            <a:r>
              <a:rPr sz="2400" b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definition:</a:t>
            </a:r>
            <a:endParaRPr sz="2400">
              <a:latin typeface="Times New Roman"/>
              <a:cs typeface="Times New Roman"/>
            </a:endParaRPr>
          </a:p>
          <a:p>
            <a:pPr marL="538480" lvl="1" indent="-229235">
              <a:lnSpc>
                <a:spcPct val="100000"/>
              </a:lnSpc>
              <a:spcBef>
                <a:spcPts val="300"/>
              </a:spcBef>
              <a:buClr>
                <a:srgbClr val="9CBDBC"/>
              </a:buClr>
              <a:buFont typeface="Wingdings"/>
              <a:buChar char=""/>
              <a:tabLst>
                <a:tab pos="539115" algn="l"/>
              </a:tabLst>
            </a:pPr>
            <a:r>
              <a:rPr sz="24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i="1" spc="-6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2E2B1F"/>
                </a:solidFill>
                <a:latin typeface="Times New Roman"/>
                <a:cs typeface="Times New Roman"/>
              </a:rPr>
              <a:t>Engineering:</a:t>
            </a:r>
            <a:endParaRPr sz="2400">
              <a:latin typeface="Times New Roman"/>
              <a:cs typeface="Times New Roman"/>
            </a:endParaRPr>
          </a:p>
          <a:p>
            <a:pPr marL="904240" marR="5080" lvl="2" indent="-228600">
              <a:lnSpc>
                <a:spcPct val="100000"/>
              </a:lnSpc>
              <a:spcBef>
                <a:spcPts val="310"/>
              </a:spcBef>
              <a:buClr>
                <a:srgbClr val="D2CA6C"/>
              </a:buClr>
              <a:buFont typeface="Wingdings"/>
              <a:buChar char=""/>
              <a:tabLst>
                <a:tab pos="904875" algn="l"/>
              </a:tabLst>
            </a:pP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i="1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application of</a:t>
            </a:r>
            <a:r>
              <a:rPr sz="2200" i="1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200" i="1" spc="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systematic,</a:t>
            </a:r>
            <a:r>
              <a:rPr sz="2200" i="1" spc="1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disciplined,</a:t>
            </a:r>
            <a:r>
              <a:rPr sz="2200" i="1" spc="1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quantifiable </a:t>
            </a:r>
            <a:r>
              <a:rPr sz="2200" i="1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849A09"/>
                </a:solidFill>
                <a:latin typeface="Times New Roman"/>
                <a:cs typeface="Times New Roman"/>
              </a:rPr>
              <a:t>approach</a:t>
            </a:r>
            <a:r>
              <a:rPr sz="22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200" i="1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200" i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development,</a:t>
            </a:r>
            <a:r>
              <a:rPr sz="2200" i="1" spc="20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operation, and</a:t>
            </a:r>
            <a:r>
              <a:rPr sz="2200" i="1" spc="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849A09"/>
                </a:solidFill>
                <a:latin typeface="Times New Roman"/>
                <a:cs typeface="Times New Roman"/>
              </a:rPr>
              <a:t>maintenance </a:t>
            </a:r>
            <a:r>
              <a:rPr sz="2200" i="1" spc="-535" dirty="0">
                <a:solidFill>
                  <a:srgbClr val="849A09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i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software;</a:t>
            </a:r>
            <a:r>
              <a:rPr sz="22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200" i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is,</a:t>
            </a:r>
            <a:r>
              <a:rPr sz="2200" i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the application</a:t>
            </a:r>
            <a:r>
              <a:rPr sz="22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i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2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to </a:t>
            </a:r>
            <a:r>
              <a:rPr sz="2200" i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software.</a:t>
            </a:r>
            <a:endParaRPr sz="2200">
              <a:latin typeface="Times New Roman"/>
              <a:cs typeface="Times New Roman"/>
            </a:endParaRPr>
          </a:p>
          <a:p>
            <a:pPr marL="904240" lvl="2" indent="-229235">
              <a:lnSpc>
                <a:spcPct val="100000"/>
              </a:lnSpc>
              <a:spcBef>
                <a:spcPts val="305"/>
              </a:spcBef>
              <a:buClr>
                <a:srgbClr val="D2CA6C"/>
              </a:buClr>
              <a:buFont typeface="Wingdings"/>
              <a:buChar char=""/>
              <a:tabLst>
                <a:tab pos="904875" algn="l"/>
              </a:tabLst>
            </a:pP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The study</a:t>
            </a:r>
            <a:r>
              <a:rPr sz="2200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200" i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approaches</a:t>
            </a:r>
            <a:r>
              <a:rPr sz="2200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as in</a:t>
            </a:r>
            <a:r>
              <a:rPr sz="22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(1).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54" dirty="0"/>
              <a:t> </a:t>
            </a:r>
            <a:r>
              <a:rPr spc="-100" dirty="0"/>
              <a:t>Eng</a:t>
            </a:r>
            <a:r>
              <a:rPr spc="-105" dirty="0"/>
              <a:t>i</a:t>
            </a:r>
            <a:r>
              <a:rPr spc="-100" dirty="0"/>
              <a:t>nee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dirty="0"/>
              <a:t>g</a:t>
            </a:r>
            <a:r>
              <a:rPr spc="-195" dirty="0"/>
              <a:t> </a:t>
            </a:r>
            <a:r>
              <a:rPr spc="-105" dirty="0"/>
              <a:t>(</a:t>
            </a:r>
            <a:r>
              <a:rPr spc="-120" dirty="0"/>
              <a:t>C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spc="-45" dirty="0"/>
              <a:t>t</a:t>
            </a:r>
            <a:r>
              <a:rPr spc="-90" dirty="0"/>
              <a:t>..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543252"/>
            <a:ext cx="7694295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105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The process </a:t>
            </a:r>
            <a:r>
              <a:rPr sz="3200" spc="-5" dirty="0">
                <a:solidFill>
                  <a:srgbClr val="2E2B1F"/>
                </a:solidFill>
                <a:latin typeface="Times New Roman"/>
                <a:cs typeface="Times New Roman"/>
              </a:rPr>
              <a:t>of </a:t>
            </a:r>
            <a:r>
              <a:rPr sz="3200" spc="-5" dirty="0">
                <a:solidFill>
                  <a:srgbClr val="FF0000"/>
                </a:solidFill>
                <a:latin typeface="Times New Roman"/>
                <a:cs typeface="Times New Roman"/>
              </a:rPr>
              <a:t>solving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customers</a:t>
            </a:r>
            <a:r>
              <a:rPr sz="3200" dirty="0">
                <a:solidFill>
                  <a:srgbClr val="FF0000"/>
                </a:solidFill>
                <a:latin typeface="Arial MT"/>
                <a:cs typeface="Arial MT"/>
              </a:rPr>
              <a:t>’ </a:t>
            </a:r>
            <a:r>
              <a:rPr sz="3200" dirty="0">
                <a:solidFill>
                  <a:srgbClr val="FF0000"/>
                </a:solidFill>
                <a:latin typeface="Times New Roman"/>
                <a:cs typeface="Times New Roman"/>
              </a:rPr>
              <a:t>problems </a:t>
            </a:r>
            <a:r>
              <a:rPr sz="3200" spc="-7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 systematic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and </a:t>
            </a:r>
            <a:r>
              <a:rPr sz="32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evolution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spc="-15" dirty="0">
                <a:solidFill>
                  <a:srgbClr val="2E2B1F"/>
                </a:solidFill>
                <a:latin typeface="Times New Roman"/>
                <a:cs typeface="Times New Roman"/>
              </a:rPr>
              <a:t>large,</a:t>
            </a:r>
            <a:r>
              <a:rPr sz="32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high-quality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software 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systems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2E2B1F"/>
                </a:solidFill>
                <a:latin typeface="Times New Roman"/>
                <a:cs typeface="Times New Roman"/>
              </a:rPr>
              <a:t>within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spc="-5" dirty="0">
                <a:solidFill>
                  <a:srgbClr val="2E2B1F"/>
                </a:solidFill>
                <a:latin typeface="Times New Roman"/>
                <a:cs typeface="Times New Roman"/>
              </a:rPr>
              <a:t>cost,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 time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other </a:t>
            </a:r>
            <a:r>
              <a:rPr sz="32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constraints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54" dirty="0"/>
              <a:t> </a:t>
            </a:r>
            <a:r>
              <a:rPr spc="-100" dirty="0"/>
              <a:t>Eng</a:t>
            </a:r>
            <a:r>
              <a:rPr spc="-105" dirty="0"/>
              <a:t>i</a:t>
            </a:r>
            <a:r>
              <a:rPr spc="-100" dirty="0"/>
              <a:t>nee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dirty="0"/>
              <a:t>g</a:t>
            </a:r>
            <a:r>
              <a:rPr spc="-195" dirty="0"/>
              <a:t> </a:t>
            </a:r>
            <a:r>
              <a:rPr spc="-105" dirty="0"/>
              <a:t>(</a:t>
            </a:r>
            <a:r>
              <a:rPr spc="-120" dirty="0"/>
              <a:t>C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spc="-45" dirty="0"/>
              <a:t>t</a:t>
            </a:r>
            <a:r>
              <a:rPr spc="-90" dirty="0"/>
              <a:t>..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461478"/>
            <a:ext cx="7690484" cy="34378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65"/>
              </a:spcBef>
              <a:buClr>
                <a:srgbClr val="A9A47B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Solving</a:t>
            </a:r>
            <a:r>
              <a:rPr sz="28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customers</a:t>
            </a:r>
            <a:r>
              <a:rPr sz="2800" b="1" spc="-5" dirty="0">
                <a:solidFill>
                  <a:srgbClr val="2E2B1F"/>
                </a:solidFill>
                <a:latin typeface="Arial"/>
                <a:cs typeface="Arial"/>
              </a:rPr>
              <a:t>’</a:t>
            </a:r>
            <a:r>
              <a:rPr sz="2800" b="1" spc="-90" dirty="0">
                <a:solidFill>
                  <a:srgbClr val="2E2B1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problems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66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8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goal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670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Sometimes</a:t>
            </a:r>
            <a:r>
              <a:rPr sz="28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solution</a:t>
            </a:r>
            <a:r>
              <a:rPr sz="2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buy</a:t>
            </a:r>
            <a:r>
              <a:rPr sz="2800" i="1" spc="-45" dirty="0">
                <a:solidFill>
                  <a:srgbClr val="2E2B1F"/>
                </a:solidFill>
                <a:latin typeface="Times New Roman"/>
                <a:cs typeface="Times New Roman"/>
              </a:rPr>
              <a:t>,</a:t>
            </a:r>
            <a:r>
              <a:rPr sz="28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not</a:t>
            </a:r>
            <a:r>
              <a:rPr sz="2800" i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build</a:t>
            </a:r>
            <a:endParaRPr sz="2800">
              <a:latin typeface="Times New Roman"/>
              <a:cs typeface="Times New Roman"/>
            </a:endParaRPr>
          </a:p>
          <a:p>
            <a:pPr marL="652780" marR="1113790" lvl="1" indent="-229235">
              <a:lnSpc>
                <a:spcPct val="100000"/>
              </a:lnSpc>
              <a:spcBef>
                <a:spcPts val="670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Adding unnecessary features often makes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worse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engineers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must</a:t>
            </a:r>
            <a:r>
              <a:rPr sz="2800" spc="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communicate</a:t>
            </a:r>
            <a:r>
              <a:rPr sz="2800" i="1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effectively</a:t>
            </a:r>
            <a:endParaRPr sz="2800">
              <a:latin typeface="Times New Roman"/>
              <a:cs typeface="Times New Roman"/>
            </a:endParaRPr>
          </a:p>
          <a:p>
            <a:pPr marL="652780">
              <a:lnSpc>
                <a:spcPct val="100000"/>
              </a:lnSpc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identify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understand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 problem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54" dirty="0"/>
              <a:t> </a:t>
            </a:r>
            <a:r>
              <a:rPr spc="-100" dirty="0"/>
              <a:t>Eng</a:t>
            </a:r>
            <a:r>
              <a:rPr spc="-105" dirty="0"/>
              <a:t>i</a:t>
            </a:r>
            <a:r>
              <a:rPr spc="-100" dirty="0"/>
              <a:t>nee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dirty="0"/>
              <a:t>g</a:t>
            </a:r>
            <a:r>
              <a:rPr spc="-195" dirty="0"/>
              <a:t> </a:t>
            </a:r>
            <a:r>
              <a:rPr spc="-105" dirty="0"/>
              <a:t>(</a:t>
            </a:r>
            <a:r>
              <a:rPr spc="-120" dirty="0"/>
              <a:t>C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spc="-45" dirty="0"/>
              <a:t>t</a:t>
            </a:r>
            <a:r>
              <a:rPr spc="-90" dirty="0"/>
              <a:t>..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458429"/>
            <a:ext cx="7324725" cy="38677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75"/>
              </a:spcBef>
              <a:buClr>
                <a:srgbClr val="A9A47B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Systematic</a:t>
            </a:r>
            <a:r>
              <a:rPr sz="2800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imes New Roman"/>
                <a:cs typeface="Times New Roman"/>
              </a:rPr>
              <a:t>development</a:t>
            </a: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evolution</a:t>
            </a:r>
            <a:endParaRPr sz="2800">
              <a:latin typeface="Times New Roman"/>
              <a:cs typeface="Times New Roman"/>
            </a:endParaRPr>
          </a:p>
          <a:p>
            <a:pPr marL="652780" marR="5080" lvl="1" indent="-229235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8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process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involves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applying</a:t>
            </a:r>
            <a:r>
              <a:rPr sz="2800" spc="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10" dirty="0">
                <a:solidFill>
                  <a:srgbClr val="2E2B1F"/>
                </a:solidFill>
                <a:latin typeface="Times New Roman"/>
                <a:cs typeface="Times New Roman"/>
              </a:rPr>
              <a:t>well </a:t>
            </a:r>
            <a:r>
              <a:rPr sz="2800" i="1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understood techniques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in a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organized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and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disciplined</a:t>
            </a:r>
            <a:r>
              <a:rPr sz="2800" i="1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way</a:t>
            </a:r>
            <a:endParaRPr sz="2800">
              <a:latin typeface="Times New Roman"/>
              <a:cs typeface="Times New Roman"/>
            </a:endParaRPr>
          </a:p>
          <a:p>
            <a:pPr marL="652780" marR="908050" lvl="1" indent="-229235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Many well-accepted practices have been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formally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standardized</a:t>
            </a:r>
            <a:endParaRPr sz="2800">
              <a:latin typeface="Times New Roman"/>
              <a:cs typeface="Times New Roman"/>
            </a:endParaRPr>
          </a:p>
          <a:p>
            <a:pPr marL="1018540" lvl="2" indent="-229235">
              <a:lnSpc>
                <a:spcPct val="100000"/>
              </a:lnSpc>
              <a:spcBef>
                <a:spcPts val="675"/>
              </a:spcBef>
              <a:buClr>
                <a:srgbClr val="D2CA6C"/>
              </a:buClr>
              <a:buFont typeface="Arial MT"/>
              <a:buChar char="•"/>
              <a:tabLst>
                <a:tab pos="101917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e.g.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IEEE</a:t>
            </a:r>
            <a:r>
              <a:rPr sz="28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or ISO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670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Most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development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work</a:t>
            </a:r>
            <a:r>
              <a:rPr sz="2800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evolution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54" dirty="0"/>
              <a:t> </a:t>
            </a:r>
            <a:r>
              <a:rPr spc="-100" dirty="0"/>
              <a:t>Eng</a:t>
            </a:r>
            <a:r>
              <a:rPr spc="-105" dirty="0"/>
              <a:t>i</a:t>
            </a:r>
            <a:r>
              <a:rPr spc="-100" dirty="0"/>
              <a:t>nee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dirty="0"/>
              <a:t>g</a:t>
            </a:r>
            <a:r>
              <a:rPr spc="-195" dirty="0"/>
              <a:t> </a:t>
            </a:r>
            <a:r>
              <a:rPr spc="-105" dirty="0"/>
              <a:t>(</a:t>
            </a:r>
            <a:r>
              <a:rPr spc="-120" dirty="0"/>
              <a:t>C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spc="-45" dirty="0"/>
              <a:t>t</a:t>
            </a:r>
            <a:r>
              <a:rPr spc="-90" dirty="0"/>
              <a:t>..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458429"/>
            <a:ext cx="7112000" cy="42945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775"/>
              </a:spcBef>
              <a:buClr>
                <a:srgbClr val="A9A47B"/>
              </a:buClr>
              <a:buFont typeface="Wingdings"/>
              <a:buChar char=""/>
              <a:tabLst>
                <a:tab pos="469900" algn="l"/>
              </a:tabLst>
            </a:pP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Large,</a:t>
            </a:r>
            <a:r>
              <a:rPr sz="2800" b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high</a:t>
            </a:r>
            <a:r>
              <a:rPr sz="2800" b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quality</a:t>
            </a:r>
            <a:r>
              <a:rPr sz="2800" b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b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systems</a:t>
            </a:r>
            <a:endParaRPr sz="2800">
              <a:latin typeface="Times New Roman"/>
              <a:cs typeface="Times New Roman"/>
            </a:endParaRPr>
          </a:p>
          <a:p>
            <a:pPr marL="652780" marR="180975" lvl="1" indent="-229235" algn="just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 engineering techniques are needed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because 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large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systems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cannot be completely </a:t>
            </a:r>
            <a:r>
              <a:rPr sz="2800" i="1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understood</a:t>
            </a:r>
            <a:r>
              <a:rPr sz="2800" i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by one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person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 algn="just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35" dirty="0">
                <a:solidFill>
                  <a:srgbClr val="2E2B1F"/>
                </a:solidFill>
                <a:latin typeface="Times New Roman"/>
                <a:cs typeface="Times New Roman"/>
              </a:rPr>
              <a:t>Teamwork</a:t>
            </a:r>
            <a:r>
              <a:rPr sz="2800" spc="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co-ordination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are required</a:t>
            </a:r>
            <a:endParaRPr sz="2800">
              <a:latin typeface="Times New Roman"/>
              <a:cs typeface="Times New Roman"/>
            </a:endParaRPr>
          </a:p>
          <a:p>
            <a:pPr marL="652780" marR="504825" lvl="1" indent="-229235" algn="just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Key challenge: Dividing up the work and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ensuring</a:t>
            </a:r>
            <a:r>
              <a:rPr sz="28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that the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parts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system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work </a:t>
            </a:r>
            <a:r>
              <a:rPr sz="2800" spc="-6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properly</a:t>
            </a:r>
            <a:r>
              <a:rPr sz="28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together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 algn="just">
              <a:lnSpc>
                <a:spcPct val="100000"/>
              </a:lnSpc>
              <a:spcBef>
                <a:spcPts val="670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end-product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must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be of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sufficient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quality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54" dirty="0"/>
              <a:t> </a:t>
            </a:r>
            <a:r>
              <a:rPr spc="-100" dirty="0"/>
              <a:t>Eng</a:t>
            </a:r>
            <a:r>
              <a:rPr spc="-105" dirty="0"/>
              <a:t>i</a:t>
            </a:r>
            <a:r>
              <a:rPr spc="-100" dirty="0"/>
              <a:t>nee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dirty="0"/>
              <a:t>g</a:t>
            </a:r>
            <a:r>
              <a:rPr spc="-195" dirty="0"/>
              <a:t> </a:t>
            </a:r>
            <a:r>
              <a:rPr spc="-105" dirty="0"/>
              <a:t>(</a:t>
            </a:r>
            <a:r>
              <a:rPr spc="-120" dirty="0"/>
              <a:t>C</a:t>
            </a:r>
            <a:r>
              <a:rPr spc="-95" dirty="0"/>
              <a:t>o</a:t>
            </a:r>
            <a:r>
              <a:rPr spc="-100" dirty="0"/>
              <a:t>n</a:t>
            </a:r>
            <a:r>
              <a:rPr spc="-45" dirty="0"/>
              <a:t>t</a:t>
            </a:r>
            <a:r>
              <a:rPr spc="-90" dirty="0"/>
              <a:t>..</a:t>
            </a:r>
            <a:r>
              <a:rPr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458429"/>
            <a:ext cx="7389495" cy="34410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75"/>
              </a:spcBef>
              <a:buClr>
                <a:srgbClr val="A9A47B"/>
              </a:buClr>
              <a:buFont typeface="Wingdings"/>
              <a:buChar char=""/>
              <a:tabLst>
                <a:tab pos="469265" algn="l"/>
                <a:tab pos="469900" algn="l"/>
              </a:tabLst>
            </a:pP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Cost,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time</a:t>
            </a:r>
            <a:r>
              <a:rPr sz="28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other</a:t>
            </a:r>
            <a:r>
              <a:rPr sz="2800" b="1" spc="-7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constraints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Finite</a:t>
            </a:r>
            <a:r>
              <a:rPr sz="28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resources</a:t>
            </a:r>
            <a:endParaRPr sz="28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benefit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must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outweigh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cost</a:t>
            </a:r>
            <a:endParaRPr sz="2800">
              <a:latin typeface="Times New Roman"/>
              <a:cs typeface="Times New Roman"/>
            </a:endParaRPr>
          </a:p>
          <a:p>
            <a:pPr marL="652780" marR="5080" lvl="1" indent="-229235">
              <a:lnSpc>
                <a:spcPct val="100000"/>
              </a:lnSpc>
              <a:spcBef>
                <a:spcPts val="670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Others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competing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do</a:t>
            </a:r>
            <a:r>
              <a:rPr sz="28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job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cheaper and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faster</a:t>
            </a:r>
            <a:endParaRPr sz="2800">
              <a:latin typeface="Times New Roman"/>
              <a:cs typeface="Times New Roman"/>
            </a:endParaRPr>
          </a:p>
          <a:p>
            <a:pPr marL="652780" marR="717550" lvl="1" indent="-229235">
              <a:lnSpc>
                <a:spcPct val="100000"/>
              </a:lnSpc>
              <a:spcBef>
                <a:spcPts val="6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Inaccurate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estimates of cost</a:t>
            </a:r>
            <a:r>
              <a:rPr sz="28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and time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 have </a:t>
            </a:r>
            <a:r>
              <a:rPr sz="2800" spc="-6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caused</a:t>
            </a:r>
            <a:r>
              <a:rPr sz="2800" spc="-10" dirty="0">
                <a:solidFill>
                  <a:srgbClr val="2E2B1F"/>
                </a:solidFill>
                <a:latin typeface="Times New Roman"/>
                <a:cs typeface="Times New Roman"/>
              </a:rPr>
              <a:t> many</a:t>
            </a:r>
            <a:r>
              <a:rPr sz="28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project</a:t>
            </a:r>
            <a:r>
              <a:rPr sz="28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E2B1F"/>
                </a:solidFill>
                <a:latin typeface="Times New Roman"/>
                <a:cs typeface="Times New Roman"/>
              </a:rPr>
              <a:t>failures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1409" y="504266"/>
            <a:ext cx="333247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>
                <a:solidFill>
                  <a:srgbClr val="ACA187"/>
                </a:solidFill>
              </a:rPr>
              <a:t>S</a:t>
            </a:r>
            <a:r>
              <a:rPr spc="-95" dirty="0">
                <a:solidFill>
                  <a:srgbClr val="ACA187"/>
                </a:solidFill>
              </a:rPr>
              <a:t>oft</a:t>
            </a:r>
            <a:r>
              <a:rPr spc="-165" dirty="0">
                <a:solidFill>
                  <a:srgbClr val="ACA187"/>
                </a:solidFill>
              </a:rPr>
              <a:t>w</a:t>
            </a:r>
            <a:r>
              <a:rPr spc="-95" dirty="0">
                <a:solidFill>
                  <a:srgbClr val="ACA187"/>
                </a:solidFill>
              </a:rPr>
              <a:t>a</a:t>
            </a:r>
            <a:r>
              <a:rPr spc="-150" dirty="0">
                <a:solidFill>
                  <a:srgbClr val="ACA187"/>
                </a:solidFill>
              </a:rPr>
              <a:t>r</a:t>
            </a:r>
            <a:r>
              <a:rPr dirty="0">
                <a:solidFill>
                  <a:srgbClr val="ACA187"/>
                </a:solidFill>
              </a:rPr>
              <a:t>e</a:t>
            </a:r>
            <a:r>
              <a:rPr spc="-250" dirty="0">
                <a:solidFill>
                  <a:srgbClr val="ACA187"/>
                </a:solidFill>
              </a:rPr>
              <a:t> </a:t>
            </a:r>
            <a:r>
              <a:rPr spc="-95" dirty="0">
                <a:solidFill>
                  <a:srgbClr val="ACA187"/>
                </a:solidFill>
              </a:rPr>
              <a:t>Q</a:t>
            </a:r>
            <a:r>
              <a:rPr spc="-100" dirty="0">
                <a:solidFill>
                  <a:srgbClr val="ACA187"/>
                </a:solidFill>
              </a:rPr>
              <a:t>u</a:t>
            </a:r>
            <a:r>
              <a:rPr spc="-95" dirty="0">
                <a:solidFill>
                  <a:srgbClr val="ACA187"/>
                </a:solidFill>
              </a:rPr>
              <a:t>a</a:t>
            </a:r>
            <a:r>
              <a:rPr spc="-105" dirty="0">
                <a:solidFill>
                  <a:srgbClr val="ACA187"/>
                </a:solidFill>
              </a:rPr>
              <a:t>li</a:t>
            </a:r>
            <a:r>
              <a:rPr spc="-95" dirty="0">
                <a:solidFill>
                  <a:srgbClr val="ACA187"/>
                </a:solidFill>
              </a:rPr>
              <a:t>t</a:t>
            </a:r>
            <a:r>
              <a:rPr dirty="0">
                <a:solidFill>
                  <a:srgbClr val="ACA187"/>
                </a:solidFill>
              </a:rPr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473073"/>
            <a:ext cx="7581265" cy="51479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0014" indent="-107950">
              <a:lnSpc>
                <a:spcPct val="100000"/>
              </a:lnSpc>
              <a:spcBef>
                <a:spcPts val="675"/>
              </a:spcBef>
              <a:buClr>
                <a:srgbClr val="A9A47B"/>
              </a:buClr>
              <a:buSzPct val="95833"/>
              <a:buFont typeface="Arial MT"/>
              <a:buChar char="•"/>
              <a:tabLst>
                <a:tab pos="120650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Usability</a:t>
            </a:r>
            <a:endParaRPr sz="24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580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Users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can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learn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fast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get their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job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done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easily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SzPct val="95833"/>
              <a:buFont typeface="Arial MT"/>
              <a:buChar char="•"/>
              <a:tabLst>
                <a:tab pos="120650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Efficiency</a:t>
            </a:r>
            <a:endParaRPr sz="2400">
              <a:latin typeface="Times New Roman"/>
              <a:cs typeface="Times New Roman"/>
            </a:endParaRPr>
          </a:p>
          <a:p>
            <a:pPr marL="652780" marR="891540" lvl="1" indent="-229235">
              <a:lnSpc>
                <a:spcPct val="100000"/>
              </a:lnSpc>
              <a:spcBef>
                <a:spcPts val="580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doesn't</a:t>
            </a:r>
            <a:r>
              <a:rPr sz="2400" spc="-5" dirty="0">
                <a:solidFill>
                  <a:srgbClr val="2E2B1F"/>
                </a:solidFill>
                <a:latin typeface="Arial MT"/>
                <a:cs typeface="Arial MT"/>
              </a:rPr>
              <a:t>’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t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waste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resources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such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as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CPU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time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 </a:t>
            </a:r>
            <a:r>
              <a:rPr sz="2400" spc="-5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memory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SzPct val="95833"/>
              <a:buFont typeface="Arial MT"/>
              <a:buChar char="•"/>
              <a:tabLst>
                <a:tab pos="120650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Reliability</a:t>
            </a:r>
            <a:endParaRPr sz="24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does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what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required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do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without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failing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SzPct val="95833"/>
              <a:buFont typeface="Arial MT"/>
              <a:buChar char="•"/>
              <a:tabLst>
                <a:tab pos="120650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Maintainability</a:t>
            </a:r>
            <a:endParaRPr sz="2400">
              <a:latin typeface="Times New Roman"/>
              <a:cs typeface="Times New Roman"/>
            </a:endParaRPr>
          </a:p>
          <a:p>
            <a:pPr marL="652780" lvl="1" indent="-229235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can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4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easily</a:t>
            </a:r>
            <a:r>
              <a:rPr sz="2400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changed</a:t>
            </a:r>
            <a:endParaRPr sz="2400">
              <a:latin typeface="Times New Roman"/>
              <a:cs typeface="Times New Roman"/>
            </a:endParaRPr>
          </a:p>
          <a:p>
            <a:pPr marL="120014" indent="-107950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SzPct val="95833"/>
              <a:buFont typeface="Arial MT"/>
              <a:buChar char="•"/>
              <a:tabLst>
                <a:tab pos="120650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Reusability</a:t>
            </a:r>
            <a:endParaRPr sz="2400">
              <a:latin typeface="Times New Roman"/>
              <a:cs typeface="Times New Roman"/>
            </a:endParaRPr>
          </a:p>
          <a:p>
            <a:pPr marL="652780" marR="5080" lvl="1" indent="-229235">
              <a:lnSpc>
                <a:spcPct val="100000"/>
              </a:lnSpc>
              <a:spcBef>
                <a:spcPts val="575"/>
              </a:spcBef>
              <a:buClr>
                <a:srgbClr val="9CBDBC"/>
              </a:buClr>
              <a:buFont typeface="Arial MT"/>
              <a:buChar char="•"/>
              <a:tabLst>
                <a:tab pos="653415" algn="l"/>
              </a:tabLst>
            </a:pP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Its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parts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can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used in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other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projects,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 reprogramming </a:t>
            </a:r>
            <a:r>
              <a:rPr sz="2400" spc="-5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not needed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6757" y="535051"/>
            <a:ext cx="60794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95" dirty="0">
                <a:solidFill>
                  <a:srgbClr val="ACA187"/>
                </a:solidFill>
              </a:rPr>
              <a:t>Software</a:t>
            </a:r>
            <a:r>
              <a:rPr sz="3200" spc="-245" dirty="0">
                <a:solidFill>
                  <a:srgbClr val="ACA187"/>
                </a:solidFill>
              </a:rPr>
              <a:t> </a:t>
            </a:r>
            <a:r>
              <a:rPr sz="3200" spc="-85" dirty="0">
                <a:solidFill>
                  <a:srgbClr val="ACA187"/>
                </a:solidFill>
              </a:rPr>
              <a:t>Quality</a:t>
            </a:r>
            <a:r>
              <a:rPr sz="3200" spc="-220" dirty="0">
                <a:solidFill>
                  <a:srgbClr val="ACA187"/>
                </a:solidFill>
              </a:rPr>
              <a:t> </a:t>
            </a:r>
            <a:r>
              <a:rPr sz="3200" spc="-65" dirty="0">
                <a:solidFill>
                  <a:srgbClr val="ACA187"/>
                </a:solidFill>
              </a:rPr>
              <a:t>and</a:t>
            </a:r>
            <a:r>
              <a:rPr sz="3200" spc="-215" dirty="0">
                <a:solidFill>
                  <a:srgbClr val="ACA187"/>
                </a:solidFill>
              </a:rPr>
              <a:t> </a:t>
            </a:r>
            <a:r>
              <a:rPr sz="3200" spc="-95" dirty="0">
                <a:solidFill>
                  <a:srgbClr val="ACA187"/>
                </a:solidFill>
              </a:rPr>
              <a:t>Stakeholders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2456" y="1854714"/>
            <a:ext cx="6694665" cy="436318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678671" y="5740247"/>
            <a:ext cx="2578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2101" y="504266"/>
            <a:ext cx="43637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04" dirty="0"/>
              <a:t> </a:t>
            </a:r>
            <a:r>
              <a:rPr spc="-105" dirty="0"/>
              <a:t>L</a:t>
            </a:r>
            <a:r>
              <a:rPr spc="-215" dirty="0"/>
              <a:t>a</a:t>
            </a:r>
            <a:r>
              <a:rPr spc="-200" dirty="0"/>
              <a:t>y</a:t>
            </a:r>
            <a:r>
              <a:rPr spc="-100" dirty="0"/>
              <a:t>e</a:t>
            </a:r>
            <a:r>
              <a:rPr spc="-150" dirty="0"/>
              <a:t>r</a:t>
            </a:r>
            <a:r>
              <a:rPr spc="-100" dirty="0"/>
              <a:t>e</a:t>
            </a:r>
            <a:r>
              <a:rPr dirty="0"/>
              <a:t>d</a:t>
            </a:r>
            <a:r>
              <a:rPr spc="-220" dirty="0"/>
              <a:t> </a:t>
            </a:r>
            <a:r>
              <a:rPr spc="-409" dirty="0"/>
              <a:t>T</a:t>
            </a:r>
            <a:r>
              <a:rPr spc="-100" dirty="0"/>
              <a:t>e</a:t>
            </a:r>
            <a:r>
              <a:rPr spc="-95" dirty="0"/>
              <a:t>c</a:t>
            </a:r>
            <a:r>
              <a:rPr spc="-100" dirty="0"/>
              <a:t>hn</a:t>
            </a:r>
            <a:r>
              <a:rPr spc="-95" dirty="0"/>
              <a:t>o</a:t>
            </a:r>
            <a:r>
              <a:rPr spc="-105" dirty="0"/>
              <a:t>l</a:t>
            </a:r>
            <a:r>
              <a:rPr spc="-95" dirty="0"/>
              <a:t>o</a:t>
            </a:r>
            <a:r>
              <a:rPr spc="-100" dirty="0"/>
              <a:t>g</a:t>
            </a:r>
            <a:r>
              <a:rPr dirty="0"/>
              <a:t>y</a:t>
            </a:r>
          </a:p>
        </p:txBody>
      </p:sp>
      <p:sp>
        <p:nvSpPr>
          <p:cNvPr id="3" name="object 3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2281310"/>
            <a:ext cx="7615044" cy="297062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678671" y="5740247"/>
            <a:ext cx="25781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4610" y="5930493"/>
            <a:ext cx="319278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b="1" dirty="0">
                <a:solidFill>
                  <a:srgbClr val="2E2B1F"/>
                </a:solidFill>
                <a:latin typeface="Times New Roman"/>
                <a:cs typeface="Times New Roman"/>
              </a:rPr>
              <a:t>Fig:</a:t>
            </a:r>
            <a:r>
              <a:rPr sz="1800" b="1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1800" b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1800" b="1" spc="-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2E2B1F"/>
                </a:solidFill>
                <a:latin typeface="Times New Roman"/>
                <a:cs typeface="Times New Roman"/>
              </a:rPr>
              <a:t>layers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3017" y="504266"/>
            <a:ext cx="34207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S</a:t>
            </a:r>
            <a:r>
              <a:rPr spc="-95" dirty="0"/>
              <a:t>oft</a:t>
            </a:r>
            <a:r>
              <a:rPr spc="-165" dirty="0"/>
              <a:t>w</a:t>
            </a:r>
            <a:r>
              <a:rPr spc="-95" dirty="0"/>
              <a:t>a</a:t>
            </a:r>
            <a:r>
              <a:rPr spc="-150" dirty="0"/>
              <a:t>r</a:t>
            </a:r>
            <a:r>
              <a:rPr dirty="0"/>
              <a:t>e</a:t>
            </a:r>
            <a:r>
              <a:rPr spc="-250" dirty="0"/>
              <a:t> </a:t>
            </a:r>
            <a:r>
              <a:rPr spc="-100" dirty="0"/>
              <a:t>P</a:t>
            </a:r>
            <a:r>
              <a:rPr spc="-150" dirty="0"/>
              <a:t>r</a:t>
            </a:r>
            <a:r>
              <a:rPr spc="-95" dirty="0"/>
              <a:t>o</a:t>
            </a:r>
            <a:r>
              <a:rPr spc="-120" dirty="0"/>
              <a:t>c</a:t>
            </a:r>
            <a:r>
              <a:rPr spc="-100" dirty="0"/>
              <a:t>e</a:t>
            </a:r>
            <a:r>
              <a:rPr spc="-95" dirty="0"/>
              <a:t>s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0" y="1470405"/>
            <a:ext cx="79584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1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process</a:t>
            </a:r>
            <a:r>
              <a:rPr sz="2400" b="1" i="1" spc="3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collection</a:t>
            </a:r>
            <a:r>
              <a:rPr sz="2400" spc="3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</a:t>
            </a:r>
            <a:r>
              <a:rPr sz="2400" spc="30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activities,</a:t>
            </a:r>
            <a:r>
              <a:rPr sz="24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actions,</a:t>
            </a:r>
            <a:r>
              <a:rPr sz="2400" spc="3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tasks</a:t>
            </a:r>
            <a:r>
              <a:rPr sz="2400" spc="3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that </a:t>
            </a:r>
            <a:r>
              <a:rPr sz="2400" spc="-58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are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performed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when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some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work</a:t>
            </a:r>
            <a:r>
              <a:rPr sz="2400" spc="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product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to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be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created.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440" y="2275459"/>
            <a:ext cx="7959090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activity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strives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to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achieve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a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broad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objective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(e.g.,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communication with stakeholders) and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applied regardless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 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the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application domain, size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 the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project, complexity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 the 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effort,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or degree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rigor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with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which software engineering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is 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to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be applied.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00000"/>
              </a:lnSpc>
              <a:spcBef>
                <a:spcPts val="575"/>
              </a:spcBef>
              <a:buClr>
                <a:srgbClr val="A9A47B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An</a:t>
            </a:r>
            <a:r>
              <a:rPr sz="2400" spc="5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action</a:t>
            </a:r>
            <a:r>
              <a:rPr sz="2400" b="1" i="1" spc="5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(e.g.,</a:t>
            </a:r>
            <a:r>
              <a:rPr sz="2400" spc="5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architectural</a:t>
            </a:r>
            <a:r>
              <a:rPr sz="2400" spc="5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design)</a:t>
            </a:r>
            <a:r>
              <a:rPr sz="2400" spc="5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encompasses 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5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set</a:t>
            </a:r>
            <a:r>
              <a:rPr sz="2400" spc="58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of </a:t>
            </a:r>
            <a:r>
              <a:rPr sz="2400" spc="-59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tasks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that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produce a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major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work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product (e.g., an architectural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design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model).</a:t>
            </a:r>
            <a:endParaRPr sz="2400">
              <a:latin typeface="Times New Roman"/>
              <a:cs typeface="Times New Roman"/>
            </a:endParaRPr>
          </a:p>
          <a:p>
            <a:pPr marL="241300" marR="6985" indent="-228600" algn="just">
              <a:lnSpc>
                <a:spcPct val="100000"/>
              </a:lnSpc>
              <a:spcBef>
                <a:spcPts val="580"/>
              </a:spcBef>
              <a:buClr>
                <a:srgbClr val="A9A47B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A </a:t>
            </a:r>
            <a:r>
              <a:rPr sz="2400" b="1" i="1" dirty="0">
                <a:solidFill>
                  <a:srgbClr val="00AFEF"/>
                </a:solidFill>
                <a:latin typeface="Times New Roman"/>
                <a:cs typeface="Times New Roman"/>
              </a:rPr>
              <a:t>task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focuses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on a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small, but well-defined objective (e.g.,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 conducting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unit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test)</a:t>
            </a:r>
            <a:r>
              <a:rPr sz="24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that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produces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 tangible</a:t>
            </a:r>
            <a:r>
              <a:rPr sz="2400" spc="-4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outcome.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7989" y="504266"/>
            <a:ext cx="46316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T</a:t>
            </a:r>
            <a:r>
              <a:rPr spc="-100" dirty="0"/>
              <a:t>h</a:t>
            </a:r>
            <a:r>
              <a:rPr dirty="0"/>
              <a:t>e</a:t>
            </a:r>
            <a:r>
              <a:rPr spc="-220" dirty="0"/>
              <a:t> </a:t>
            </a:r>
            <a:r>
              <a:rPr spc="-100" dirty="0"/>
              <a:t>E</a:t>
            </a:r>
            <a:r>
              <a:rPr spc="-95" dirty="0"/>
              <a:t>ss</a:t>
            </a:r>
            <a:r>
              <a:rPr spc="-100" dirty="0"/>
              <a:t>en</a:t>
            </a:r>
            <a:r>
              <a:rPr spc="-120" dirty="0"/>
              <a:t>c</a:t>
            </a:r>
            <a:r>
              <a:rPr dirty="0"/>
              <a:t>e</a:t>
            </a:r>
            <a:r>
              <a:rPr spc="-235" dirty="0"/>
              <a:t> </a:t>
            </a:r>
            <a:r>
              <a:rPr spc="-95" dirty="0"/>
              <a:t>o</a:t>
            </a:r>
            <a:r>
              <a:rPr dirty="0"/>
              <a:t>f</a:t>
            </a:r>
            <a:r>
              <a:rPr spc="-215" dirty="0"/>
              <a:t> </a:t>
            </a:r>
            <a:r>
              <a:rPr spc="-100" dirty="0"/>
              <a:t>P</a:t>
            </a:r>
            <a:r>
              <a:rPr spc="-165" dirty="0"/>
              <a:t>r</a:t>
            </a:r>
            <a:r>
              <a:rPr spc="-95" dirty="0"/>
              <a:t>act</a:t>
            </a:r>
            <a:r>
              <a:rPr spc="-105" dirty="0"/>
              <a:t>i</a:t>
            </a:r>
            <a:r>
              <a:rPr spc="-120" dirty="0"/>
              <a:t>c</a:t>
            </a:r>
            <a:r>
              <a:rPr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40" y="1851101"/>
            <a:ext cx="6967220" cy="324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A9A47B"/>
              </a:buClr>
              <a:buSzPct val="95833"/>
              <a:buFont typeface="Wingdings"/>
              <a:buChar char=""/>
              <a:tabLst>
                <a:tab pos="285750" algn="l"/>
                <a:tab pos="1416050" algn="l"/>
                <a:tab pos="2326640" algn="l"/>
                <a:tab pos="3577590" algn="l"/>
                <a:tab pos="4269740" algn="l"/>
                <a:tab pos="5403850" algn="l"/>
                <a:tab pos="5842635" algn="l"/>
              </a:tabLst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Ge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o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rge	P</a:t>
            </a:r>
            <a:r>
              <a:rPr sz="2400" b="1" spc="-20" dirty="0">
                <a:solidFill>
                  <a:srgbClr val="2E2B1F"/>
                </a:solidFill>
                <a:latin typeface="Times New Roman"/>
                <a:cs typeface="Times New Roman"/>
              </a:rPr>
              <a:t>o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l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ya	outlined	T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h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	essence	</a:t>
            </a:r>
            <a:r>
              <a:rPr sz="24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o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f	so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ft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w</a:t>
            </a:r>
            <a:r>
              <a:rPr sz="24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b="1" spc="-50" dirty="0">
                <a:solidFill>
                  <a:srgbClr val="2E2B1F"/>
                </a:solidFill>
                <a:latin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400" b="1" spc="-6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E2B1F"/>
                </a:solidFill>
                <a:latin typeface="Times New Roman"/>
                <a:cs typeface="Times New Roman"/>
              </a:rPr>
              <a:t>practice:</a:t>
            </a:r>
            <a:endParaRPr sz="2400">
              <a:latin typeface="Times New Roman"/>
              <a:cs typeface="Times New Roman"/>
            </a:endParaRPr>
          </a:p>
          <a:p>
            <a:pPr marL="904240" marR="5080" lvl="1" indent="-228600">
              <a:lnSpc>
                <a:spcPct val="100000"/>
              </a:lnSpc>
              <a:spcBef>
                <a:spcPts val="600"/>
              </a:spcBef>
              <a:buClr>
                <a:srgbClr val="D2CA6C"/>
              </a:buClr>
              <a:buFont typeface="Wingdings"/>
              <a:buChar char=""/>
              <a:tabLst>
                <a:tab pos="904875" algn="l"/>
                <a:tab pos="2544445" algn="l"/>
                <a:tab pos="3117215" algn="l"/>
                <a:tab pos="4318635" algn="l"/>
                <a:tab pos="6515100" algn="l"/>
              </a:tabLst>
            </a:pPr>
            <a:r>
              <a:rPr sz="24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Underst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and	the	</a:t>
            </a:r>
            <a:r>
              <a:rPr sz="24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</a:t>
            </a:r>
            <a:r>
              <a:rPr sz="2400" i="1" spc="-90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o</a:t>
            </a:r>
            <a:r>
              <a:rPr sz="2400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l</a:t>
            </a:r>
            <a:r>
              <a:rPr sz="2400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e</a:t>
            </a:r>
            <a:r>
              <a:rPr sz="24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m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(co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mm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u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nic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t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on	a</a:t>
            </a:r>
            <a:r>
              <a:rPr sz="2400" spc="-10" dirty="0">
                <a:solidFill>
                  <a:srgbClr val="2E2B1F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  analysis).</a:t>
            </a:r>
            <a:endParaRPr sz="2400">
              <a:latin typeface="Times New Roman"/>
              <a:cs typeface="Times New Roman"/>
            </a:endParaRPr>
          </a:p>
          <a:p>
            <a:pPr marL="904240" lvl="1" indent="-229235">
              <a:lnSpc>
                <a:spcPct val="100000"/>
              </a:lnSpc>
              <a:spcBef>
                <a:spcPts val="575"/>
              </a:spcBef>
              <a:buClr>
                <a:srgbClr val="D2CA6C"/>
              </a:buClr>
              <a:buFont typeface="Wingdings"/>
              <a:buChar char=""/>
              <a:tabLst>
                <a:tab pos="904875" algn="l"/>
              </a:tabLst>
            </a:pP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Plan</a:t>
            </a:r>
            <a:r>
              <a:rPr sz="2400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4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solution</a:t>
            </a:r>
            <a:r>
              <a:rPr sz="2400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(modeling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and</a:t>
            </a:r>
            <a:r>
              <a:rPr sz="24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400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design).</a:t>
            </a:r>
            <a:endParaRPr sz="2400">
              <a:latin typeface="Times New Roman"/>
              <a:cs typeface="Times New Roman"/>
            </a:endParaRPr>
          </a:p>
          <a:p>
            <a:pPr marL="904240" lvl="1" indent="-229235">
              <a:lnSpc>
                <a:spcPct val="100000"/>
              </a:lnSpc>
              <a:spcBef>
                <a:spcPts val="580"/>
              </a:spcBef>
              <a:buClr>
                <a:srgbClr val="D2CA6C"/>
              </a:buClr>
              <a:buFont typeface="Wingdings"/>
              <a:buChar char=""/>
              <a:tabLst>
                <a:tab pos="904875" algn="l"/>
              </a:tabLst>
            </a:pPr>
            <a:r>
              <a:rPr sz="24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Carry</a:t>
            </a:r>
            <a:r>
              <a:rPr sz="2400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out</a:t>
            </a:r>
            <a:r>
              <a:rPr sz="2400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the</a:t>
            </a:r>
            <a:r>
              <a:rPr sz="2400" i="1" spc="-2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plan</a:t>
            </a:r>
            <a:r>
              <a:rPr sz="2400" i="1" spc="-2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(code</a:t>
            </a:r>
            <a:r>
              <a:rPr sz="24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generation).</a:t>
            </a:r>
            <a:endParaRPr sz="2400">
              <a:latin typeface="Times New Roman"/>
              <a:cs typeface="Times New Roman"/>
            </a:endParaRPr>
          </a:p>
          <a:p>
            <a:pPr marL="904240" marR="5080" lvl="1" indent="-228600">
              <a:lnSpc>
                <a:spcPct val="100000"/>
              </a:lnSpc>
              <a:spcBef>
                <a:spcPts val="575"/>
              </a:spcBef>
              <a:buClr>
                <a:srgbClr val="D2CA6C"/>
              </a:buClr>
              <a:buFont typeface="Wingdings"/>
              <a:buChar char=""/>
              <a:tabLst>
                <a:tab pos="904875" algn="l"/>
                <a:tab pos="2153920" algn="l"/>
                <a:tab pos="2710180" algn="l"/>
                <a:tab pos="3576320" algn="l"/>
                <a:tab pos="4116070" algn="l"/>
                <a:tab pos="5415915" algn="l"/>
                <a:tab pos="6513195" algn="l"/>
              </a:tabLst>
            </a:pP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Examine	t</a:t>
            </a:r>
            <a:r>
              <a:rPr sz="2400" i="1" spc="-10" dirty="0">
                <a:solidFill>
                  <a:srgbClr val="00AFEF"/>
                </a:solidFill>
                <a:latin typeface="Times New Roman"/>
                <a:cs typeface="Times New Roman"/>
              </a:rPr>
              <a:t>h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e	</a:t>
            </a:r>
            <a:r>
              <a:rPr sz="2400" i="1" spc="-90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4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es</a:t>
            </a:r>
            <a:r>
              <a:rPr sz="2400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u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lt	</a:t>
            </a:r>
            <a:r>
              <a:rPr sz="24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for</a:t>
            </a:r>
            <a:r>
              <a:rPr sz="2400" i="1" dirty="0">
                <a:solidFill>
                  <a:srgbClr val="00AFEF"/>
                </a:solidFill>
                <a:latin typeface="Times New Roman"/>
                <a:cs typeface="Times New Roman"/>
              </a:rPr>
              <a:t>	accuracy	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(testing	and  quality</a:t>
            </a:r>
            <a:r>
              <a:rPr sz="2400" spc="-3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E2B1F"/>
                </a:solidFill>
                <a:latin typeface="Times New Roman"/>
                <a:cs typeface="Times New Roman"/>
              </a:rPr>
              <a:t>assurance).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678671" y="5683097"/>
            <a:ext cx="25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8598" y="504266"/>
            <a:ext cx="55683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Hoo</a:t>
            </a:r>
            <a:r>
              <a:rPr spc="-155" dirty="0"/>
              <a:t>k</a:t>
            </a:r>
            <a:r>
              <a:rPr spc="-100" dirty="0"/>
              <a:t>e</a:t>
            </a:r>
            <a:r>
              <a:rPr spc="-70" dirty="0"/>
              <a:t>r</a:t>
            </a:r>
            <a:r>
              <a:rPr spc="-105" dirty="0"/>
              <a:t>’</a:t>
            </a:r>
            <a:r>
              <a:rPr dirty="0"/>
              <a:t>s</a:t>
            </a:r>
            <a:r>
              <a:rPr spc="-240" dirty="0"/>
              <a:t> </a:t>
            </a:r>
            <a:r>
              <a:rPr spc="-100" dirty="0"/>
              <a:t>Gene</a:t>
            </a:r>
            <a:r>
              <a:rPr spc="-165" dirty="0"/>
              <a:t>r</a:t>
            </a:r>
            <a:r>
              <a:rPr spc="-95" dirty="0"/>
              <a:t>a</a:t>
            </a:r>
            <a:r>
              <a:rPr dirty="0"/>
              <a:t>l</a:t>
            </a:r>
            <a:r>
              <a:rPr spc="-225" dirty="0"/>
              <a:t> </a:t>
            </a:r>
            <a:r>
              <a:rPr spc="-100" dirty="0"/>
              <a:t>P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spc="-95" dirty="0"/>
              <a:t>c</a:t>
            </a:r>
            <a:r>
              <a:rPr spc="-105" dirty="0"/>
              <a:t>i</a:t>
            </a:r>
            <a:r>
              <a:rPr spc="-100" dirty="0"/>
              <a:t>p</a:t>
            </a:r>
            <a:r>
              <a:rPr spc="-105" dirty="0"/>
              <a:t>l</a:t>
            </a:r>
            <a:r>
              <a:rPr spc="-10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240" y="1772085"/>
            <a:ext cx="7372984" cy="39744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05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1: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Reason</a:t>
            </a:r>
            <a:r>
              <a:rPr sz="3200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3200" i="1" spc="-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3200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Exists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2: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Keep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It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Simple,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Stupid!</a:t>
            </a:r>
            <a:r>
              <a:rPr lang="en-US" sz="3200" i="1" dirty="0">
                <a:latin typeface="Times New Roman"/>
                <a:cs typeface="Times New Roman"/>
              </a:rPr>
              <a:t> (KISS Principle)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3: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Maintain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the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spc="-40" dirty="0">
                <a:latin typeface="Times New Roman"/>
                <a:cs typeface="Times New Roman"/>
              </a:rPr>
              <a:t>Vision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5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4: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What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i="1" spc="-100" dirty="0">
                <a:latin typeface="Times New Roman"/>
                <a:cs typeface="Times New Roman"/>
              </a:rPr>
              <a:t>You</a:t>
            </a:r>
            <a:r>
              <a:rPr sz="3200" i="1" spc="-15" dirty="0">
                <a:latin typeface="Times New Roman"/>
                <a:cs typeface="Times New Roman"/>
              </a:rPr>
              <a:t> Produce,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Others </a:t>
            </a:r>
            <a:r>
              <a:rPr sz="3200" i="1" spc="-50" dirty="0">
                <a:latin typeface="Times New Roman"/>
                <a:cs typeface="Times New Roman"/>
              </a:rPr>
              <a:t>Will</a:t>
            </a:r>
            <a:r>
              <a:rPr sz="3200" i="1" dirty="0">
                <a:latin typeface="Times New Roman"/>
                <a:cs typeface="Times New Roman"/>
              </a:rPr>
              <a:t> Consume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5: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Be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Open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to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the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spc="-20" dirty="0">
                <a:latin typeface="Times New Roman"/>
                <a:cs typeface="Times New Roman"/>
              </a:rPr>
              <a:t>Future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6: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Plan</a:t>
            </a:r>
            <a:r>
              <a:rPr sz="3200" i="1" spc="-8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Ahead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for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Reuse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7</a:t>
            </a:r>
            <a:r>
              <a:rPr sz="3200" i="1" dirty="0">
                <a:latin typeface="Times New Roman"/>
                <a:cs typeface="Times New Roman"/>
              </a:rPr>
              <a:t>: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Think!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D911-B810-5692-F189-A9725DA0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C582D1-1323-7B20-EE2C-9E55538BF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98598" y="504266"/>
            <a:ext cx="55683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Hoo</a:t>
            </a:r>
            <a:r>
              <a:rPr spc="-155" dirty="0"/>
              <a:t>k</a:t>
            </a:r>
            <a:r>
              <a:rPr spc="-100" dirty="0"/>
              <a:t>e</a:t>
            </a:r>
            <a:r>
              <a:rPr spc="-70" dirty="0"/>
              <a:t>r</a:t>
            </a:r>
            <a:r>
              <a:rPr spc="-105" dirty="0"/>
              <a:t>’</a:t>
            </a:r>
            <a:r>
              <a:rPr dirty="0"/>
              <a:t>s</a:t>
            </a:r>
            <a:r>
              <a:rPr spc="-240" dirty="0"/>
              <a:t> </a:t>
            </a:r>
            <a:r>
              <a:rPr spc="-100" dirty="0"/>
              <a:t>Gene</a:t>
            </a:r>
            <a:r>
              <a:rPr spc="-165" dirty="0"/>
              <a:t>r</a:t>
            </a:r>
            <a:r>
              <a:rPr spc="-95" dirty="0"/>
              <a:t>a</a:t>
            </a:r>
            <a:r>
              <a:rPr dirty="0"/>
              <a:t>l</a:t>
            </a:r>
            <a:r>
              <a:rPr spc="-225" dirty="0"/>
              <a:t> </a:t>
            </a:r>
            <a:r>
              <a:rPr spc="-100" dirty="0"/>
              <a:t>P</a:t>
            </a:r>
            <a:r>
              <a:rPr spc="-105" dirty="0"/>
              <a:t>ri</a:t>
            </a:r>
            <a:r>
              <a:rPr spc="-100" dirty="0"/>
              <a:t>n</a:t>
            </a:r>
            <a:r>
              <a:rPr spc="-95" dirty="0"/>
              <a:t>c</a:t>
            </a:r>
            <a:r>
              <a:rPr spc="-105" dirty="0"/>
              <a:t>i</a:t>
            </a:r>
            <a:r>
              <a:rPr spc="-100" dirty="0"/>
              <a:t>p</a:t>
            </a:r>
            <a:r>
              <a:rPr spc="-105" dirty="0"/>
              <a:t>l</a:t>
            </a:r>
            <a:r>
              <a:rPr spc="-10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AA5AD32-0C57-FB95-4622-1F30D484F3F0}"/>
              </a:ext>
            </a:extLst>
          </p:cNvPr>
          <p:cNvSpPr txBox="1"/>
          <p:nvPr/>
        </p:nvSpPr>
        <p:spPr>
          <a:xfrm>
            <a:off x="650240" y="1772085"/>
            <a:ext cx="7372984" cy="397446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05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1: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The</a:t>
            </a:r>
            <a:r>
              <a:rPr sz="3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Reason</a:t>
            </a:r>
            <a:r>
              <a:rPr sz="3200" i="1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It</a:t>
            </a:r>
            <a:r>
              <a:rPr sz="3200" i="1" spc="-7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solidFill>
                  <a:srgbClr val="2E2B1F"/>
                </a:solidFill>
                <a:latin typeface="Times New Roman"/>
                <a:cs typeface="Times New Roman"/>
              </a:rPr>
              <a:t>All</a:t>
            </a:r>
            <a:r>
              <a:rPr sz="3200" i="1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spc="-5" dirty="0">
                <a:solidFill>
                  <a:srgbClr val="2E2B1F"/>
                </a:solidFill>
                <a:latin typeface="Times New Roman"/>
                <a:cs typeface="Times New Roman"/>
              </a:rPr>
              <a:t>Exists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2: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Keep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It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Simple,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Stupid!</a:t>
            </a:r>
            <a:r>
              <a:rPr lang="en-US" sz="3200" i="1" dirty="0">
                <a:latin typeface="Times New Roman"/>
                <a:cs typeface="Times New Roman"/>
              </a:rPr>
              <a:t> (KISS Principle)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3: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Maintain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the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spc="-40" dirty="0">
                <a:latin typeface="Times New Roman"/>
                <a:cs typeface="Times New Roman"/>
              </a:rPr>
              <a:t>Vision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5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4: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What</a:t>
            </a:r>
            <a:r>
              <a:rPr sz="3200" i="1" spc="-15" dirty="0">
                <a:latin typeface="Times New Roman"/>
                <a:cs typeface="Times New Roman"/>
              </a:rPr>
              <a:t> </a:t>
            </a:r>
            <a:r>
              <a:rPr sz="3200" i="1" spc="-100" dirty="0">
                <a:latin typeface="Times New Roman"/>
                <a:cs typeface="Times New Roman"/>
              </a:rPr>
              <a:t>You</a:t>
            </a:r>
            <a:r>
              <a:rPr sz="3200" i="1" spc="-15" dirty="0">
                <a:latin typeface="Times New Roman"/>
                <a:cs typeface="Times New Roman"/>
              </a:rPr>
              <a:t> Produce,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Others </a:t>
            </a:r>
            <a:r>
              <a:rPr sz="3200" i="1" spc="-50" dirty="0">
                <a:latin typeface="Times New Roman"/>
                <a:cs typeface="Times New Roman"/>
              </a:rPr>
              <a:t>Will</a:t>
            </a:r>
            <a:r>
              <a:rPr sz="3200" i="1" dirty="0">
                <a:latin typeface="Times New Roman"/>
                <a:cs typeface="Times New Roman"/>
              </a:rPr>
              <a:t> Consume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5: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Be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Open</a:t>
            </a:r>
            <a:r>
              <a:rPr sz="3200" i="1" spc="-2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to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the</a:t>
            </a:r>
            <a:r>
              <a:rPr sz="3200" i="1" spc="-30" dirty="0">
                <a:latin typeface="Times New Roman"/>
                <a:cs typeface="Times New Roman"/>
              </a:rPr>
              <a:t> </a:t>
            </a:r>
            <a:r>
              <a:rPr sz="3200" i="1" spc="-20" dirty="0">
                <a:latin typeface="Times New Roman"/>
                <a:cs typeface="Times New Roman"/>
              </a:rPr>
              <a:t>Future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solidFill>
                  <a:srgbClr val="2E2B1F"/>
                </a:solidFill>
                <a:latin typeface="Times New Roman"/>
                <a:cs typeface="Times New Roman"/>
              </a:rPr>
              <a:t>6:</a:t>
            </a:r>
            <a:r>
              <a:rPr sz="3200" spc="-2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Plan</a:t>
            </a:r>
            <a:r>
              <a:rPr sz="3200" i="1" spc="-8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Ahead</a:t>
            </a:r>
            <a:r>
              <a:rPr sz="3200" i="1" spc="-35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for</a:t>
            </a:r>
            <a:r>
              <a:rPr sz="3200" i="1" spc="-1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Reuse</a:t>
            </a:r>
            <a:endParaRPr sz="3200" dirty="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00"/>
              </a:spcBef>
              <a:buClr>
                <a:srgbClr val="A9A47B"/>
              </a:buClr>
              <a:buFont typeface="Wingdings"/>
              <a:buChar char=""/>
              <a:tabLst>
                <a:tab pos="241935" algn="l"/>
              </a:tabLst>
            </a:pPr>
            <a:r>
              <a:rPr sz="3200" dirty="0">
                <a:latin typeface="Times New Roman"/>
                <a:cs typeface="Times New Roman"/>
              </a:rPr>
              <a:t>7</a:t>
            </a:r>
            <a:r>
              <a:rPr sz="3200" i="1" dirty="0">
                <a:latin typeface="Times New Roman"/>
                <a:cs typeface="Times New Roman"/>
              </a:rPr>
              <a:t>:</a:t>
            </a:r>
            <a:r>
              <a:rPr sz="3200" i="1" spc="-40" dirty="0">
                <a:latin typeface="Times New Roman"/>
                <a:cs typeface="Times New Roman"/>
              </a:rPr>
              <a:t> </a:t>
            </a:r>
            <a:r>
              <a:rPr sz="3200" i="1" dirty="0">
                <a:latin typeface="Times New Roman"/>
                <a:cs typeface="Times New Roman"/>
              </a:rPr>
              <a:t>Think!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E8337FB-0FC3-D475-8881-B74850DD82D4}"/>
              </a:ext>
            </a:extLst>
          </p:cNvPr>
          <p:cNvSpPr/>
          <p:nvPr/>
        </p:nvSpPr>
        <p:spPr>
          <a:xfrm>
            <a:off x="8532114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71119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19" y="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98D588-2B49-DD98-CF24-C2C9327587E4}"/>
              </a:ext>
            </a:extLst>
          </p:cNvPr>
          <p:cNvSpPr/>
          <p:nvPr/>
        </p:nvSpPr>
        <p:spPr>
          <a:xfrm>
            <a:off x="9009633" y="5650229"/>
            <a:ext cx="71120" cy="396240"/>
          </a:xfrm>
          <a:custGeom>
            <a:avLst/>
            <a:gdLst/>
            <a:ahLst/>
            <a:cxnLst/>
            <a:rect l="l" t="t" r="r" b="b"/>
            <a:pathLst>
              <a:path w="71120" h="396239">
                <a:moveTo>
                  <a:pt x="0" y="0"/>
                </a:moveTo>
                <a:lnTo>
                  <a:pt x="27668" y="5588"/>
                </a:lnTo>
                <a:lnTo>
                  <a:pt x="50276" y="20829"/>
                </a:lnTo>
                <a:lnTo>
                  <a:pt x="65526" y="43435"/>
                </a:lnTo>
                <a:lnTo>
                  <a:pt x="71120" y="71120"/>
                </a:lnTo>
                <a:lnTo>
                  <a:pt x="71120" y="325120"/>
                </a:lnTo>
                <a:lnTo>
                  <a:pt x="65526" y="352804"/>
                </a:lnTo>
                <a:lnTo>
                  <a:pt x="50276" y="375410"/>
                </a:lnTo>
                <a:lnTo>
                  <a:pt x="27668" y="390651"/>
                </a:lnTo>
                <a:lnTo>
                  <a:pt x="0" y="396240"/>
                </a:lnTo>
              </a:path>
            </a:pathLst>
          </a:custGeom>
          <a:ln w="19812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>
            <a:extLst>
              <a:ext uri="{FF2B5EF4-FFF2-40B4-BE49-F238E27FC236}">
                <a16:creationId xmlns:a16="http://schemas.microsoft.com/office/drawing/2014/main" id="{8F7417C7-0308-D626-CA5B-CCDFB1383AE0}"/>
              </a:ext>
            </a:extLst>
          </p:cNvPr>
          <p:cNvGrpSpPr/>
          <p:nvPr/>
        </p:nvGrpSpPr>
        <p:grpSpPr>
          <a:xfrm>
            <a:off x="2267709" y="1136903"/>
            <a:ext cx="6033770" cy="165100"/>
            <a:chOff x="2267709" y="1136903"/>
            <a:chExt cx="6033770" cy="165100"/>
          </a:xfrm>
        </p:grpSpPr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84EF6488-3BBF-3B6F-0104-2B02A9533B3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09" y="1136903"/>
              <a:ext cx="6033529" cy="164592"/>
            </a:xfrm>
            <a:prstGeom prst="rect">
              <a:avLst/>
            </a:prstGeom>
          </p:spPr>
        </p:pic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35E5A8E-9CF7-9667-F766-866838843C90}"/>
                </a:ext>
              </a:extLst>
            </p:cNvPr>
            <p:cNvSpPr/>
            <p:nvPr/>
          </p:nvSpPr>
          <p:spPr>
            <a:xfrm>
              <a:off x="2285999" y="1219199"/>
              <a:ext cx="5943600" cy="0"/>
            </a:xfrm>
            <a:custGeom>
              <a:avLst/>
              <a:gdLst/>
              <a:ahLst/>
              <a:cxnLst/>
              <a:rect l="l" t="t" r="r" b="b"/>
              <a:pathLst>
                <a:path w="5943600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ln w="76200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0DFE1898-11D7-22AE-B469-FA457F705BB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0553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856359"/>
            <a:ext cx="7701915" cy="247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213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584835" algn="l"/>
              </a:tabLst>
            </a:pPr>
            <a:r>
              <a:rPr sz="4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References:</a:t>
            </a:r>
            <a:endParaRPr sz="4800">
              <a:latin typeface="Times New Roman"/>
              <a:cs typeface="Times New Roman"/>
            </a:endParaRPr>
          </a:p>
          <a:p>
            <a:pPr marL="779780" lvl="1" indent="-356235">
              <a:lnSpc>
                <a:spcPct val="100000"/>
              </a:lnSpc>
              <a:spcBef>
                <a:spcPts val="65"/>
              </a:spcBef>
              <a:buAutoNum type="arabicPeriod"/>
              <a:tabLst>
                <a:tab pos="780415" algn="l"/>
              </a:tabLst>
            </a:pPr>
            <a:r>
              <a:rPr sz="2800" b="1" spc="-15" dirty="0">
                <a:solidFill>
                  <a:srgbClr val="2E2B1F"/>
                </a:solidFill>
                <a:latin typeface="Times New Roman"/>
                <a:cs typeface="Times New Roman"/>
              </a:rPr>
              <a:t>Software</a:t>
            </a:r>
            <a:r>
              <a:rPr sz="2800" b="1" spc="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Engineering</a:t>
            </a:r>
            <a:r>
              <a:rPr sz="2800" b="1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2800" b="1" spc="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2E2B1F"/>
                </a:solidFill>
                <a:latin typeface="Times New Roman"/>
                <a:cs typeface="Times New Roman"/>
              </a:rPr>
              <a:t>Ian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Sommerville,</a:t>
            </a:r>
            <a:endParaRPr sz="2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800"/>
              </a:spcBef>
            </a:pP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9th</a:t>
            </a:r>
            <a:r>
              <a:rPr sz="2000" spc="-3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edition,</a:t>
            </a:r>
            <a:r>
              <a:rPr sz="2000" spc="34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2E2B1F"/>
                </a:solidFill>
                <a:latin typeface="Times New Roman"/>
                <a:cs typeface="Times New Roman"/>
              </a:rPr>
              <a:t>Addison-Wesley,</a:t>
            </a:r>
            <a:r>
              <a:rPr sz="2000" spc="-5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2011</a:t>
            </a:r>
            <a:endParaRPr sz="2000">
              <a:latin typeface="Times New Roman"/>
              <a:cs typeface="Times New Roman"/>
            </a:endParaRPr>
          </a:p>
          <a:p>
            <a:pPr marL="424180" marR="5080" lvl="1">
              <a:lnSpc>
                <a:spcPct val="100000"/>
              </a:lnSpc>
              <a:spcBef>
                <a:spcPts val="160"/>
              </a:spcBef>
              <a:buAutoNum type="arabicPeriod" startAt="2"/>
              <a:tabLst>
                <a:tab pos="779780" algn="l"/>
              </a:tabLst>
            </a:pP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Software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Engineering A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practitioner’s </a:t>
            </a:r>
            <a:r>
              <a:rPr sz="2800" b="1" spc="-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2E2B1F"/>
                </a:solidFill>
                <a:latin typeface="Times New Roman"/>
                <a:cs typeface="Times New Roman"/>
              </a:rPr>
              <a:t>Approach</a:t>
            </a:r>
            <a:r>
              <a:rPr sz="2800" b="1" spc="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by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Roger</a:t>
            </a:r>
            <a:r>
              <a:rPr sz="2000" spc="-10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S. Pressman,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7th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edition,</a:t>
            </a:r>
            <a:r>
              <a:rPr sz="2000" spc="-2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2E2B1F"/>
                </a:solidFill>
                <a:latin typeface="Times New Roman"/>
                <a:cs typeface="Times New Roman"/>
              </a:rPr>
              <a:t>McGraw Hill,</a:t>
            </a:r>
            <a:r>
              <a:rPr sz="2000" spc="-15" dirty="0">
                <a:solidFill>
                  <a:srgbClr val="2E2B1F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2E2B1F"/>
                </a:solidFill>
                <a:latin typeface="Times New Roman"/>
                <a:cs typeface="Times New Roman"/>
              </a:rPr>
              <a:t>2010.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2571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1602</Words>
  <Application>Microsoft Office PowerPoint</Application>
  <PresentationFormat>On-screen Show (4:3)</PresentationFormat>
  <Paragraphs>196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1. Software and Software  Engineering</vt:lpstr>
      <vt:lpstr>Discussion Topics</vt:lpstr>
      <vt:lpstr>What is Software?</vt:lpstr>
      <vt:lpstr>What is Software?</vt:lpstr>
      <vt:lpstr>Characteristics/Nature of Software</vt:lpstr>
      <vt:lpstr>Characteristics/Nature of Software</vt:lpstr>
      <vt:lpstr>Characteristics/Nature of Software</vt:lpstr>
      <vt:lpstr>Characteristics/Nature of Software</vt:lpstr>
      <vt:lpstr>Characteristics/Nature of Software</vt:lpstr>
      <vt:lpstr>Software Applications</vt:lpstr>
      <vt:lpstr>Software Applications (Cont..)</vt:lpstr>
      <vt:lpstr>Legacy Software</vt:lpstr>
      <vt:lpstr>Legacy Software</vt:lpstr>
      <vt:lpstr>Software Engineering</vt:lpstr>
      <vt:lpstr>Software Engineering (Cont..)</vt:lpstr>
      <vt:lpstr>Software Engineering (Cont..)</vt:lpstr>
      <vt:lpstr>Software Engineering (Cont..)</vt:lpstr>
      <vt:lpstr>Software Engineering (Cont..)</vt:lpstr>
      <vt:lpstr>Software Engineering (Cont..)</vt:lpstr>
      <vt:lpstr>Software Quality</vt:lpstr>
      <vt:lpstr>Software Quality and Stakeholders</vt:lpstr>
      <vt:lpstr>A Layered Technology</vt:lpstr>
      <vt:lpstr>Software Process</vt:lpstr>
      <vt:lpstr>The Essence of Practice</vt:lpstr>
      <vt:lpstr>Hooker’s General Principles</vt:lpstr>
      <vt:lpstr>Hooker’s General Principles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 - [2010]</dc:creator>
  <cp:lastModifiedBy>Muhammad Muhtasim</cp:lastModifiedBy>
  <cp:revision>3</cp:revision>
  <dcterms:created xsi:type="dcterms:W3CDTF">2024-01-03T13:30:25Z</dcterms:created>
  <dcterms:modified xsi:type="dcterms:W3CDTF">2025-11-24T17:09:23Z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2024-01-03T00:00:00Z</vt:filetime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SetDate">
    <vt:lpwstr>2024-01-03T13:56:21Z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iteId">
    <vt:lpwstr>62a14c85-6502-4d92-8cf6-05c3ba33adfe</vt:lpwstr>
  </property>
  <property fmtid="{D5CDD505-2E9C-101B-9397-08002B2CF9AE}" pid="10" name="MSIP_Label_defa4170-0d19-0005-0004-bc88714345d2_ActionId">
    <vt:lpwstr>2964aa73-8e98-4662-886e-7207d07381fe</vt:lpwstr>
  </property>
  <property fmtid="{D5CDD505-2E9C-101B-9397-08002B2CF9AE}" pid="11" name="MSIP_Label_defa4170-0d19-0005-0004-bc88714345d2_ContentBits">
    <vt:lpwstr>0</vt:lpwstr>
  </property>
</Properties>
</file>